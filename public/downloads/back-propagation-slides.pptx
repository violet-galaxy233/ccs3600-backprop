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mp3" ContentType="audio/m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Hello everyone, and welcome to this lecture on Back Propagation Neural Networks, part of our CCS3600 Artificial Intelligence course. Over the next several minutes we are going to unpack one of the most important algorithms in machine learning. Backpropagation is the engine that makes modern deep learning possible. By the end of this session, you will understand what it is, why it works, how the mathematics fits together, and where it is used in the real world. Let's get started.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 me set out a roadmap for what you will take away from this presentation. First, we will build a solid understanding of feed-forward neural networks, the architecture that backpropagation operates on. Second, we will master the backpropagation algorithm itself, including the loss function and the chain rule that ties everything together. Third, we will explore real-world applications: pattern recognition, face recognition, and speech recognition. And finally, we will look at the history of backpropagation, along with its advantages and its limitations. Every slide connects back to one of these four goals.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what exactly is backpropagation? At its core, it is a method for fine-tuning the weights of a neural network based on the error rate from the previous training iteration. The name is short for backward propagation of errors, and that phrase captures the essential idea. When the network makes a prediction, we measure how wrong it was, then send that error signal backward through the network to find how each weight contributed to the mistake. It is a key component of supervised learning, and what it actually computes is the gradient of the loss function with respect to every weight. That gradient is then used by an optimization method like stochastic gradient descent to nudge the weights in the direction that reduces the error.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let's look at the architecture backpropagation operates on, the feed-forward neural network. The defining characteristic is in the name: information flows forward, and only forward. The connections never form a cycle. Data enters at the input layer, passes through one or more hidden layers, and emerges at the output, always moving in one direction. The simplest form is the single-layer perceptron. This matters because backpropagation was designed specifically to train these networks. Look at the comparison at the bottom: feed-forward networks have clean one-way data flow, while recurrent networks deliberately contain cycles and feedback loops to handle sequential data. We will return to that distinction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walk through how a feed-forward network processes information. It begins with a series of inputs. Each input is multiplied by an associated weight, and all those weighted values are summed into a single number. That sum is compared against a threshold, usually zero. If the sum exceeds the threshold, the neuron fires with an output of positive one; if it falls below, the output is negative one. How does the network learn the right weights? Through the delta rule: we compare the actual output against the intended target, and that difference, the error, tells us how to adjust the weights. When we extend this from a single neuron to multi-layered perceptrons, this weight-updating process is exactly what we call backpropagation.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Feed-forward networks are versatile, and one powerful pattern is to combine many of them together. Imagine a series of independent networks, each specializing in a sub-task, with a mild intermediary coordinating between them. This is similar to how the human brain works: individual groups of neurons handle pieces of a larger task, and the brain integrates them into coherent thought. In the same way, these independent networks perform their tasks separately and in parallel, and their results are combined at the end to produce a single cohesive output. This parallel processing is part of what makes feed-forward networks practical for complex, real-world problems.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There are three main types of backpropagation networks, each suited to a different kind of problem. The first is static backpropagation, which maps a static input directly to a static output, with no notion of time. A classic example is optical character recognition. The second is recurrent backpropagation, where the network is fed forward repeatedly until it reaches a stable fixed value, making it suited to tasks that settle into a stable state. The third is backpropagation through time, abbreviated BPTT, designed for time-series and sequential data. It works by unrolling a recurrent network across its time steps, turning it into an equivalent feed-forward network that can be trained with standard backpropagation. We will look at this third type in more detail shortly.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make the mathematics concrete, layer by layer. Consider the first hidden layer. It takes the input vector x, multiplies it by a weight matrix W one, adds a bias b one, and passes the result through an activation function f one, producing an output we call h one. Here is the crucial pattern: the second layer does the same thing, but instead of the raw input it takes h one as its input, producing h two. This continues through the network, each layer feeding its output forward as the input to the next, until the final layer output, denoted h N. To clarify the symbols: the subscript i indexes the layer, h i is the output of layer i, f i is its activation function, W i is its weight matrix, b i is its bias, x is the input vector, and N is the number of layers. This nested chain of functions is exactly what backpropagation will need to differentiate.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loss function is central to understanding why backpropagation works. During forward propagation, an input x passes through all the layers and produces an output. We then compare that output against the known correct answer, the label vector. The loss function, which we call C for cost, measures exactly how far off the prediction was. A low value of C means the output is close to the label, which is good; a high value means it is far off, which is bad. At the start of training, when the weights are essentially random, the loss is very large. As training proceeds, a fully trained model settles at a small loss. There are many loss functions to choose from depending on the problem, including cross-entropy loss, cosine similarity, and hinge loss.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 is the central computational challenge. To reduce the loss, we need to know how the cost function C changes when we tweak each weight. In other words, we must calculate the partial derivative of C with respect to every weight in the network. Let me decode the weight notation, because it appears throughout the rest of this lecture. The symbol w with subscripts i, j, k refers to a specific connection: the weight from node j in layer i minus one, going to node k in layer i. So the three indices pin down which layer, which source node, and which destination node. By computing all of these partial derivatives, we learn precisely how much each weight contributes to the total error, and that tells us exactly how to adjust it. During training, every weight is updated individually to drive the cost downward.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chain rule from calculus is the engine that makes backpropagation efficient. The cost function C depends on the weights, but not directly. It depends on them through a long chain of nested functions, one for each layer the signal passes through. The chain rule handles exactly this kind of nested dependency: if z depends on y, and y depends on x, then the derivative of z with respect to x equals the derivative of z with respect to y times the derivative of y with respect to x. Here is the key efficiency advantage. The derivatives at the last layer, layer N, are calculated first. Those become reusable ingredients for computing the derivatives at layer N minus one. We work backward through the network, saving and reusing the derivative calculations from the layer behind us. This avoids an enormous amount of duplicate computation. Without this reuse, training deep networks would be hopelessly expensive.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let's put everything together and walk through the complete algorithm. Step one, the inputs arrive at the network through a pre-connected path. Step two, these inputs are modeled using weights, which at the beginning are selected randomly. Step three, we perform the forward pass, calculating the output for every neuron, moving layer by layer from input to output. Step four, we calculate the error at the output by comparing the actual output against the desired output. Step five, the backward pass that gives the algorithm its name: we travel back from the output toward the hidden layers, adjusting the weights in the direction that decreases the error. Step six, we repeat this cycle over and over until the output is close enough to the desired result. The formula at the bottom captures the essence: error equals actual output minus desired output, and our goal is to drive that toward zero.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It is important to clearly distinguish standard backpropagation from backpropagation through time. Standard backpropagation applies to feed-forward networks, which are directed acyclic graphs with no loops. The chain rule is applied recursively through the layers, mapping a static input to a static output. Backpropagation through time is built for recurrent networks that process sequences. The trick it uses is to unroll the recurrent network across its time steps, so that what was a loop becomes a long feed-forward chain we can train normally. But this power comes with challenges: the unrolled network can become very large and difficult to train, it is easy to get trapped in local optima, and there is the famous vanishing gradient problem, where interactions between distant time steps produce gradients that shrink toward zero. Fortunately, there are solutions, including ReLU activation functions, regularization, and specialized architectures like LSTM and GRU.</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why do we actually need backpropagation? First, it simplifies network structure, because during training it effectively reduces the influence of the least-effective weighted links. Second, it reveals the relationship between the input layer and the hidden layers, giving insight into what the network has learned. Third, it lets us assess the impact of each input variable on the network's output. Fourth, it is essential for deep neural networks, especially in error-prone, high-stakes projects. And fifth, it takes full advantage of the chain rule and the power rule, so it scales gracefully to any number of outputs. Here is the bottom line: without backpropagation, training deep networks would be computationally infeasible. It is the practical foundation that makes modern deep learning possible.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Having covered the theory and the mathematics, let's turn to the real world. In this part of the lecture, we will examine three concrete domains where networks trained with backpropagation have made a measurable impact: pattern recognition, face recognition, and speech recognition. Watch for how the same core algorithm adapts to very different kinds of data.</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Pattern recognition is one of the most natural applications of neural networks. Let's define our terms: a pattern is a set of objects or phenomena whose elements share similar traits. Interestingly, human perception has an extremely strong tendency to find patterns, sometimes even in pure random noise, like seeing shapes in clouds. The natural world is full of patterns waiting to be classified, from constellations of stars to microscopic organisms like the Paramecium, the Amoeba, and the Euglena. Networks trained via backpropagation excel at exactly this kind of automated pattern recognition. The network learns to extract the distinguishing features directly from the training data, then generalizes to recognize new, unseen examples. This ability to learn features automatically, rather than having engineers hand-design them, is one of the great strengths of the approach.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look at a concrete example: the face recognition system by Parkhi, Vidaldi, and Zisserman in 2015. They built a deep convolutional neural network with eighteen layers, trained entirely using backpropagation, in two phases. In the initial phase, batches of celebrity face images were passed through all eighteen layers, and backpropagation adjusted the weights throughout. Then came a refinement phase, applied to the final layer using a special objective called the triplet loss function. The triplet loss is an elegant idea: it penalizes the network whenever it classifies the same person as different people, or different people as the same person. The input is three face images at a time, for example two photos of Matt Damon and one of Brad Pitt. The network learns to pull the two Matt Damon images close together in its internal representation while pushing the Brad Pitt image far away. It is a great illustration of backpropagation combined with a cleverly designed loss function.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Our second application comes from Sony Corporation, which used backpropagation to build speech recognition for English and Japanese on small embedded devices. Let's trace the pipeline. It starts with a raw sound signal, which is divided into short time windows. A Fast Fourier Transform is applied to each window to convert it from the time domain into the frequency domain, extracting the frequency features. Those features are fed into a five-layer neural network, trained using a softmax cross-entropy loss with backpropagation across all five layers. Here is the elegant part: they used transfer learning. The network was first trained on Japanese speech, then the learned features were adapted to recognize English commands. This demonstrates one of backpropagation's most valuable properties, the flexibility to carry knowledge across languages and domains, which matters when deploying on resource-constrained hardware.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history of backpropagation stretches back further than most people realize. The story arguably begins with Augustin-Louis Cauchy, the mathematician who lived from 1789 to 1857 and invented gradient descent, the optimization idea at the heart of the method. The nineteen sixties saw early foundational work on automatic differentiation. Then, in 1970, Seppo Linnainmaa developed the reverse mode of automatic differentiation, which is exactly the technique backpropagation uses. The algorithm entered the spotlight in 1986, when Rumelhart, Hinton, and Williams published their landmark paper that popularized backpropagation for training neural networks. And from the two thousands onward, efficient implementations running on powerful hardware became the driving force behind the deep learning revolution that continues to this day.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consolidate the key points before we close. First, backpropagation simplifies network structure by effectively eliminating the least-effective weighted links during training. Second, studying the input and activation values helps you understand the relationships between the input layer and the hidden layers. Third, it lets you assess the impact of each input variable on the output, which supports interpretation and debugging. Fourth, it is especially powerful for deep networks in error-prone domains, with image and speech recognition as the textbook examples. And here is an analogy to carry away with you, the shoelace analogy: training a network with backpropagation is like tying your shoelaces. You do not get a perfect knot in one motion; you make an iterative series of small adjustments until everything fits. Backpropagation does exactly that with the weights, one small correction at a time.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 the interest of a balanced picture, let's talk about the limitations, because no technique is without drawbacks. First, the performance of backpropagation is highly dependent on the quality of the input data. Second, it can be quite sensitive to noisy data, which can mislead the gradient and destabilize learning. Third, for certain use cases, a full matrix-based approach is preferred over mini-batch processing. Fourth, in very deep networks we run into the vanishing and exploding gradient problems, where gradients become either too small to make progress or too large to remain stable. And fifth, it can be computationally expensive for large-scale networks. That said, modern hardware, better activation functions, and improved optimization techniques continue to mitigate these challenges, which is why the algorithm remains dominant.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That brings us to the end of our lecture. These are the key references if you would like to read further. The DeepAI machine learning glossary provides an accessible conceptual overview, while the Guru99 tutorial walks through the algorithm step by step. This presentation was originally developed for the SSK5603 course by Maslina, and it has been enhanced with AI-generated visuals and a modern design for this CCS3600 Mini Project. Thank you for your attention throughout this session. I hope you now have a clear and confident mental model of how backpropagation works, why it matters, and where it is applied.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2ab65b82705bbf0.png"/>
  <Relationship Id="rId3" Type="http://schemas.openxmlformats.org/officeDocument/2006/relationships/notesSlide" Target="../notesSlides/notesSlide1.xml"/>
  <Relationship Id="rId4" Type="http://schemas.microsoft.com/office/2007/relationships/media" Target="../media/narration1.mp3"/>
  <Relationship Id="rId5" Type="http://schemas.openxmlformats.org/officeDocument/2006/relationships/audio" Target="../media/narration1.mp3"/>
  <Relationship Id="rId6" Type="http://schemas.openxmlformats.org/officeDocument/2006/relationships/image" Target="../media/narration_poster.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 Id="rId3" Type="http://schemas.microsoft.com/office/2007/relationships/media" Target="../media/narration2.mp3"/>
  <Relationship Id="rId4" Type="http://schemas.openxmlformats.org/officeDocument/2006/relationships/audio" Target="../media/narration2.mp3"/>
  <Relationship Id="rId5" Type="http://schemas.openxmlformats.org/officeDocument/2006/relationships/image" Target="../media/narration_poster.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 Id="rId3" Type="http://schemas.microsoft.com/office/2007/relationships/media" Target="../media/narration3.mp3"/>
  <Relationship Id="rId4" Type="http://schemas.openxmlformats.org/officeDocument/2006/relationships/audio" Target="../media/narration3.mp3"/>
  <Relationship Id="rId5" Type="http://schemas.openxmlformats.org/officeDocument/2006/relationships/image" Target="../media/narration_poster.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7fe357108dd7ee5.png"/>
  <Relationship Id="rId3" Type="http://schemas.openxmlformats.org/officeDocument/2006/relationships/notesSlide" Target="../notesSlides/notesSlide4.xml"/>
  <Relationship Id="rId4" Type="http://schemas.microsoft.com/office/2007/relationships/media" Target="../media/narration4.mp3"/>
  <Relationship Id="rId5" Type="http://schemas.openxmlformats.org/officeDocument/2006/relationships/audio" Target="../media/narration4.mp3"/>
  <Relationship Id="rId6" Type="http://schemas.openxmlformats.org/officeDocument/2006/relationships/image" Target="../media/narration_poster.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 Id="rId3" Type="http://schemas.microsoft.com/office/2007/relationships/media" Target="../media/narration5.mp3"/>
  <Relationship Id="rId4" Type="http://schemas.openxmlformats.org/officeDocument/2006/relationships/audio" Target="../media/narration5.mp3"/>
  <Relationship Id="rId5" Type="http://schemas.openxmlformats.org/officeDocument/2006/relationships/image" Target="../media/narration_poster.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 Id="rId3" Type="http://schemas.microsoft.com/office/2007/relationships/media" Target="../media/narration6.mp3"/>
  <Relationship Id="rId4" Type="http://schemas.openxmlformats.org/officeDocument/2006/relationships/audio" Target="../media/narration6.mp3"/>
  <Relationship Id="rId5" Type="http://schemas.openxmlformats.org/officeDocument/2006/relationships/image" Target="../media/narration_poster.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 Id="rId3" Type="http://schemas.microsoft.com/office/2007/relationships/media" Target="../media/narration7.mp3"/>
  <Relationship Id="rId4" Type="http://schemas.openxmlformats.org/officeDocument/2006/relationships/audio" Target="../media/narration7.mp3"/>
  <Relationship Id="rId5" Type="http://schemas.openxmlformats.org/officeDocument/2006/relationships/image" Target="../media/narration_poster.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 Id="rId3" Type="http://schemas.microsoft.com/office/2007/relationships/media" Target="../media/narration8.mp3"/>
  <Relationship Id="rId4" Type="http://schemas.openxmlformats.org/officeDocument/2006/relationships/audio" Target="../media/narration8.mp3"/>
  <Relationship Id="rId5" Type="http://schemas.openxmlformats.org/officeDocument/2006/relationships/image" Target="../media/narration_poster.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 Id="rId3" Type="http://schemas.microsoft.com/office/2007/relationships/media" Target="../media/narration9.mp3"/>
  <Relationship Id="rId4" Type="http://schemas.openxmlformats.org/officeDocument/2006/relationships/audio" Target="../media/narration9.mp3"/>
  <Relationship Id="rId5" Type="http://schemas.openxmlformats.org/officeDocument/2006/relationships/image" Target="../media/narration_poster.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 Id="rId3" Type="http://schemas.microsoft.com/office/2007/relationships/media" Target="../media/narration10.mp3"/>
  <Relationship Id="rId4" Type="http://schemas.openxmlformats.org/officeDocument/2006/relationships/audio" Target="../media/narration10.mp3"/>
  <Relationship Id="rId5" Type="http://schemas.openxmlformats.org/officeDocument/2006/relationships/image" Target="../media/narration_poster.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 Id="rId3" Type="http://schemas.microsoft.com/office/2007/relationships/media" Target="../media/narration11.mp3"/>
  <Relationship Id="rId4" Type="http://schemas.openxmlformats.org/officeDocument/2006/relationships/audio" Target="../media/narration11.mp3"/>
  <Relationship Id="rId5" Type="http://schemas.openxmlformats.org/officeDocument/2006/relationships/image" Target="../media/narration_poster.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ed6d7cde28ced15.png"/>
  <Relationship Id="rId3" Type="http://schemas.openxmlformats.org/officeDocument/2006/relationships/notesSlide" Target="../notesSlides/notesSlide12.xml"/>
  <Relationship Id="rId4" Type="http://schemas.microsoft.com/office/2007/relationships/media" Target="../media/narration12.mp3"/>
  <Relationship Id="rId5" Type="http://schemas.openxmlformats.org/officeDocument/2006/relationships/audio" Target="../media/narration12.mp3"/>
  <Relationship Id="rId6" Type="http://schemas.openxmlformats.org/officeDocument/2006/relationships/image" Target="../media/narration_poster.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 Id="rId3" Type="http://schemas.microsoft.com/office/2007/relationships/media" Target="../media/narration13.mp3"/>
  <Relationship Id="rId4" Type="http://schemas.openxmlformats.org/officeDocument/2006/relationships/audio" Target="../media/narration13.mp3"/>
  <Relationship Id="rId5" Type="http://schemas.openxmlformats.org/officeDocument/2006/relationships/image" Target="../media/narration_poster.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 Id="rId3" Type="http://schemas.microsoft.com/office/2007/relationships/media" Target="../media/narration14.mp3"/>
  <Relationship Id="rId4" Type="http://schemas.openxmlformats.org/officeDocument/2006/relationships/audio" Target="../media/narration14.mp3"/>
  <Relationship Id="rId5" Type="http://schemas.openxmlformats.org/officeDocument/2006/relationships/image" Target="../media/narration_poster.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7ed937664d92efa.png"/>
  <Relationship Id="rId3" Type="http://schemas.openxmlformats.org/officeDocument/2006/relationships/notesSlide" Target="../notesSlides/notesSlide15.xml"/>
  <Relationship Id="rId4" Type="http://schemas.microsoft.com/office/2007/relationships/media" Target="../media/narration15.mp3"/>
  <Relationship Id="rId5" Type="http://schemas.openxmlformats.org/officeDocument/2006/relationships/audio" Target="../media/narration15.mp3"/>
  <Relationship Id="rId6" Type="http://schemas.openxmlformats.org/officeDocument/2006/relationships/image" Target="../media/narration_poster.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 Id="rId3" Type="http://schemas.microsoft.com/office/2007/relationships/media" Target="../media/narration16.mp3"/>
  <Relationship Id="rId4" Type="http://schemas.openxmlformats.org/officeDocument/2006/relationships/audio" Target="../media/narration16.mp3"/>
  <Relationship Id="rId5" Type="http://schemas.openxmlformats.org/officeDocument/2006/relationships/image" Target="../media/narration_poster.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 Id="rId3" Type="http://schemas.microsoft.com/office/2007/relationships/media" Target="../media/narration17.mp3"/>
  <Relationship Id="rId4" Type="http://schemas.openxmlformats.org/officeDocument/2006/relationships/audio" Target="../media/narration17.mp3"/>
  <Relationship Id="rId5" Type="http://schemas.openxmlformats.org/officeDocument/2006/relationships/image" Target="../media/narration_poster.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 Id="rId3" Type="http://schemas.microsoft.com/office/2007/relationships/media" Target="../media/narration18.mp3"/>
  <Relationship Id="rId4" Type="http://schemas.openxmlformats.org/officeDocument/2006/relationships/audio" Target="../media/narration18.mp3"/>
  <Relationship Id="rId5" Type="http://schemas.openxmlformats.org/officeDocument/2006/relationships/image" Target="../media/narration_poster.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 Id="rId3" Type="http://schemas.microsoft.com/office/2007/relationships/media" Target="../media/narration19.mp3"/>
  <Relationship Id="rId4" Type="http://schemas.openxmlformats.org/officeDocument/2006/relationships/audio" Target="../media/narration19.mp3"/>
  <Relationship Id="rId5" Type="http://schemas.openxmlformats.org/officeDocument/2006/relationships/image" Target="../media/narration_poster.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 Id="rId3" Type="http://schemas.microsoft.com/office/2007/relationships/media" Target="../media/narration20.mp3"/>
  <Relationship Id="rId4" Type="http://schemas.openxmlformats.org/officeDocument/2006/relationships/audio" Target="../media/narration20.mp3"/>
  <Relationship Id="rId5" Type="http://schemas.openxmlformats.org/officeDocument/2006/relationships/image" Target="../media/narration_poster.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 Id="rId3" Type="http://schemas.microsoft.com/office/2007/relationships/media" Target="../media/narration21.mp3"/>
  <Relationship Id="rId4" Type="http://schemas.openxmlformats.org/officeDocument/2006/relationships/audio" Target="../media/narration21.mp3"/>
  <Relationship Id="rId5" Type="http://schemas.openxmlformats.org/officeDocument/2006/relationships/image" Target="../media/narration_poster.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 Id="rId3" Type="http://schemas.microsoft.com/office/2007/relationships/media" Target="../media/narration22.mp3"/>
  <Relationship Id="rId4" Type="http://schemas.openxmlformats.org/officeDocument/2006/relationships/audio" Target="../media/narration22.mp3"/>
  <Relationship Id="rId5" Type="http://schemas.openxmlformats.org/officeDocument/2006/relationships/image" Target="../media/narration_poster.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F172A">
                  <a:alpha val="30000"/>
                </a:srgbClr>
              </a:gs>
              <a:gs pos="50000">
                <a:srgbClr val="0F172A">
                  <a:alpha val="70000"/>
                </a:srgbClr>
              </a:gs>
              <a:gs pos="100000">
                <a:srgbClr val="0F172A">
                  <a:alpha val="95000"/>
                </a:srgbClr>
              </a:gs>
            </a:gsLst>
            <a:lin ang="5400000" scaled="1"/>
          </a:gradFill>
          <a:ln>
            <a:noFill/>
          </a:ln>
        </p:spPr>
      </p:sp>
      <p:sp>
        <p:nvSpPr>
          <p:cNvPr id="4" name="Rectangle 4"/>
          <p:cNvSpPr/>
          <p:nvPr/>
        </p:nvSpPr>
        <p:spPr>
          <a:xfrm>
            <a:off x="5143500" y="3619500"/>
            <a:ext cx="1905000" cy="38100"/>
          </a:xfrm>
          <a:prstGeom prst="roundRect">
            <a:avLst>
              <a:gd name="adj" fmla="val 50000"/>
            </a:avLst>
          </a:prstGeom>
          <a:gradFill>
            <a:gsLst>
              <a:gs pos="0">
                <a:srgbClr val="3B82F6"/>
              </a:gs>
              <a:gs pos="100000">
                <a:srgbClr val="22D3EE"/>
              </a:gs>
            </a:gsLst>
            <a:lin ang="0" scaled="1"/>
          </a:gradFill>
          <a:ln>
            <a:noFill/>
          </a:ln>
        </p:spPr>
      </p:sp>
      <p:sp>
        <p:nvSpPr>
          <p:cNvPr id="5" name="TextBox 5"/>
          <p:cNvSpPr txBox="1"/>
          <p:nvPr/>
        </p:nvSpPr>
        <p:spPr>
          <a:xfrm>
            <a:off x="3369726" y="3832860"/>
            <a:ext cx="5452548" cy="853440"/>
          </a:xfrm>
          <a:prstGeom prst="rect">
            <a:avLst/>
          </a:prstGeom>
          <a:noFill/>
          <a:ln>
            <a:noFill/>
          </a:ln>
        </p:spPr>
        <p:txBody>
          <a:bodyPr wrap="none" lIns="0" tIns="0" rIns="0" bIns="0" anchor="t" anchorCtr="0">
            <a:spAutoFit/>
          </a:bodyPr>
          <a:lstStyle/>
          <a:p>
            <a:pPr algn="ctr"/>
            <a:r>
              <a:rPr lang="zh-CN" sz="4200" b="1" dirty="0">
                <a:solidFill>
                  <a:srgbClr val="F1F5F9"/>
                </a:solidFill>
                <a:latin typeface="Georgia"/>
                <a:ea typeface="Microsoft YaHei"/>
                <a:cs typeface="Georgia"/>
              </a:rPr>
              <a:t>Back Propagation</a:t>
            </a:r>
          </a:p>
        </p:txBody>
      </p:sp>
      <p:sp>
        <p:nvSpPr>
          <p:cNvPr id="6" name="TextBox 6"/>
          <p:cNvSpPr txBox="1"/>
          <p:nvPr/>
        </p:nvSpPr>
        <p:spPr>
          <a:xfrm>
            <a:off x="4268672" y="4517708"/>
            <a:ext cx="3654657" cy="640080"/>
          </a:xfrm>
          <a:prstGeom prst="rect">
            <a:avLst/>
          </a:prstGeom>
          <a:noFill/>
          <a:ln>
            <a:noFill/>
          </a:ln>
        </p:spPr>
        <p:txBody>
          <a:bodyPr wrap="none" lIns="0" tIns="0" rIns="0" bIns="0" anchor="t" anchorCtr="0">
            <a:spAutoFit/>
          </a:bodyPr>
          <a:lstStyle/>
          <a:p>
            <a:pPr algn="ctr"/>
            <a:r>
              <a:rPr lang="zh-CN" sz="3150" b="1" dirty="0">
                <a:gradFill>
                  <a:gsLst>
                    <a:gs pos="0">
                      <a:srgbClr val="3B82F6"/>
                    </a:gs>
                    <a:gs pos="100000">
                      <a:srgbClr val="22D3EE"/>
                    </a:gs>
                  </a:gsLst>
                  <a:lin ang="0" scaled="1"/>
                </a:gradFill>
                <a:latin typeface="Georgia"/>
                <a:ea typeface="Microsoft YaHei"/>
                <a:cs typeface="Georgia"/>
              </a:rPr>
              <a:t>Neural Network</a:t>
            </a:r>
          </a:p>
        </p:txBody>
      </p:sp>
      <p:sp>
        <p:nvSpPr>
          <p:cNvPr id="7" name="TextBox 7"/>
          <p:cNvSpPr txBox="1"/>
          <p:nvPr/>
        </p:nvSpPr>
        <p:spPr>
          <a:xfrm>
            <a:off x="2845594" y="5267325"/>
            <a:ext cx="6500812" cy="304800"/>
          </a:xfrm>
          <a:prstGeom prst="rect">
            <a:avLst/>
          </a:prstGeom>
          <a:noFill/>
          <a:ln>
            <a:noFill/>
          </a:ln>
        </p:spPr>
        <p:txBody>
          <a:bodyPr wrap="none" lIns="0" tIns="0" rIns="0" bIns="0" anchor="t" anchorCtr="0">
            <a:spAutoFit/>
          </a:bodyPr>
          <a:lstStyle/>
          <a:p>
            <a:pPr algn="ctr"/>
            <a:r>
              <a:rPr lang="zh-CN" sz="1500" dirty="0">
                <a:solidFill>
                  <a:srgbClr val="94A3B8"/>
                </a:solidFill>
                <a:latin typeface="Arial"/>
                <a:ea typeface="Microsoft YaHei"/>
                <a:cs typeface="Arial"/>
              </a:rPr>
              <a:t>CCS3600 Artificial Intelligence — Enhanced Teaching Materials</a:t>
            </a:r>
          </a:p>
        </p:txBody>
      </p:sp>
      <p:grpSp>
        <p:nvGrpSpPr>
          <p:cNvPr id="11" name="Group 11"/>
          <p:cNvGrpSpPr/>
          <p:nvPr/>
        </p:nvGrpSpPr>
        <p:grpSpPr>
          <a:xfrm>
            <a:off x="5807078" y="5740403"/>
            <a:ext cx="187319" cy="177794"/>
            <a:chOff x="5807078" y="5740403"/>
            <a:chExt cx="187319" cy="177794"/>
          </a:xfrm>
        </p:grpSpPr>
        <p:sp>
          <p:nvSpPr>
            <p:cNvPr id="8" name="Freeform 8"/>
            <p:cNvSpPr/>
            <p:nvPr/>
          </p:nvSpPr>
          <p:spPr>
            <a:xfrm>
              <a:off x="5934075" y="585470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22D3EE"/>
            </a:solidFill>
            <a:ln>
              <a:noFill/>
            </a:ln>
          </p:spPr>
        </p:sp>
        <p:sp>
          <p:nvSpPr>
            <p:cNvPr id="9" name="Freeform 9"/>
            <p:cNvSpPr/>
            <p:nvPr/>
          </p:nvSpPr>
          <p:spPr>
            <a:xfrm>
              <a:off x="5807078" y="5759453"/>
              <a:ext cx="139694" cy="136522"/>
            </a:xfrm>
            <a:custGeom>
              <a:avLst/>
              <a:gdLst/>
              <a:ahLst/>
              <a:cxnLst/>
              <a:rect l="l" t="t" r="r" b="b"/>
              <a:pathLst>
                <a:path w="139694" h="136522">
                  <a:moveTo>
                    <a:pt x="12697" y="60322"/>
                  </a:moveTo>
                  <a:cubicBezTo>
                    <a:pt x="38999" y="60322"/>
                    <a:pt x="60322" y="38999"/>
                    <a:pt x="60322" y="12697"/>
                  </a:cubicBezTo>
                  <a:cubicBezTo>
                    <a:pt x="60322" y="0"/>
                    <a:pt x="79372" y="0"/>
                    <a:pt x="79372" y="12697"/>
                  </a:cubicBezTo>
                  <a:cubicBezTo>
                    <a:pt x="79372" y="38999"/>
                    <a:pt x="100694" y="60322"/>
                    <a:pt x="126997" y="60322"/>
                  </a:cubicBezTo>
                  <a:cubicBezTo>
                    <a:pt x="139694" y="60322"/>
                    <a:pt x="139694" y="79372"/>
                    <a:pt x="126997" y="79372"/>
                  </a:cubicBezTo>
                  <a:cubicBezTo>
                    <a:pt x="100694" y="79372"/>
                    <a:pt x="79372" y="100694"/>
                    <a:pt x="79372" y="126997"/>
                  </a:cubicBezTo>
                  <a:cubicBezTo>
                    <a:pt x="79372" y="132257"/>
                    <a:pt x="75107" y="136522"/>
                    <a:pt x="69847" y="136522"/>
                  </a:cubicBezTo>
                  <a:cubicBezTo>
                    <a:pt x="64586" y="136522"/>
                    <a:pt x="60322" y="132257"/>
                    <a:pt x="60322" y="126997"/>
                  </a:cubicBezTo>
                  <a:cubicBezTo>
                    <a:pt x="60322" y="100694"/>
                    <a:pt x="38999" y="79372"/>
                    <a:pt x="12697" y="79372"/>
                  </a:cubicBezTo>
                  <a:cubicBezTo>
                    <a:pt x="0" y="79372"/>
                    <a:pt x="0" y="60322"/>
                    <a:pt x="12697" y="60322"/>
                  </a:cubicBezTo>
                </a:path>
              </a:pathLst>
            </a:custGeom>
            <a:solidFill>
              <a:srgbClr val="22D3EE"/>
            </a:solidFill>
            <a:ln>
              <a:noFill/>
            </a:ln>
          </p:spPr>
        </p:sp>
        <p:sp>
          <p:nvSpPr>
            <p:cNvPr id="10" name="Freeform 10"/>
            <p:cNvSpPr/>
            <p:nvPr/>
          </p:nvSpPr>
          <p:spPr>
            <a:xfrm>
              <a:off x="5934075" y="574040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22D3EE"/>
            </a:solidFill>
            <a:ln>
              <a:noFill/>
            </a:ln>
          </p:spPr>
        </p:sp>
      </p:grpSp>
      <p:grpSp>
        <p:nvGrpSpPr>
          <p:cNvPr id="15" name="Group 15"/>
          <p:cNvGrpSpPr/>
          <p:nvPr/>
        </p:nvGrpSpPr>
        <p:grpSpPr>
          <a:xfrm>
            <a:off x="6188078" y="5740403"/>
            <a:ext cx="187319" cy="177794"/>
            <a:chOff x="6188078" y="5740403"/>
            <a:chExt cx="187319" cy="177794"/>
          </a:xfrm>
        </p:grpSpPr>
        <p:sp>
          <p:nvSpPr>
            <p:cNvPr id="12" name="Freeform 12"/>
            <p:cNvSpPr/>
            <p:nvPr/>
          </p:nvSpPr>
          <p:spPr>
            <a:xfrm>
              <a:off x="6315075" y="585470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3B82F6"/>
            </a:solidFill>
            <a:ln>
              <a:noFill/>
            </a:ln>
          </p:spPr>
        </p:sp>
        <p:sp>
          <p:nvSpPr>
            <p:cNvPr id="13" name="Freeform 13"/>
            <p:cNvSpPr/>
            <p:nvPr/>
          </p:nvSpPr>
          <p:spPr>
            <a:xfrm>
              <a:off x="6188078" y="5759453"/>
              <a:ext cx="139694" cy="136522"/>
            </a:xfrm>
            <a:custGeom>
              <a:avLst/>
              <a:gdLst/>
              <a:ahLst/>
              <a:cxnLst/>
              <a:rect l="l" t="t" r="r" b="b"/>
              <a:pathLst>
                <a:path w="139694" h="136522">
                  <a:moveTo>
                    <a:pt x="12697" y="60322"/>
                  </a:moveTo>
                  <a:cubicBezTo>
                    <a:pt x="38999" y="60322"/>
                    <a:pt x="60322" y="38999"/>
                    <a:pt x="60322" y="12697"/>
                  </a:cubicBezTo>
                  <a:cubicBezTo>
                    <a:pt x="60322" y="0"/>
                    <a:pt x="79372" y="0"/>
                    <a:pt x="79372" y="12697"/>
                  </a:cubicBezTo>
                  <a:cubicBezTo>
                    <a:pt x="79372" y="38999"/>
                    <a:pt x="100694" y="60322"/>
                    <a:pt x="126997" y="60322"/>
                  </a:cubicBezTo>
                  <a:cubicBezTo>
                    <a:pt x="139694" y="60322"/>
                    <a:pt x="139694" y="79372"/>
                    <a:pt x="126997" y="79372"/>
                  </a:cubicBezTo>
                  <a:cubicBezTo>
                    <a:pt x="100694" y="79372"/>
                    <a:pt x="79372" y="100694"/>
                    <a:pt x="79372" y="126997"/>
                  </a:cubicBezTo>
                  <a:cubicBezTo>
                    <a:pt x="79372" y="132257"/>
                    <a:pt x="75107" y="136522"/>
                    <a:pt x="69847" y="136522"/>
                  </a:cubicBezTo>
                  <a:cubicBezTo>
                    <a:pt x="64586" y="136522"/>
                    <a:pt x="60322" y="132257"/>
                    <a:pt x="60322" y="126997"/>
                  </a:cubicBezTo>
                  <a:cubicBezTo>
                    <a:pt x="60322" y="100694"/>
                    <a:pt x="38999" y="79372"/>
                    <a:pt x="12697" y="79372"/>
                  </a:cubicBezTo>
                  <a:cubicBezTo>
                    <a:pt x="0" y="79372"/>
                    <a:pt x="0" y="60322"/>
                    <a:pt x="12697" y="60322"/>
                  </a:cubicBezTo>
                </a:path>
              </a:pathLst>
            </a:custGeom>
            <a:solidFill>
              <a:srgbClr val="3B82F6"/>
            </a:solidFill>
            <a:ln>
              <a:noFill/>
            </a:ln>
          </p:spPr>
        </p:sp>
        <p:sp>
          <p:nvSpPr>
            <p:cNvPr id="14" name="Freeform 14"/>
            <p:cNvSpPr/>
            <p:nvPr/>
          </p:nvSpPr>
          <p:spPr>
            <a:xfrm>
              <a:off x="6315075" y="574040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3B82F6"/>
            </a:solidFill>
            <a:ln>
              <a:noFill/>
            </a:ln>
          </p:spPr>
        </p:sp>
      </p:grpSp>
      <p:sp>
        <p:nvSpPr>
          <p:cNvPr id="16" name="TextBox 16"/>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01</a:t>
            </a:r>
          </a:p>
        </p:txBody>
      </p:sp>
      <p:pic>
        <p:nvPicPr>
          <p:cNvPr id="17" name="narration1.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0" y="0"/>
            <a:ext cx="1" cy="1"/>
          </a:xfrm>
          <a:prstGeom prst="rect">
            <a:avLst/>
          </a:prstGeom>
        </p:spPr>
      </p:pic>
    </p:spTree>
  </p:cSld>
  <p:clrMapOvr>
    <a:masterClrMapping/>
  </p:clrMapOvr>
  <p:transition xmlns:p14="http://schemas.microsoft.com/office/powerpoint/2010/main" p14:dur="400" advTm="28652">
    <p:fade/>
  </p:transition>
  <p:timing>
    <p:tnLst>
      <p:par>
        <p:cTn id="1" dur="indefinite" restart="never" nodeType="tmRoot">
          <p:childTnLst>
            <p:audio>
              <p:cMediaNode vol="80000">
                <p:cTn id="2" fill="hold" display="0">
                  <p:stCondLst>
                    <p:cond delay="0"/>
                  </p:stCondLst>
                </p:cTn>
                <p:tgtEl>
                  <p:spTgt spid="1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3283303"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What You Will Learn</a:t>
            </a:r>
          </a:p>
        </p:txBody>
      </p:sp>
      <p:sp>
        <p:nvSpPr>
          <p:cNvPr id="5" name="TextBox 5"/>
          <p:cNvSpPr txBox="1"/>
          <p:nvPr/>
        </p:nvSpPr>
        <p:spPr>
          <a:xfrm>
            <a:off x="556260" y="1013460"/>
            <a:ext cx="304495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Learning objectives for this module</a:t>
            </a:r>
          </a:p>
        </p:txBody>
      </p:sp>
      <p:sp>
        <p:nvSpPr>
          <p:cNvPr id="6" name="Rectangle 6"/>
          <p:cNvSpPr/>
          <p:nvPr/>
        </p:nvSpPr>
        <p:spPr>
          <a:xfrm>
            <a:off x="571500" y="1524000"/>
            <a:ext cx="2571750" cy="4572000"/>
          </a:xfrm>
          <a:prstGeom prst="roundRect">
            <a:avLst>
              <a:gd name="adj" fmla="val 4444"/>
            </a:avLst>
          </a:prstGeom>
          <a:solidFill>
            <a:srgbClr val="1E293B"/>
          </a:solidFill>
          <a:ln w="9525">
            <a:solidFill>
              <a:srgbClr val="334155"/>
            </a:solidFill>
          </a:ln>
        </p:spPr>
      </p:sp>
      <p:sp>
        <p:nvSpPr>
          <p:cNvPr id="7" name="Rectangle 7"/>
          <p:cNvSpPr/>
          <p:nvPr/>
        </p:nvSpPr>
        <p:spPr>
          <a:xfrm>
            <a:off x="571500" y="1524000"/>
            <a:ext cx="2571750" cy="57150"/>
          </a:xfrm>
          <a:prstGeom prst="roundRect">
            <a:avLst>
              <a:gd name="adj" fmla="val 50000"/>
            </a:avLst>
          </a:prstGeom>
          <a:solidFill>
            <a:srgbClr val="3B82F6"/>
          </a:solidFill>
          <a:ln>
            <a:noFill/>
          </a:ln>
        </p:spPr>
      </p:sp>
      <p:grpSp>
        <p:nvGrpSpPr>
          <p:cNvPr id="12" name="Group 12"/>
          <p:cNvGrpSpPr/>
          <p:nvPr/>
        </p:nvGrpSpPr>
        <p:grpSpPr>
          <a:xfrm>
            <a:off x="793750" y="1889125"/>
            <a:ext cx="317500" cy="317500"/>
            <a:chOff x="793750" y="1889125"/>
            <a:chExt cx="317500" cy="317500"/>
          </a:xfrm>
        </p:grpSpPr>
        <p:sp>
          <p:nvSpPr>
            <p:cNvPr id="8" name="Freeform 8"/>
            <p:cNvSpPr/>
            <p:nvPr/>
          </p:nvSpPr>
          <p:spPr>
            <a:xfrm>
              <a:off x="793750" y="2079625"/>
              <a:ext cx="127000" cy="127000"/>
            </a:xfrm>
            <a:custGeom>
              <a:avLst/>
              <a:gdLst/>
              <a:ahLst/>
              <a:cxnLst/>
              <a:rect l="l" t="t" r="r" b="b"/>
              <a:pathLst>
                <a:path w="127000" h="127000">
                  <a:moveTo>
                    <a:pt x="0" y="42339"/>
                  </a:moveTo>
                  <a:cubicBezTo>
                    <a:pt x="0" y="18956"/>
                    <a:pt x="18956" y="0"/>
                    <a:pt x="42339" y="0"/>
                  </a:cubicBezTo>
                  <a:lnTo>
                    <a:pt x="84661" y="0"/>
                  </a:lnTo>
                  <a:cubicBezTo>
                    <a:pt x="108044" y="0"/>
                    <a:pt x="127000" y="18956"/>
                    <a:pt x="127000" y="42339"/>
                  </a:cubicBezTo>
                  <a:lnTo>
                    <a:pt x="127000" y="84661"/>
                  </a:lnTo>
                  <a:cubicBezTo>
                    <a:pt x="127000" y="108044"/>
                    <a:pt x="108044" y="127000"/>
                    <a:pt x="84661" y="127000"/>
                  </a:cubicBezTo>
                  <a:lnTo>
                    <a:pt x="42339" y="127000"/>
                  </a:lnTo>
                  <a:cubicBezTo>
                    <a:pt x="31110" y="127000"/>
                    <a:pt x="20341" y="122539"/>
                    <a:pt x="12401" y="114599"/>
                  </a:cubicBezTo>
                  <a:cubicBezTo>
                    <a:pt x="4461" y="106659"/>
                    <a:pt x="0" y="95890"/>
                    <a:pt x="0" y="84661"/>
                  </a:cubicBezTo>
                  <a:close/>
                </a:path>
              </a:pathLst>
            </a:custGeom>
            <a:solidFill>
              <a:srgbClr val="3B82F6"/>
            </a:solidFill>
            <a:ln>
              <a:noFill/>
            </a:ln>
          </p:spPr>
        </p:sp>
        <p:sp>
          <p:nvSpPr>
            <p:cNvPr id="9" name="Freeform 9"/>
            <p:cNvSpPr/>
            <p:nvPr/>
          </p:nvSpPr>
          <p:spPr>
            <a:xfrm>
              <a:off x="984250" y="2079625"/>
              <a:ext cx="127000" cy="127000"/>
            </a:xfrm>
            <a:custGeom>
              <a:avLst/>
              <a:gdLst/>
              <a:ahLst/>
              <a:cxnLst/>
              <a:rect l="l" t="t" r="r" b="b"/>
              <a:pathLst>
                <a:path w="127000" h="127000">
                  <a:moveTo>
                    <a:pt x="0" y="42339"/>
                  </a:moveTo>
                  <a:cubicBezTo>
                    <a:pt x="0" y="31110"/>
                    <a:pt x="4461" y="20341"/>
                    <a:pt x="12401" y="12401"/>
                  </a:cubicBezTo>
                  <a:cubicBezTo>
                    <a:pt x="20341" y="4461"/>
                    <a:pt x="31110" y="0"/>
                    <a:pt x="42339" y="0"/>
                  </a:cubicBezTo>
                  <a:lnTo>
                    <a:pt x="84661" y="0"/>
                  </a:lnTo>
                  <a:cubicBezTo>
                    <a:pt x="108044" y="0"/>
                    <a:pt x="127000" y="18956"/>
                    <a:pt x="127000" y="42339"/>
                  </a:cubicBezTo>
                  <a:lnTo>
                    <a:pt x="127000" y="84661"/>
                  </a:lnTo>
                  <a:cubicBezTo>
                    <a:pt x="127000" y="108044"/>
                    <a:pt x="108044" y="127000"/>
                    <a:pt x="84661" y="127000"/>
                  </a:cubicBezTo>
                  <a:lnTo>
                    <a:pt x="42339" y="127000"/>
                  </a:lnTo>
                  <a:cubicBezTo>
                    <a:pt x="31110" y="127000"/>
                    <a:pt x="20341" y="122539"/>
                    <a:pt x="12401" y="114599"/>
                  </a:cubicBezTo>
                  <a:cubicBezTo>
                    <a:pt x="4461" y="106659"/>
                    <a:pt x="0" y="95890"/>
                    <a:pt x="0" y="84661"/>
                  </a:cubicBezTo>
                  <a:close/>
                </a:path>
              </a:pathLst>
            </a:custGeom>
            <a:solidFill>
              <a:srgbClr val="3B82F6"/>
            </a:solidFill>
            <a:ln>
              <a:noFill/>
            </a:ln>
          </p:spPr>
        </p:sp>
        <p:sp>
          <p:nvSpPr>
            <p:cNvPr id="10" name="Freeform 10"/>
            <p:cNvSpPr/>
            <p:nvPr/>
          </p:nvSpPr>
          <p:spPr>
            <a:xfrm>
              <a:off x="889000" y="1889125"/>
              <a:ext cx="127000" cy="127000"/>
            </a:xfrm>
            <a:custGeom>
              <a:avLst/>
              <a:gdLst/>
              <a:ahLst/>
              <a:cxnLst/>
              <a:rect l="l" t="t" r="r" b="b"/>
              <a:pathLst>
                <a:path w="127000" h="127000">
                  <a:moveTo>
                    <a:pt x="0" y="42339"/>
                  </a:moveTo>
                  <a:cubicBezTo>
                    <a:pt x="0" y="18956"/>
                    <a:pt x="18956" y="0"/>
                    <a:pt x="42339" y="0"/>
                  </a:cubicBezTo>
                  <a:lnTo>
                    <a:pt x="84661" y="0"/>
                  </a:lnTo>
                  <a:cubicBezTo>
                    <a:pt x="108044" y="0"/>
                    <a:pt x="127000" y="18956"/>
                    <a:pt x="127000" y="42339"/>
                  </a:cubicBezTo>
                  <a:lnTo>
                    <a:pt x="127000" y="84661"/>
                  </a:lnTo>
                  <a:cubicBezTo>
                    <a:pt x="127000" y="108044"/>
                    <a:pt x="108044" y="127000"/>
                    <a:pt x="84661" y="127000"/>
                  </a:cubicBezTo>
                  <a:lnTo>
                    <a:pt x="42339" y="127000"/>
                  </a:lnTo>
                  <a:cubicBezTo>
                    <a:pt x="18956" y="127000"/>
                    <a:pt x="0" y="108044"/>
                    <a:pt x="0" y="84661"/>
                  </a:cubicBezTo>
                  <a:close/>
                </a:path>
              </a:pathLst>
            </a:custGeom>
            <a:solidFill>
              <a:srgbClr val="3B82F6"/>
            </a:solidFill>
            <a:ln>
              <a:noFill/>
            </a:ln>
          </p:spPr>
        </p:sp>
        <p:sp>
          <p:nvSpPr>
            <p:cNvPr id="11" name="Freeform 11"/>
            <p:cNvSpPr/>
            <p:nvPr/>
          </p:nvSpPr>
          <p:spPr>
            <a:xfrm>
              <a:off x="841375" y="1984375"/>
              <a:ext cx="222250" cy="127000"/>
            </a:xfrm>
            <a:custGeom>
              <a:avLst/>
              <a:gdLst/>
              <a:ahLst/>
              <a:cxnLst/>
              <a:rect l="l" t="t" r="r" b="b"/>
              <a:pathLst>
                <a:path w="222250" h="127000">
                  <a:moveTo>
                    <a:pt x="111125" y="0"/>
                  </a:moveTo>
                  <a:cubicBezTo>
                    <a:pt x="102357" y="0"/>
                    <a:pt x="95250" y="7107"/>
                    <a:pt x="95250" y="15875"/>
                  </a:cubicBezTo>
                  <a:lnTo>
                    <a:pt x="95250" y="47625"/>
                  </a:lnTo>
                  <a:lnTo>
                    <a:pt x="47625" y="47625"/>
                  </a:lnTo>
                  <a:cubicBezTo>
                    <a:pt x="21511" y="47625"/>
                    <a:pt x="0" y="69136"/>
                    <a:pt x="0" y="95250"/>
                  </a:cubicBezTo>
                  <a:lnTo>
                    <a:pt x="0" y="111125"/>
                  </a:lnTo>
                  <a:cubicBezTo>
                    <a:pt x="0" y="119893"/>
                    <a:pt x="7107" y="127000"/>
                    <a:pt x="15875" y="127000"/>
                  </a:cubicBezTo>
                  <a:cubicBezTo>
                    <a:pt x="24643" y="127000"/>
                    <a:pt x="31750" y="119893"/>
                    <a:pt x="31750" y="111125"/>
                  </a:cubicBezTo>
                  <a:lnTo>
                    <a:pt x="31750" y="95250"/>
                  </a:lnTo>
                  <a:cubicBezTo>
                    <a:pt x="31750" y="86297"/>
                    <a:pt x="38672" y="79375"/>
                    <a:pt x="47625" y="79375"/>
                  </a:cubicBezTo>
                  <a:lnTo>
                    <a:pt x="174625" y="79375"/>
                  </a:lnTo>
                  <a:cubicBezTo>
                    <a:pt x="183579" y="79375"/>
                    <a:pt x="190500" y="86297"/>
                    <a:pt x="190500" y="95250"/>
                  </a:cubicBezTo>
                  <a:lnTo>
                    <a:pt x="190500" y="111125"/>
                  </a:lnTo>
                  <a:cubicBezTo>
                    <a:pt x="190500" y="119893"/>
                    <a:pt x="197607" y="127000"/>
                    <a:pt x="206375" y="127000"/>
                  </a:cubicBezTo>
                  <a:cubicBezTo>
                    <a:pt x="215143" y="127000"/>
                    <a:pt x="222250" y="119893"/>
                    <a:pt x="222250" y="111125"/>
                  </a:cubicBezTo>
                  <a:lnTo>
                    <a:pt x="222250" y="95250"/>
                  </a:lnTo>
                  <a:cubicBezTo>
                    <a:pt x="222250" y="69136"/>
                    <a:pt x="200739" y="47625"/>
                    <a:pt x="174625" y="47625"/>
                  </a:cubicBezTo>
                  <a:lnTo>
                    <a:pt x="127000" y="47625"/>
                  </a:lnTo>
                  <a:lnTo>
                    <a:pt x="127000" y="15875"/>
                  </a:lnTo>
                  <a:cubicBezTo>
                    <a:pt x="127000" y="7107"/>
                    <a:pt x="119893" y="0"/>
                    <a:pt x="111125" y="0"/>
                  </a:cubicBezTo>
                  <a:close/>
                </a:path>
              </a:pathLst>
            </a:custGeom>
            <a:solidFill>
              <a:srgbClr val="3B82F6"/>
            </a:solidFill>
            <a:ln>
              <a:noFill/>
            </a:ln>
          </p:spPr>
        </p:sp>
      </p:grpSp>
      <p:sp>
        <p:nvSpPr>
          <p:cNvPr id="13" name="TextBox 13"/>
          <p:cNvSpPr txBox="1"/>
          <p:nvPr/>
        </p:nvSpPr>
        <p:spPr>
          <a:xfrm>
            <a:off x="742950" y="2362200"/>
            <a:ext cx="1544788"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Fundamentals</a:t>
            </a:r>
          </a:p>
        </p:txBody>
      </p:sp>
      <p:sp>
        <p:nvSpPr>
          <p:cNvPr id="14" name="TextBox 14"/>
          <p:cNvSpPr txBox="1"/>
          <p:nvPr/>
        </p:nvSpPr>
        <p:spPr>
          <a:xfrm>
            <a:off x="746760" y="2727960"/>
            <a:ext cx="133616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Understand the</a:t>
            </a:r>
          </a:p>
        </p:txBody>
      </p:sp>
      <p:sp>
        <p:nvSpPr>
          <p:cNvPr id="15" name="TextBox 15"/>
          <p:cNvSpPr txBox="1"/>
          <p:nvPr/>
        </p:nvSpPr>
        <p:spPr>
          <a:xfrm>
            <a:off x="746760" y="2956560"/>
            <a:ext cx="148513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architecture and</a:t>
            </a:r>
          </a:p>
        </p:txBody>
      </p:sp>
      <p:sp>
        <p:nvSpPr>
          <p:cNvPr id="16" name="TextBox 16"/>
          <p:cNvSpPr txBox="1"/>
          <p:nvPr/>
        </p:nvSpPr>
        <p:spPr>
          <a:xfrm>
            <a:off x="746760" y="3185160"/>
            <a:ext cx="166916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mechanics of feed-</a:t>
            </a:r>
          </a:p>
        </p:txBody>
      </p:sp>
      <p:sp>
        <p:nvSpPr>
          <p:cNvPr id="17" name="TextBox 17"/>
          <p:cNvSpPr txBox="1"/>
          <p:nvPr/>
        </p:nvSpPr>
        <p:spPr>
          <a:xfrm>
            <a:off x="746760" y="3413760"/>
            <a:ext cx="132740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forward neural</a:t>
            </a:r>
          </a:p>
        </p:txBody>
      </p:sp>
      <p:sp>
        <p:nvSpPr>
          <p:cNvPr id="18" name="TextBox 18"/>
          <p:cNvSpPr txBox="1"/>
          <p:nvPr/>
        </p:nvSpPr>
        <p:spPr>
          <a:xfrm>
            <a:off x="746760" y="3642360"/>
            <a:ext cx="155524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networks and how</a:t>
            </a:r>
          </a:p>
        </p:txBody>
      </p:sp>
      <p:sp>
        <p:nvSpPr>
          <p:cNvPr id="19" name="TextBox 19"/>
          <p:cNvSpPr txBox="1"/>
          <p:nvPr/>
        </p:nvSpPr>
        <p:spPr>
          <a:xfrm>
            <a:off x="746760" y="3870960"/>
            <a:ext cx="156400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information flows</a:t>
            </a:r>
          </a:p>
        </p:txBody>
      </p:sp>
      <p:sp>
        <p:nvSpPr>
          <p:cNvPr id="20" name="TextBox 20"/>
          <p:cNvSpPr txBox="1"/>
          <p:nvPr/>
        </p:nvSpPr>
        <p:spPr>
          <a:xfrm>
            <a:off x="746760" y="4099560"/>
            <a:ext cx="129235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through layers</a:t>
            </a:r>
          </a:p>
        </p:txBody>
      </p:sp>
      <p:sp>
        <p:nvSpPr>
          <p:cNvPr id="21" name="Rectangle 21"/>
          <p:cNvSpPr/>
          <p:nvPr/>
        </p:nvSpPr>
        <p:spPr>
          <a:xfrm>
            <a:off x="3429000" y="1524000"/>
            <a:ext cx="2571750" cy="4572000"/>
          </a:xfrm>
          <a:prstGeom prst="roundRect">
            <a:avLst>
              <a:gd name="adj" fmla="val 4444"/>
            </a:avLst>
          </a:prstGeom>
          <a:solidFill>
            <a:srgbClr val="1E293B"/>
          </a:solidFill>
          <a:ln w="9525">
            <a:solidFill>
              <a:srgbClr val="334155"/>
            </a:solidFill>
          </a:ln>
        </p:spPr>
      </p:sp>
      <p:sp>
        <p:nvSpPr>
          <p:cNvPr id="22" name="Rectangle 22"/>
          <p:cNvSpPr/>
          <p:nvPr/>
        </p:nvSpPr>
        <p:spPr>
          <a:xfrm>
            <a:off x="3429000" y="1524000"/>
            <a:ext cx="2571750" cy="57150"/>
          </a:xfrm>
          <a:prstGeom prst="roundRect">
            <a:avLst>
              <a:gd name="adj" fmla="val 50000"/>
            </a:avLst>
          </a:prstGeom>
          <a:solidFill>
            <a:srgbClr val="22D3EE"/>
          </a:solidFill>
          <a:ln>
            <a:noFill/>
          </a:ln>
        </p:spPr>
      </p:sp>
      <p:sp>
        <p:nvSpPr>
          <p:cNvPr id="23" name="Freeform 23"/>
          <p:cNvSpPr/>
          <p:nvPr/>
        </p:nvSpPr>
        <p:spPr>
          <a:xfrm>
            <a:off x="3667125" y="1905000"/>
            <a:ext cx="285750" cy="285750"/>
          </a:xfrm>
          <a:custGeom>
            <a:avLst/>
            <a:gdLst/>
            <a:ahLst/>
            <a:cxnLst/>
            <a:rect l="l" t="t" r="r" b="b"/>
            <a:pathLst>
              <a:path w="285750" h="285750">
                <a:moveTo>
                  <a:pt x="227536" y="0"/>
                </a:moveTo>
                <a:cubicBezTo>
                  <a:pt x="242976" y="0"/>
                  <a:pt x="257782" y="6133"/>
                  <a:pt x="268700" y="17050"/>
                </a:cubicBezTo>
                <a:cubicBezTo>
                  <a:pt x="279617" y="27968"/>
                  <a:pt x="285750" y="42774"/>
                  <a:pt x="285750" y="58214"/>
                </a:cubicBezTo>
                <a:lnTo>
                  <a:pt x="285750" y="227536"/>
                </a:lnTo>
                <a:cubicBezTo>
                  <a:pt x="285750" y="242976"/>
                  <a:pt x="279617" y="257782"/>
                  <a:pt x="268700" y="268700"/>
                </a:cubicBezTo>
                <a:cubicBezTo>
                  <a:pt x="257782" y="279617"/>
                  <a:pt x="242976" y="285750"/>
                  <a:pt x="227536" y="285750"/>
                </a:cubicBezTo>
                <a:lnTo>
                  <a:pt x="58214" y="285750"/>
                </a:lnTo>
                <a:cubicBezTo>
                  <a:pt x="42774" y="285750"/>
                  <a:pt x="27968" y="279617"/>
                  <a:pt x="17050" y="268700"/>
                </a:cubicBezTo>
                <a:cubicBezTo>
                  <a:pt x="6133" y="257782"/>
                  <a:pt x="0" y="242976"/>
                  <a:pt x="0" y="227536"/>
                </a:cubicBezTo>
                <a:lnTo>
                  <a:pt x="0" y="58214"/>
                </a:lnTo>
                <a:cubicBezTo>
                  <a:pt x="0" y="26063"/>
                  <a:pt x="26063" y="0"/>
                  <a:pt x="58214" y="0"/>
                </a:cubicBezTo>
                <a:close/>
                <a:moveTo>
                  <a:pt x="170656" y="47625"/>
                </a:moveTo>
                <a:cubicBezTo>
                  <a:pt x="151224" y="47612"/>
                  <a:pt x="134951" y="62340"/>
                  <a:pt x="133032" y="81677"/>
                </a:cubicBezTo>
                <a:lnTo>
                  <a:pt x="128508" y="127000"/>
                </a:lnTo>
                <a:lnTo>
                  <a:pt x="95250" y="127000"/>
                </a:lnTo>
                <a:lnTo>
                  <a:pt x="93393" y="127111"/>
                </a:lnTo>
                <a:cubicBezTo>
                  <a:pt x="85052" y="128103"/>
                  <a:pt x="78928" y="135420"/>
                  <a:pt x="79420" y="143805"/>
                </a:cubicBezTo>
                <a:cubicBezTo>
                  <a:pt x="79912" y="152190"/>
                  <a:pt x="86851" y="158741"/>
                  <a:pt x="95250" y="158750"/>
                </a:cubicBezTo>
                <a:lnTo>
                  <a:pt x="125317" y="158750"/>
                </a:lnTo>
                <a:lnTo>
                  <a:pt x="121110" y="200914"/>
                </a:lnTo>
                <a:lnTo>
                  <a:pt x="120888" y="202041"/>
                </a:lnTo>
                <a:cubicBezTo>
                  <a:pt x="120134" y="204612"/>
                  <a:pt x="117773" y="206378"/>
                  <a:pt x="115094" y="206375"/>
                </a:cubicBezTo>
                <a:cubicBezTo>
                  <a:pt x="112902" y="206375"/>
                  <a:pt x="111125" y="204598"/>
                  <a:pt x="111125" y="202406"/>
                </a:cubicBezTo>
                <a:lnTo>
                  <a:pt x="111125" y="198438"/>
                </a:lnTo>
                <a:lnTo>
                  <a:pt x="111014" y="196580"/>
                </a:lnTo>
                <a:cubicBezTo>
                  <a:pt x="110022" y="188240"/>
                  <a:pt x="102705" y="182115"/>
                  <a:pt x="94320" y="182607"/>
                </a:cubicBezTo>
                <a:cubicBezTo>
                  <a:pt x="85935" y="183100"/>
                  <a:pt x="79384" y="190038"/>
                  <a:pt x="79375" y="198438"/>
                </a:cubicBezTo>
                <a:lnTo>
                  <a:pt x="79375" y="202406"/>
                </a:lnTo>
                <a:lnTo>
                  <a:pt x="79454" y="204851"/>
                </a:lnTo>
                <a:cubicBezTo>
                  <a:pt x="80740" y="223587"/>
                  <a:pt x="96314" y="238127"/>
                  <a:pt x="115094" y="238125"/>
                </a:cubicBezTo>
                <a:cubicBezTo>
                  <a:pt x="134526" y="238138"/>
                  <a:pt x="150799" y="223410"/>
                  <a:pt x="152718" y="204073"/>
                </a:cubicBezTo>
                <a:lnTo>
                  <a:pt x="157226" y="158750"/>
                </a:lnTo>
                <a:lnTo>
                  <a:pt x="190500" y="158750"/>
                </a:lnTo>
                <a:lnTo>
                  <a:pt x="192357" y="158639"/>
                </a:lnTo>
                <a:cubicBezTo>
                  <a:pt x="200698" y="157647"/>
                  <a:pt x="206822" y="150330"/>
                  <a:pt x="206330" y="141945"/>
                </a:cubicBezTo>
                <a:cubicBezTo>
                  <a:pt x="205838" y="133560"/>
                  <a:pt x="198899" y="127009"/>
                  <a:pt x="190500" y="127000"/>
                </a:cubicBezTo>
                <a:lnTo>
                  <a:pt x="160417" y="127000"/>
                </a:lnTo>
                <a:lnTo>
                  <a:pt x="164640" y="84836"/>
                </a:lnTo>
                <a:lnTo>
                  <a:pt x="164862" y="83709"/>
                </a:lnTo>
                <a:cubicBezTo>
                  <a:pt x="165621" y="81141"/>
                  <a:pt x="167978" y="79378"/>
                  <a:pt x="170656" y="79375"/>
                </a:cubicBezTo>
                <a:cubicBezTo>
                  <a:pt x="172848" y="79375"/>
                  <a:pt x="174625" y="81152"/>
                  <a:pt x="174625" y="83344"/>
                </a:cubicBezTo>
                <a:lnTo>
                  <a:pt x="174625" y="87312"/>
                </a:lnTo>
                <a:lnTo>
                  <a:pt x="174736" y="89170"/>
                </a:lnTo>
                <a:cubicBezTo>
                  <a:pt x="175728" y="97510"/>
                  <a:pt x="183045" y="103635"/>
                  <a:pt x="191430" y="103143"/>
                </a:cubicBezTo>
                <a:cubicBezTo>
                  <a:pt x="199815" y="102650"/>
                  <a:pt x="206366" y="95712"/>
                  <a:pt x="206375" y="87312"/>
                </a:cubicBezTo>
                <a:lnTo>
                  <a:pt x="206375" y="83344"/>
                </a:lnTo>
                <a:lnTo>
                  <a:pt x="206296" y="80899"/>
                </a:lnTo>
                <a:cubicBezTo>
                  <a:pt x="205010" y="62163"/>
                  <a:pt x="189436" y="47623"/>
                  <a:pt x="170656" y="47625"/>
                </a:cubicBezTo>
                <a:close/>
              </a:path>
            </a:pathLst>
          </a:custGeom>
          <a:solidFill>
            <a:srgbClr val="22D3EE"/>
          </a:solidFill>
          <a:ln>
            <a:noFill/>
          </a:ln>
        </p:spPr>
      </p:sp>
      <p:sp>
        <p:nvSpPr>
          <p:cNvPr id="24" name="TextBox 24"/>
          <p:cNvSpPr txBox="1"/>
          <p:nvPr/>
        </p:nvSpPr>
        <p:spPr>
          <a:xfrm>
            <a:off x="3600450" y="2362200"/>
            <a:ext cx="1107734"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Algorithm</a:t>
            </a:r>
          </a:p>
        </p:txBody>
      </p:sp>
      <p:sp>
        <p:nvSpPr>
          <p:cNvPr id="25" name="TextBox 25"/>
          <p:cNvSpPr txBox="1"/>
          <p:nvPr/>
        </p:nvSpPr>
        <p:spPr>
          <a:xfrm>
            <a:off x="3604260" y="2727960"/>
            <a:ext cx="152019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Master the back-</a:t>
            </a:r>
          </a:p>
        </p:txBody>
      </p:sp>
      <p:sp>
        <p:nvSpPr>
          <p:cNvPr id="26" name="TextBox 26"/>
          <p:cNvSpPr txBox="1"/>
          <p:nvPr/>
        </p:nvSpPr>
        <p:spPr>
          <a:xfrm>
            <a:off x="3604260" y="2956560"/>
            <a:ext cx="201091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propagation algorithm,</a:t>
            </a:r>
          </a:p>
        </p:txBody>
      </p:sp>
      <p:sp>
        <p:nvSpPr>
          <p:cNvPr id="27" name="TextBox 27"/>
          <p:cNvSpPr txBox="1"/>
          <p:nvPr/>
        </p:nvSpPr>
        <p:spPr>
          <a:xfrm>
            <a:off x="3604260" y="3185160"/>
            <a:ext cx="146761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its mathematical</a:t>
            </a:r>
          </a:p>
        </p:txBody>
      </p:sp>
      <p:sp>
        <p:nvSpPr>
          <p:cNvPr id="28" name="TextBox 28"/>
          <p:cNvSpPr txBox="1"/>
          <p:nvPr/>
        </p:nvSpPr>
        <p:spPr>
          <a:xfrm>
            <a:off x="3604260" y="3413760"/>
            <a:ext cx="173926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foundation including</a:t>
            </a:r>
          </a:p>
        </p:txBody>
      </p:sp>
      <p:sp>
        <p:nvSpPr>
          <p:cNvPr id="29" name="TextBox 29"/>
          <p:cNvSpPr txBox="1"/>
          <p:nvPr/>
        </p:nvSpPr>
        <p:spPr>
          <a:xfrm>
            <a:off x="3604260" y="3642360"/>
            <a:ext cx="183565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loss functions, chain</a:t>
            </a:r>
          </a:p>
        </p:txBody>
      </p:sp>
      <p:sp>
        <p:nvSpPr>
          <p:cNvPr id="30" name="TextBox 30"/>
          <p:cNvSpPr txBox="1"/>
          <p:nvPr/>
        </p:nvSpPr>
        <p:spPr>
          <a:xfrm>
            <a:off x="3604260" y="3870960"/>
            <a:ext cx="159029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rule, and gradient</a:t>
            </a:r>
          </a:p>
        </p:txBody>
      </p:sp>
      <p:sp>
        <p:nvSpPr>
          <p:cNvPr id="31" name="TextBox 31"/>
          <p:cNvSpPr txBox="1"/>
          <p:nvPr/>
        </p:nvSpPr>
        <p:spPr>
          <a:xfrm>
            <a:off x="3604260" y="4099560"/>
            <a:ext cx="108204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computation</a:t>
            </a:r>
          </a:p>
        </p:txBody>
      </p:sp>
      <p:sp>
        <p:nvSpPr>
          <p:cNvPr id="32" name="Rectangle 32"/>
          <p:cNvSpPr/>
          <p:nvPr/>
        </p:nvSpPr>
        <p:spPr>
          <a:xfrm>
            <a:off x="6286500" y="1524000"/>
            <a:ext cx="2571750" cy="4572000"/>
          </a:xfrm>
          <a:prstGeom prst="roundRect">
            <a:avLst>
              <a:gd name="adj" fmla="val 4444"/>
            </a:avLst>
          </a:prstGeom>
          <a:solidFill>
            <a:srgbClr val="1E293B"/>
          </a:solidFill>
          <a:ln w="9525">
            <a:solidFill>
              <a:srgbClr val="334155"/>
            </a:solidFill>
          </a:ln>
        </p:spPr>
      </p:sp>
      <p:sp>
        <p:nvSpPr>
          <p:cNvPr id="33" name="Rectangle 33"/>
          <p:cNvSpPr/>
          <p:nvPr/>
        </p:nvSpPr>
        <p:spPr>
          <a:xfrm>
            <a:off x="6286500" y="1524000"/>
            <a:ext cx="2571750" cy="57150"/>
          </a:xfrm>
          <a:prstGeom prst="roundRect">
            <a:avLst>
              <a:gd name="adj" fmla="val 50000"/>
            </a:avLst>
          </a:prstGeom>
          <a:solidFill>
            <a:srgbClr val="8B5CF6"/>
          </a:solidFill>
          <a:ln>
            <a:noFill/>
          </a:ln>
        </p:spPr>
      </p:sp>
      <p:sp>
        <p:nvSpPr>
          <p:cNvPr id="34" name="Freeform 34"/>
          <p:cNvSpPr/>
          <p:nvPr/>
        </p:nvSpPr>
        <p:spPr>
          <a:xfrm>
            <a:off x="6492183" y="1920875"/>
            <a:ext cx="349926" cy="254000"/>
          </a:xfrm>
          <a:custGeom>
            <a:avLst/>
            <a:gdLst/>
            <a:ahLst/>
            <a:cxnLst/>
            <a:rect l="l" t="t" r="r" b="b"/>
            <a:pathLst>
              <a:path w="349926" h="254000">
                <a:moveTo>
                  <a:pt x="175317" y="0"/>
                </a:moveTo>
                <a:cubicBezTo>
                  <a:pt x="243420" y="0"/>
                  <a:pt x="300142" y="38560"/>
                  <a:pt x="344624" y="113570"/>
                </a:cubicBezTo>
                <a:lnTo>
                  <a:pt x="348116" y="119586"/>
                </a:lnTo>
                <a:lnTo>
                  <a:pt x="348830" y="121174"/>
                </a:lnTo>
                <a:lnTo>
                  <a:pt x="349307" y="122492"/>
                </a:lnTo>
                <a:lnTo>
                  <a:pt x="349529" y="123365"/>
                </a:lnTo>
                <a:lnTo>
                  <a:pt x="349751" y="124666"/>
                </a:lnTo>
                <a:lnTo>
                  <a:pt x="349926" y="126254"/>
                </a:lnTo>
                <a:lnTo>
                  <a:pt x="349926" y="128000"/>
                </a:lnTo>
                <a:lnTo>
                  <a:pt x="349704" y="129762"/>
                </a:lnTo>
                <a:cubicBezTo>
                  <a:pt x="349599" y="130352"/>
                  <a:pt x="349461" y="130935"/>
                  <a:pt x="349291" y="131509"/>
                </a:cubicBezTo>
                <a:lnTo>
                  <a:pt x="348672" y="133223"/>
                </a:lnTo>
                <a:lnTo>
                  <a:pt x="348100" y="134414"/>
                </a:lnTo>
                <a:lnTo>
                  <a:pt x="347846" y="134890"/>
                </a:lnTo>
                <a:cubicBezTo>
                  <a:pt x="303968" y="211661"/>
                  <a:pt x="247834" y="252047"/>
                  <a:pt x="180286" y="253936"/>
                </a:cubicBezTo>
                <a:lnTo>
                  <a:pt x="175317" y="254000"/>
                </a:lnTo>
                <a:cubicBezTo>
                  <a:pt x="105530" y="254000"/>
                  <a:pt x="47729" y="213535"/>
                  <a:pt x="2787" y="134874"/>
                </a:cubicBezTo>
                <a:cubicBezTo>
                  <a:pt x="0" y="129995"/>
                  <a:pt x="0" y="124005"/>
                  <a:pt x="2787" y="119126"/>
                </a:cubicBezTo>
                <a:cubicBezTo>
                  <a:pt x="47729" y="40465"/>
                  <a:pt x="105530" y="0"/>
                  <a:pt x="175317" y="0"/>
                </a:cubicBezTo>
                <a:close/>
                <a:moveTo>
                  <a:pt x="175317" y="79375"/>
                </a:moveTo>
                <a:cubicBezTo>
                  <a:pt x="149014" y="79375"/>
                  <a:pt x="127692" y="100697"/>
                  <a:pt x="127692" y="127000"/>
                </a:cubicBezTo>
                <a:cubicBezTo>
                  <a:pt x="127692" y="153303"/>
                  <a:pt x="149014" y="174625"/>
                  <a:pt x="175317" y="174625"/>
                </a:cubicBezTo>
                <a:cubicBezTo>
                  <a:pt x="201619" y="174625"/>
                  <a:pt x="222942" y="153303"/>
                  <a:pt x="222942" y="127000"/>
                </a:cubicBezTo>
                <a:cubicBezTo>
                  <a:pt x="222942" y="100697"/>
                  <a:pt x="201619" y="79375"/>
                  <a:pt x="175317" y="79375"/>
                </a:cubicBezTo>
              </a:path>
            </a:pathLst>
          </a:custGeom>
          <a:solidFill>
            <a:srgbClr val="8B5CF6"/>
          </a:solidFill>
          <a:ln>
            <a:noFill/>
          </a:ln>
        </p:spPr>
      </p:sp>
      <p:sp>
        <p:nvSpPr>
          <p:cNvPr id="35" name="TextBox 35"/>
          <p:cNvSpPr txBox="1"/>
          <p:nvPr/>
        </p:nvSpPr>
        <p:spPr>
          <a:xfrm>
            <a:off x="6457950" y="2362200"/>
            <a:ext cx="1383768"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Applications</a:t>
            </a:r>
          </a:p>
        </p:txBody>
      </p:sp>
      <p:sp>
        <p:nvSpPr>
          <p:cNvPr id="36" name="TextBox 36"/>
          <p:cNvSpPr txBox="1"/>
          <p:nvPr/>
        </p:nvSpPr>
        <p:spPr>
          <a:xfrm>
            <a:off x="6461760" y="2727960"/>
            <a:ext cx="1625346"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Explore real-world</a:t>
            </a:r>
          </a:p>
        </p:txBody>
      </p:sp>
      <p:sp>
        <p:nvSpPr>
          <p:cNvPr id="37" name="TextBox 37"/>
          <p:cNvSpPr txBox="1"/>
          <p:nvPr/>
        </p:nvSpPr>
        <p:spPr>
          <a:xfrm>
            <a:off x="6461760" y="2956560"/>
            <a:ext cx="123977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uses: pattern</a:t>
            </a:r>
          </a:p>
        </p:txBody>
      </p:sp>
      <p:sp>
        <p:nvSpPr>
          <p:cNvPr id="38" name="TextBox 38"/>
          <p:cNvSpPr txBox="1"/>
          <p:nvPr/>
        </p:nvSpPr>
        <p:spPr>
          <a:xfrm>
            <a:off x="6461760" y="3185160"/>
            <a:ext cx="1537716"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recognition, face</a:t>
            </a:r>
          </a:p>
        </p:txBody>
      </p:sp>
      <p:sp>
        <p:nvSpPr>
          <p:cNvPr id="39" name="TextBox 39"/>
          <p:cNvSpPr txBox="1"/>
          <p:nvPr/>
        </p:nvSpPr>
        <p:spPr>
          <a:xfrm>
            <a:off x="6461760" y="3413760"/>
            <a:ext cx="143256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recognition with</a:t>
            </a:r>
          </a:p>
        </p:txBody>
      </p:sp>
      <p:sp>
        <p:nvSpPr>
          <p:cNvPr id="40" name="TextBox 40"/>
          <p:cNvSpPr txBox="1"/>
          <p:nvPr/>
        </p:nvSpPr>
        <p:spPr>
          <a:xfrm>
            <a:off x="6461760" y="3642360"/>
            <a:ext cx="148513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CNNs, and speech</a:t>
            </a:r>
          </a:p>
        </p:txBody>
      </p:sp>
      <p:sp>
        <p:nvSpPr>
          <p:cNvPr id="41" name="TextBox 41"/>
          <p:cNvSpPr txBox="1"/>
          <p:nvPr/>
        </p:nvSpPr>
        <p:spPr>
          <a:xfrm>
            <a:off x="6461760" y="3870960"/>
            <a:ext cx="176555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recognition systems</a:t>
            </a:r>
          </a:p>
        </p:txBody>
      </p:sp>
      <p:sp>
        <p:nvSpPr>
          <p:cNvPr id="42" name="Rectangle 42"/>
          <p:cNvSpPr/>
          <p:nvPr/>
        </p:nvSpPr>
        <p:spPr>
          <a:xfrm>
            <a:off x="9144000" y="1524000"/>
            <a:ext cx="2571750" cy="4572000"/>
          </a:xfrm>
          <a:prstGeom prst="roundRect">
            <a:avLst>
              <a:gd name="adj" fmla="val 4444"/>
            </a:avLst>
          </a:prstGeom>
          <a:solidFill>
            <a:srgbClr val="1E293B"/>
          </a:solidFill>
          <a:ln w="9525">
            <a:solidFill>
              <a:srgbClr val="334155"/>
            </a:solidFill>
          </a:ln>
        </p:spPr>
      </p:sp>
      <p:sp>
        <p:nvSpPr>
          <p:cNvPr id="43" name="Rectangle 43"/>
          <p:cNvSpPr/>
          <p:nvPr/>
        </p:nvSpPr>
        <p:spPr>
          <a:xfrm>
            <a:off x="9144000" y="1524000"/>
            <a:ext cx="2571750" cy="57150"/>
          </a:xfrm>
          <a:prstGeom prst="roundRect">
            <a:avLst>
              <a:gd name="adj" fmla="val 50000"/>
            </a:avLst>
          </a:prstGeom>
          <a:solidFill>
            <a:srgbClr val="10B981"/>
          </a:solidFill>
          <a:ln>
            <a:noFill/>
          </a:ln>
        </p:spPr>
      </p:sp>
      <p:sp>
        <p:nvSpPr>
          <p:cNvPr id="44" name="Freeform 44"/>
          <p:cNvSpPr/>
          <p:nvPr/>
        </p:nvSpPr>
        <p:spPr>
          <a:xfrm>
            <a:off x="9349549" y="1873282"/>
            <a:ext cx="350728" cy="334269"/>
          </a:xfrm>
          <a:custGeom>
            <a:avLst/>
            <a:gdLst/>
            <a:ahLst/>
            <a:cxnLst/>
            <a:rect l="l" t="t" r="r" b="b"/>
            <a:pathLst>
              <a:path w="350728" h="334269">
                <a:moveTo>
                  <a:pt x="115809" y="100615"/>
                </a:moveTo>
                <a:lnTo>
                  <a:pt x="14526" y="115300"/>
                </a:lnTo>
                <a:lnTo>
                  <a:pt x="12732" y="115665"/>
                </a:lnTo>
                <a:cubicBezTo>
                  <a:pt x="7204" y="117132"/>
                  <a:pt x="2892" y="121461"/>
                  <a:pt x="1446" y="126995"/>
                </a:cubicBezTo>
                <a:cubicBezTo>
                  <a:pt x="0" y="132529"/>
                  <a:pt x="1643" y="138414"/>
                  <a:pt x="5747" y="142398"/>
                </a:cubicBezTo>
                <a:lnTo>
                  <a:pt x="79121" y="213820"/>
                </a:lnTo>
                <a:lnTo>
                  <a:pt x="61818" y="314706"/>
                </a:lnTo>
                <a:lnTo>
                  <a:pt x="61611" y="316452"/>
                </a:lnTo>
                <a:cubicBezTo>
                  <a:pt x="61273" y="322170"/>
                  <a:pt x="64041" y="327627"/>
                  <a:pt x="68856" y="330732"/>
                </a:cubicBezTo>
                <a:cubicBezTo>
                  <a:pt x="73670" y="333836"/>
                  <a:pt x="79783" y="334106"/>
                  <a:pt x="84852" y="331438"/>
                </a:cubicBezTo>
                <a:lnTo>
                  <a:pt x="175435" y="283813"/>
                </a:lnTo>
                <a:lnTo>
                  <a:pt x="265811" y="331438"/>
                </a:lnTo>
                <a:lnTo>
                  <a:pt x="267399" y="332168"/>
                </a:lnTo>
                <a:cubicBezTo>
                  <a:pt x="272734" y="334269"/>
                  <a:pt x="278788" y="333330"/>
                  <a:pt x="283236" y="329712"/>
                </a:cubicBezTo>
                <a:cubicBezTo>
                  <a:pt x="287684" y="326093"/>
                  <a:pt x="289834" y="320357"/>
                  <a:pt x="288862" y="314706"/>
                </a:cubicBezTo>
                <a:lnTo>
                  <a:pt x="271542" y="213820"/>
                </a:lnTo>
                <a:lnTo>
                  <a:pt x="344948" y="142382"/>
                </a:lnTo>
                <a:lnTo>
                  <a:pt x="346187" y="141033"/>
                </a:lnTo>
                <a:cubicBezTo>
                  <a:pt x="349787" y="136598"/>
                  <a:pt x="350728" y="130570"/>
                  <a:pt x="348649" y="125249"/>
                </a:cubicBezTo>
                <a:cubicBezTo>
                  <a:pt x="346569" y="119928"/>
                  <a:pt x="341792" y="116134"/>
                  <a:pt x="336138" y="115316"/>
                </a:cubicBezTo>
                <a:lnTo>
                  <a:pt x="234855" y="100615"/>
                </a:lnTo>
                <a:lnTo>
                  <a:pt x="189580" y="8858"/>
                </a:lnTo>
                <a:cubicBezTo>
                  <a:pt x="186907" y="3434"/>
                  <a:pt x="181386" y="0"/>
                  <a:pt x="175340" y="0"/>
                </a:cubicBezTo>
                <a:cubicBezTo>
                  <a:pt x="169294" y="0"/>
                  <a:pt x="163772" y="3434"/>
                  <a:pt x="161100" y="8858"/>
                </a:cubicBezTo>
                <a:lnTo>
                  <a:pt x="115809" y="100615"/>
                </a:lnTo>
                <a:close/>
              </a:path>
            </a:pathLst>
          </a:custGeom>
          <a:solidFill>
            <a:srgbClr val="10B981"/>
          </a:solidFill>
          <a:ln>
            <a:noFill/>
          </a:ln>
        </p:spPr>
      </p:sp>
      <p:sp>
        <p:nvSpPr>
          <p:cNvPr id="45" name="TextBox 45"/>
          <p:cNvSpPr txBox="1"/>
          <p:nvPr/>
        </p:nvSpPr>
        <p:spPr>
          <a:xfrm>
            <a:off x="9315450" y="2362200"/>
            <a:ext cx="1188244"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Evaluation</a:t>
            </a:r>
          </a:p>
        </p:txBody>
      </p:sp>
      <p:sp>
        <p:nvSpPr>
          <p:cNvPr id="46" name="TextBox 46"/>
          <p:cNvSpPr txBox="1"/>
          <p:nvPr/>
        </p:nvSpPr>
        <p:spPr>
          <a:xfrm>
            <a:off x="9319260" y="2727960"/>
            <a:ext cx="133616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Understand the</a:t>
            </a:r>
          </a:p>
        </p:txBody>
      </p:sp>
      <p:sp>
        <p:nvSpPr>
          <p:cNvPr id="47" name="TextBox 47"/>
          <p:cNvSpPr txBox="1"/>
          <p:nvPr/>
        </p:nvSpPr>
        <p:spPr>
          <a:xfrm>
            <a:off x="9319260" y="2956560"/>
            <a:ext cx="17830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history, key points,</a:t>
            </a:r>
          </a:p>
        </p:txBody>
      </p:sp>
      <p:sp>
        <p:nvSpPr>
          <p:cNvPr id="48" name="TextBox 48"/>
          <p:cNvSpPr txBox="1"/>
          <p:nvPr/>
        </p:nvSpPr>
        <p:spPr>
          <a:xfrm>
            <a:off x="9319260" y="3185160"/>
            <a:ext cx="143256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advantages, and</a:t>
            </a:r>
          </a:p>
        </p:txBody>
      </p:sp>
      <p:sp>
        <p:nvSpPr>
          <p:cNvPr id="49" name="TextBox 49"/>
          <p:cNvSpPr txBox="1"/>
          <p:nvPr/>
        </p:nvSpPr>
        <p:spPr>
          <a:xfrm>
            <a:off x="9319260" y="3413760"/>
            <a:ext cx="119595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limitations of</a:t>
            </a:r>
          </a:p>
        </p:txBody>
      </p:sp>
      <p:sp>
        <p:nvSpPr>
          <p:cNvPr id="50" name="TextBox 50"/>
          <p:cNvSpPr txBox="1"/>
          <p:nvPr/>
        </p:nvSpPr>
        <p:spPr>
          <a:xfrm>
            <a:off x="9319260" y="3642360"/>
            <a:ext cx="143256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backpropagation</a:t>
            </a:r>
          </a:p>
        </p:txBody>
      </p:sp>
      <p:sp>
        <p:nvSpPr>
          <p:cNvPr id="51" name="TextBox 51"/>
          <p:cNvSpPr txBox="1"/>
          <p:nvPr/>
        </p:nvSpPr>
        <p:spPr>
          <a:xfrm>
            <a:off x="9319260" y="3870960"/>
            <a:ext cx="104698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in modern AI</a:t>
            </a:r>
          </a:p>
        </p:txBody>
      </p:sp>
      <p:sp>
        <p:nvSpPr>
          <p:cNvPr id="52" name="TextBox 52"/>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02</a:t>
            </a:r>
          </a:p>
        </p:txBody>
      </p:sp>
      <p:pic>
        <p:nvPicPr>
          <p:cNvPr id="53" name="narration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38684">
    <p:fade/>
  </p:transition>
  <p:timing>
    <p:tnLst>
      <p:par>
        <p:cTn id="1" dur="indefinite" restart="never" nodeType="tmRoot">
          <p:childTnLst>
            <p:audio>
              <p:cMediaNode vol="80000">
                <p:cTn id="2" fill="hold" display="0">
                  <p:stCondLst>
                    <p:cond delay="0"/>
                  </p:stCondLst>
                </p:cTn>
                <p:tgtEl>
                  <p:spTgt spid="5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4335685"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What is Backpropagation?</a:t>
            </a:r>
          </a:p>
        </p:txBody>
      </p:sp>
      <p:sp>
        <p:nvSpPr>
          <p:cNvPr id="5" name="Rectangle 5"/>
          <p:cNvSpPr/>
          <p:nvPr/>
        </p:nvSpPr>
        <p:spPr>
          <a:xfrm>
            <a:off x="571500" y="1238250"/>
            <a:ext cx="3238500" cy="4953000"/>
          </a:xfrm>
          <a:prstGeom prst="roundRect">
            <a:avLst>
              <a:gd name="adj" fmla="val 3529"/>
            </a:avLst>
          </a:prstGeom>
          <a:solidFill>
            <a:srgbClr val="1E293B"/>
          </a:solidFill>
          <a:ln w="9525">
            <a:solidFill>
              <a:srgbClr val="334155"/>
            </a:solidFill>
          </a:ln>
        </p:spPr>
      </p:sp>
      <p:grpSp>
        <p:nvGrpSpPr>
          <p:cNvPr id="10" name="Group 10"/>
          <p:cNvGrpSpPr/>
          <p:nvPr/>
        </p:nvGrpSpPr>
        <p:grpSpPr>
          <a:xfrm>
            <a:off x="1738312" y="1785938"/>
            <a:ext cx="714376" cy="714374"/>
            <a:chOff x="1738312" y="1785938"/>
            <a:chExt cx="714376" cy="714374"/>
          </a:xfrm>
        </p:grpSpPr>
        <p:sp>
          <p:nvSpPr>
            <p:cNvPr id="6" name="Freeform 6"/>
            <p:cNvSpPr/>
            <p:nvPr/>
          </p:nvSpPr>
          <p:spPr>
            <a:xfrm>
              <a:off x="1738312" y="2214562"/>
              <a:ext cx="285750" cy="285750"/>
            </a:xfrm>
            <a:custGeom>
              <a:avLst/>
              <a:gdLst/>
              <a:ahLst/>
              <a:cxnLst/>
              <a:rect l="l" t="t" r="r" b="b"/>
              <a:pathLst>
                <a:path w="285750" h="285750">
                  <a:moveTo>
                    <a:pt x="0" y="95262"/>
                  </a:moveTo>
                  <a:cubicBezTo>
                    <a:pt x="0" y="42650"/>
                    <a:pt x="42650" y="0"/>
                    <a:pt x="95262" y="0"/>
                  </a:cubicBezTo>
                  <a:lnTo>
                    <a:pt x="190488" y="0"/>
                  </a:lnTo>
                  <a:cubicBezTo>
                    <a:pt x="243100" y="0"/>
                    <a:pt x="285750" y="42650"/>
                    <a:pt x="285750" y="95262"/>
                  </a:cubicBezTo>
                  <a:lnTo>
                    <a:pt x="285750" y="190488"/>
                  </a:lnTo>
                  <a:cubicBezTo>
                    <a:pt x="285750" y="243100"/>
                    <a:pt x="243100" y="285750"/>
                    <a:pt x="190488" y="285750"/>
                  </a:cubicBezTo>
                  <a:lnTo>
                    <a:pt x="95262" y="285750"/>
                  </a:lnTo>
                  <a:cubicBezTo>
                    <a:pt x="69997" y="285750"/>
                    <a:pt x="45767" y="275714"/>
                    <a:pt x="27902" y="257848"/>
                  </a:cubicBezTo>
                  <a:cubicBezTo>
                    <a:pt x="10036" y="239983"/>
                    <a:pt x="0" y="215753"/>
                    <a:pt x="0" y="190488"/>
                  </a:cubicBezTo>
                  <a:close/>
                </a:path>
              </a:pathLst>
            </a:custGeom>
            <a:solidFill>
              <a:srgbClr val="3B82F6"/>
            </a:solidFill>
            <a:ln>
              <a:noFill/>
            </a:ln>
          </p:spPr>
        </p:sp>
        <p:sp>
          <p:nvSpPr>
            <p:cNvPr id="7" name="Freeform 7"/>
            <p:cNvSpPr/>
            <p:nvPr/>
          </p:nvSpPr>
          <p:spPr>
            <a:xfrm>
              <a:off x="2166938" y="2214562"/>
              <a:ext cx="285750" cy="285750"/>
            </a:xfrm>
            <a:custGeom>
              <a:avLst/>
              <a:gdLst/>
              <a:ahLst/>
              <a:cxnLst/>
              <a:rect l="l" t="t" r="r" b="b"/>
              <a:pathLst>
                <a:path w="285750" h="285750">
                  <a:moveTo>
                    <a:pt x="0" y="95262"/>
                  </a:moveTo>
                  <a:cubicBezTo>
                    <a:pt x="0" y="69997"/>
                    <a:pt x="10036" y="45767"/>
                    <a:pt x="27902" y="27902"/>
                  </a:cubicBezTo>
                  <a:cubicBezTo>
                    <a:pt x="45767" y="10036"/>
                    <a:pt x="69997" y="0"/>
                    <a:pt x="95262" y="0"/>
                  </a:cubicBezTo>
                  <a:lnTo>
                    <a:pt x="190488" y="0"/>
                  </a:lnTo>
                  <a:cubicBezTo>
                    <a:pt x="243100" y="0"/>
                    <a:pt x="285750" y="42650"/>
                    <a:pt x="285750" y="95262"/>
                  </a:cubicBezTo>
                  <a:lnTo>
                    <a:pt x="285750" y="190488"/>
                  </a:lnTo>
                  <a:cubicBezTo>
                    <a:pt x="285750" y="243100"/>
                    <a:pt x="243100" y="285750"/>
                    <a:pt x="190488" y="285750"/>
                  </a:cubicBezTo>
                  <a:lnTo>
                    <a:pt x="95262" y="285750"/>
                  </a:lnTo>
                  <a:cubicBezTo>
                    <a:pt x="69997" y="285750"/>
                    <a:pt x="45767" y="275714"/>
                    <a:pt x="27902" y="257848"/>
                  </a:cubicBezTo>
                  <a:cubicBezTo>
                    <a:pt x="10036" y="239983"/>
                    <a:pt x="0" y="215753"/>
                    <a:pt x="0" y="190488"/>
                  </a:cubicBezTo>
                  <a:close/>
                </a:path>
              </a:pathLst>
            </a:custGeom>
            <a:solidFill>
              <a:srgbClr val="3B82F6"/>
            </a:solidFill>
            <a:ln>
              <a:noFill/>
            </a:ln>
          </p:spPr>
        </p:sp>
        <p:sp>
          <p:nvSpPr>
            <p:cNvPr id="8" name="Freeform 8"/>
            <p:cNvSpPr/>
            <p:nvPr/>
          </p:nvSpPr>
          <p:spPr>
            <a:xfrm>
              <a:off x="1952625" y="1785938"/>
              <a:ext cx="285750" cy="285750"/>
            </a:xfrm>
            <a:custGeom>
              <a:avLst/>
              <a:gdLst/>
              <a:ahLst/>
              <a:cxnLst/>
              <a:rect l="l" t="t" r="r" b="b"/>
              <a:pathLst>
                <a:path w="285750" h="285750">
                  <a:moveTo>
                    <a:pt x="0" y="95262"/>
                  </a:moveTo>
                  <a:cubicBezTo>
                    <a:pt x="0" y="42650"/>
                    <a:pt x="42650" y="0"/>
                    <a:pt x="95262" y="0"/>
                  </a:cubicBezTo>
                  <a:lnTo>
                    <a:pt x="190488" y="0"/>
                  </a:lnTo>
                  <a:cubicBezTo>
                    <a:pt x="243100" y="0"/>
                    <a:pt x="285750" y="42650"/>
                    <a:pt x="285750" y="95262"/>
                  </a:cubicBezTo>
                  <a:lnTo>
                    <a:pt x="285750" y="190488"/>
                  </a:lnTo>
                  <a:cubicBezTo>
                    <a:pt x="285750" y="243100"/>
                    <a:pt x="243100" y="285750"/>
                    <a:pt x="190488" y="285750"/>
                  </a:cubicBezTo>
                  <a:lnTo>
                    <a:pt x="95262" y="285750"/>
                  </a:lnTo>
                  <a:cubicBezTo>
                    <a:pt x="42650" y="285750"/>
                    <a:pt x="0" y="243100"/>
                    <a:pt x="0" y="190488"/>
                  </a:cubicBezTo>
                  <a:close/>
                </a:path>
              </a:pathLst>
            </a:custGeom>
            <a:solidFill>
              <a:srgbClr val="3B82F6"/>
            </a:solidFill>
            <a:ln>
              <a:noFill/>
            </a:ln>
          </p:spPr>
        </p:sp>
        <p:sp>
          <p:nvSpPr>
            <p:cNvPr id="9" name="Freeform 9"/>
            <p:cNvSpPr/>
            <p:nvPr/>
          </p:nvSpPr>
          <p:spPr>
            <a:xfrm>
              <a:off x="1845469" y="2000250"/>
              <a:ext cx="500062" cy="285750"/>
            </a:xfrm>
            <a:custGeom>
              <a:avLst/>
              <a:gdLst/>
              <a:ahLst/>
              <a:cxnLst/>
              <a:rect l="l" t="t" r="r" b="b"/>
              <a:pathLst>
                <a:path w="500062" h="285750">
                  <a:moveTo>
                    <a:pt x="250031" y="0"/>
                  </a:moveTo>
                  <a:cubicBezTo>
                    <a:pt x="230304" y="0"/>
                    <a:pt x="214312" y="15992"/>
                    <a:pt x="214312" y="35719"/>
                  </a:cubicBezTo>
                  <a:lnTo>
                    <a:pt x="214312" y="107156"/>
                  </a:lnTo>
                  <a:lnTo>
                    <a:pt x="107156" y="107156"/>
                  </a:lnTo>
                  <a:cubicBezTo>
                    <a:pt x="48399" y="107156"/>
                    <a:pt x="0" y="155555"/>
                    <a:pt x="0" y="214312"/>
                  </a:cubicBezTo>
                  <a:lnTo>
                    <a:pt x="0" y="250031"/>
                  </a:lnTo>
                  <a:cubicBezTo>
                    <a:pt x="0" y="269758"/>
                    <a:pt x="15992" y="285750"/>
                    <a:pt x="35719" y="285750"/>
                  </a:cubicBezTo>
                  <a:cubicBezTo>
                    <a:pt x="55446" y="285750"/>
                    <a:pt x="71438" y="269758"/>
                    <a:pt x="71438" y="250031"/>
                  </a:cubicBezTo>
                  <a:lnTo>
                    <a:pt x="71438" y="214312"/>
                  </a:lnTo>
                  <a:cubicBezTo>
                    <a:pt x="71438" y="194167"/>
                    <a:pt x="87011" y="178594"/>
                    <a:pt x="107156" y="178594"/>
                  </a:cubicBezTo>
                  <a:lnTo>
                    <a:pt x="392906" y="178594"/>
                  </a:lnTo>
                  <a:cubicBezTo>
                    <a:pt x="413052" y="178594"/>
                    <a:pt x="428625" y="194167"/>
                    <a:pt x="428625" y="214312"/>
                  </a:cubicBezTo>
                  <a:lnTo>
                    <a:pt x="428625" y="250031"/>
                  </a:lnTo>
                  <a:cubicBezTo>
                    <a:pt x="428625" y="269758"/>
                    <a:pt x="444617" y="285750"/>
                    <a:pt x="464344" y="285750"/>
                  </a:cubicBezTo>
                  <a:cubicBezTo>
                    <a:pt x="484071" y="285750"/>
                    <a:pt x="500062" y="269758"/>
                    <a:pt x="500062" y="250031"/>
                  </a:cubicBezTo>
                  <a:lnTo>
                    <a:pt x="500062" y="214312"/>
                  </a:lnTo>
                  <a:cubicBezTo>
                    <a:pt x="500062" y="155555"/>
                    <a:pt x="451664" y="107156"/>
                    <a:pt x="392906" y="107156"/>
                  </a:cubicBezTo>
                  <a:lnTo>
                    <a:pt x="285750" y="107156"/>
                  </a:lnTo>
                  <a:lnTo>
                    <a:pt x="285750" y="35719"/>
                  </a:lnTo>
                  <a:cubicBezTo>
                    <a:pt x="285750" y="15992"/>
                    <a:pt x="269758" y="0"/>
                    <a:pt x="250031" y="0"/>
                  </a:cubicBezTo>
                  <a:close/>
                </a:path>
              </a:pathLst>
            </a:custGeom>
            <a:solidFill>
              <a:srgbClr val="3B82F6"/>
            </a:solidFill>
            <a:ln>
              <a:noFill/>
            </a:ln>
          </p:spPr>
        </p:sp>
      </p:grpSp>
      <p:sp>
        <p:nvSpPr>
          <p:cNvPr id="11" name="TextBox 11"/>
          <p:cNvSpPr txBox="1"/>
          <p:nvPr/>
        </p:nvSpPr>
        <p:spPr>
          <a:xfrm>
            <a:off x="1817037" y="2839402"/>
            <a:ext cx="747427" cy="213360"/>
          </a:xfrm>
          <a:prstGeom prst="rect">
            <a:avLst/>
          </a:prstGeom>
          <a:noFill/>
          <a:ln>
            <a:noFill/>
          </a:ln>
        </p:spPr>
        <p:txBody>
          <a:bodyPr wrap="none" lIns="0" tIns="0" rIns="0" bIns="0" anchor="t" anchorCtr="0">
            <a:spAutoFit/>
          </a:bodyPr>
          <a:lstStyle/>
          <a:p>
            <a:pPr algn="ctr"/>
            <a:r>
              <a:rPr lang="zh-CN" sz="1050" dirty="0">
                <a:solidFill>
                  <a:srgbClr val="22D3EE"/>
                </a:solidFill>
                <a:latin typeface="Georgia"/>
                <a:ea typeface="Microsoft YaHei"/>
                <a:cs typeface="Georgia"/>
              </a:rPr>
              <a:t>Short for</a:t>
            </a:r>
          </a:p>
        </p:txBody>
      </p:sp>
      <p:sp>
        <p:nvSpPr>
          <p:cNvPr id="12" name="TextBox 12"/>
          <p:cNvSpPr txBox="1"/>
          <p:nvPr/>
        </p:nvSpPr>
        <p:spPr>
          <a:xfrm>
            <a:off x="1314807" y="3048952"/>
            <a:ext cx="1751886" cy="213360"/>
          </a:xfrm>
          <a:prstGeom prst="rect">
            <a:avLst/>
          </a:prstGeom>
          <a:noFill/>
          <a:ln>
            <a:noFill/>
          </a:ln>
        </p:spPr>
        <p:txBody>
          <a:bodyPr wrap="none" lIns="0" tIns="0" rIns="0" bIns="0" anchor="t" anchorCtr="0">
            <a:spAutoFit/>
          </a:bodyPr>
          <a:lstStyle/>
          <a:p>
            <a:pPr algn="ctr"/>
            <a:r>
              <a:rPr lang="zh-CN" sz="1050" dirty="0">
                <a:solidFill>
                  <a:srgbClr val="22D3EE"/>
                </a:solidFill>
                <a:latin typeface="Georgia"/>
                <a:ea typeface="Microsoft YaHei"/>
                <a:cs typeface="Georgia"/>
              </a:rPr>
              <a:t>"Backward Propagation</a:t>
            </a:r>
          </a:p>
        </p:txBody>
      </p:sp>
      <p:sp>
        <p:nvSpPr>
          <p:cNvPr id="13" name="TextBox 13"/>
          <p:cNvSpPr txBox="1"/>
          <p:nvPr/>
        </p:nvSpPr>
        <p:spPr>
          <a:xfrm>
            <a:off x="1774865" y="3258502"/>
            <a:ext cx="831771" cy="213360"/>
          </a:xfrm>
          <a:prstGeom prst="rect">
            <a:avLst/>
          </a:prstGeom>
          <a:noFill/>
          <a:ln>
            <a:noFill/>
          </a:ln>
        </p:spPr>
        <p:txBody>
          <a:bodyPr wrap="none" lIns="0" tIns="0" rIns="0" bIns="0" anchor="t" anchorCtr="0">
            <a:spAutoFit/>
          </a:bodyPr>
          <a:lstStyle/>
          <a:p>
            <a:pPr algn="ctr"/>
            <a:r>
              <a:rPr lang="zh-CN" sz="1050" dirty="0">
                <a:solidFill>
                  <a:srgbClr val="22D3EE"/>
                </a:solidFill>
                <a:latin typeface="Georgia"/>
                <a:ea typeface="Microsoft YaHei"/>
                <a:cs typeface="Georgia"/>
              </a:rPr>
              <a:t>of Errors"</a:t>
            </a:r>
          </a:p>
        </p:txBody>
      </p:sp>
      <p:sp>
        <p:nvSpPr>
          <p:cNvPr id="14" name="Line 14"/>
          <p:cNvSpPr/>
          <p:nvPr/>
        </p:nvSpPr>
        <p:spPr>
          <a:xfrm>
            <a:off x="1143000" y="3810000"/>
            <a:ext cx="2095500" cy="9525"/>
          </a:xfrm>
          <a:custGeom>
            <a:avLst/>
            <a:gdLst/>
            <a:ahLst/>
            <a:cxnLst/>
            <a:rect l="l" t="t" r="r" b="b"/>
            <a:pathLst>
              <a:path w="2095500" h="9525">
                <a:moveTo>
                  <a:pt x="0" y="0"/>
                </a:moveTo>
                <a:lnTo>
                  <a:pt x="2095500" y="0"/>
                </a:lnTo>
              </a:path>
            </a:pathLst>
          </a:custGeom>
          <a:noFill/>
          <a:ln w="19050">
            <a:solidFill>
              <a:srgbClr val="10B981"/>
            </a:solidFill>
          </a:ln>
        </p:spPr>
      </p:sp>
      <p:sp>
        <p:nvSpPr>
          <p:cNvPr id="15" name="Polygon 15"/>
          <p:cNvSpPr/>
          <p:nvPr/>
        </p:nvSpPr>
        <p:spPr>
          <a:xfrm>
            <a:off x="3238500" y="3762375"/>
            <a:ext cx="95250" cy="95250"/>
          </a:xfrm>
          <a:custGeom>
            <a:avLst/>
            <a:gdLst/>
            <a:ahLst/>
            <a:cxnLst/>
            <a:rect l="l" t="t" r="r" b="b"/>
            <a:pathLst>
              <a:path w="95250" h="95250">
                <a:moveTo>
                  <a:pt x="0" y="0"/>
                </a:moveTo>
                <a:lnTo>
                  <a:pt x="95250" y="47625"/>
                </a:lnTo>
                <a:lnTo>
                  <a:pt x="0" y="95250"/>
                </a:lnTo>
                <a:close/>
              </a:path>
            </a:pathLst>
          </a:custGeom>
          <a:solidFill>
            <a:srgbClr val="10B981"/>
          </a:solidFill>
          <a:ln>
            <a:noFill/>
          </a:ln>
        </p:spPr>
      </p:sp>
      <p:sp>
        <p:nvSpPr>
          <p:cNvPr id="16" name="TextBox 16"/>
          <p:cNvSpPr txBox="1"/>
          <p:nvPr/>
        </p:nvSpPr>
        <p:spPr>
          <a:xfrm>
            <a:off x="1748838" y="3617595"/>
            <a:ext cx="883825" cy="182880"/>
          </a:xfrm>
          <a:prstGeom prst="rect">
            <a:avLst/>
          </a:prstGeom>
          <a:noFill/>
          <a:ln>
            <a:noFill/>
          </a:ln>
        </p:spPr>
        <p:txBody>
          <a:bodyPr wrap="none" lIns="0" tIns="0" rIns="0" bIns="0" anchor="t" anchorCtr="0">
            <a:spAutoFit/>
          </a:bodyPr>
          <a:lstStyle/>
          <a:p>
            <a:pPr algn="ctr"/>
            <a:r>
              <a:rPr lang="zh-CN" sz="900" dirty="0">
                <a:solidFill>
                  <a:srgbClr val="10B981"/>
                </a:solidFill>
                <a:latin typeface="Arial"/>
                <a:ea typeface="Microsoft YaHei"/>
                <a:cs typeface="Arial"/>
              </a:rPr>
              <a:t>Forward Pass</a:t>
            </a:r>
          </a:p>
        </p:txBody>
      </p:sp>
      <p:sp>
        <p:nvSpPr>
          <p:cNvPr id="17" name="Line 17"/>
          <p:cNvSpPr/>
          <p:nvPr/>
        </p:nvSpPr>
        <p:spPr>
          <a:xfrm>
            <a:off x="1143000" y="4191000"/>
            <a:ext cx="2095500" cy="9525"/>
          </a:xfrm>
          <a:custGeom>
            <a:avLst/>
            <a:gdLst/>
            <a:ahLst/>
            <a:cxnLst/>
            <a:rect l="l" t="t" r="r" b="b"/>
            <a:pathLst>
              <a:path w="2095500" h="9525">
                <a:moveTo>
                  <a:pt x="2095500" y="0"/>
                </a:moveTo>
                <a:lnTo>
                  <a:pt x="0" y="0"/>
                </a:lnTo>
              </a:path>
            </a:pathLst>
          </a:custGeom>
          <a:noFill/>
          <a:ln w="19050">
            <a:solidFill>
              <a:srgbClr val="F59E0B"/>
            </a:solidFill>
          </a:ln>
        </p:spPr>
      </p:sp>
      <p:sp>
        <p:nvSpPr>
          <p:cNvPr id="18" name="Polygon 18"/>
          <p:cNvSpPr/>
          <p:nvPr/>
        </p:nvSpPr>
        <p:spPr>
          <a:xfrm>
            <a:off x="1047750" y="4143375"/>
            <a:ext cx="95250" cy="95250"/>
          </a:xfrm>
          <a:custGeom>
            <a:avLst/>
            <a:gdLst/>
            <a:ahLst/>
            <a:cxnLst/>
            <a:rect l="l" t="t" r="r" b="b"/>
            <a:pathLst>
              <a:path w="95250" h="95250">
                <a:moveTo>
                  <a:pt x="95250" y="0"/>
                </a:moveTo>
                <a:lnTo>
                  <a:pt x="0" y="47625"/>
                </a:lnTo>
                <a:lnTo>
                  <a:pt x="95250" y="95250"/>
                </a:lnTo>
                <a:close/>
              </a:path>
            </a:pathLst>
          </a:custGeom>
          <a:solidFill>
            <a:srgbClr val="F59E0B"/>
          </a:solidFill>
          <a:ln>
            <a:noFill/>
          </a:ln>
        </p:spPr>
      </p:sp>
      <p:sp>
        <p:nvSpPr>
          <p:cNvPr id="19" name="TextBox 19"/>
          <p:cNvSpPr txBox="1"/>
          <p:nvPr/>
        </p:nvSpPr>
        <p:spPr>
          <a:xfrm>
            <a:off x="1439942" y="4379595"/>
            <a:ext cx="1501616" cy="182880"/>
          </a:xfrm>
          <a:prstGeom prst="rect">
            <a:avLst/>
          </a:prstGeom>
          <a:noFill/>
          <a:ln>
            <a:noFill/>
          </a:ln>
        </p:spPr>
        <p:txBody>
          <a:bodyPr wrap="none" lIns="0" tIns="0" rIns="0" bIns="0" anchor="t" anchorCtr="0">
            <a:spAutoFit/>
          </a:bodyPr>
          <a:lstStyle/>
          <a:p>
            <a:pPr algn="ctr"/>
            <a:r>
              <a:rPr lang="zh-CN" sz="900" dirty="0">
                <a:solidFill>
                  <a:srgbClr val="F59E0B"/>
                </a:solidFill>
                <a:latin typeface="Arial"/>
                <a:ea typeface="Microsoft YaHei"/>
                <a:cs typeface="Arial"/>
              </a:rPr>
              <a:t>Backward Pass (Error)</a:t>
            </a:r>
          </a:p>
        </p:txBody>
      </p:sp>
      <p:sp>
        <p:nvSpPr>
          <p:cNvPr id="20" name="Ellipse 20"/>
          <p:cNvSpPr/>
          <p:nvPr/>
        </p:nvSpPr>
        <p:spPr>
          <a:xfrm>
            <a:off x="990600" y="4895850"/>
            <a:ext cx="304800" cy="304800"/>
          </a:xfrm>
          <a:prstGeom prst="ellipse">
            <a:avLst/>
          </a:prstGeom>
          <a:solidFill>
            <a:srgbClr val="3B82F6">
              <a:alpha val="30000"/>
            </a:srgbClr>
          </a:solidFill>
          <a:ln w="14288">
            <a:solidFill>
              <a:srgbClr val="3B82F6"/>
            </a:solidFill>
          </a:ln>
        </p:spPr>
      </p:sp>
      <p:sp>
        <p:nvSpPr>
          <p:cNvPr id="21" name="Ellipse 21"/>
          <p:cNvSpPr/>
          <p:nvPr/>
        </p:nvSpPr>
        <p:spPr>
          <a:xfrm>
            <a:off x="1562100" y="4895850"/>
            <a:ext cx="304800" cy="304800"/>
          </a:xfrm>
          <a:prstGeom prst="ellipse">
            <a:avLst/>
          </a:prstGeom>
          <a:solidFill>
            <a:srgbClr val="22D3EE">
              <a:alpha val="30000"/>
            </a:srgbClr>
          </a:solidFill>
          <a:ln w="14288">
            <a:solidFill>
              <a:srgbClr val="22D3EE"/>
            </a:solidFill>
          </a:ln>
        </p:spPr>
      </p:sp>
      <p:sp>
        <p:nvSpPr>
          <p:cNvPr id="22" name="Ellipse 22"/>
          <p:cNvSpPr/>
          <p:nvPr/>
        </p:nvSpPr>
        <p:spPr>
          <a:xfrm>
            <a:off x="2133600" y="4895850"/>
            <a:ext cx="304800" cy="304800"/>
          </a:xfrm>
          <a:prstGeom prst="ellipse">
            <a:avLst/>
          </a:prstGeom>
          <a:solidFill>
            <a:srgbClr val="8B5CF6">
              <a:alpha val="30000"/>
            </a:srgbClr>
          </a:solidFill>
          <a:ln w="14288">
            <a:solidFill>
              <a:srgbClr val="8B5CF6"/>
            </a:solidFill>
          </a:ln>
        </p:spPr>
      </p:sp>
      <p:sp>
        <p:nvSpPr>
          <p:cNvPr id="23" name="Ellipse 23"/>
          <p:cNvSpPr/>
          <p:nvPr/>
        </p:nvSpPr>
        <p:spPr>
          <a:xfrm>
            <a:off x="2705100" y="4895850"/>
            <a:ext cx="304800" cy="304800"/>
          </a:xfrm>
          <a:prstGeom prst="ellipse">
            <a:avLst/>
          </a:prstGeom>
          <a:solidFill>
            <a:srgbClr val="3B82F6">
              <a:alpha val="30000"/>
            </a:srgbClr>
          </a:solidFill>
          <a:ln w="14288">
            <a:solidFill>
              <a:srgbClr val="3B82F6"/>
            </a:solidFill>
          </a:ln>
        </p:spPr>
      </p:sp>
      <p:sp>
        <p:nvSpPr>
          <p:cNvPr id="24" name="Line 24"/>
          <p:cNvSpPr/>
          <p:nvPr/>
        </p:nvSpPr>
        <p:spPr>
          <a:xfrm>
            <a:off x="1295400" y="5048250"/>
            <a:ext cx="266700" cy="9525"/>
          </a:xfrm>
          <a:custGeom>
            <a:avLst/>
            <a:gdLst/>
            <a:ahLst/>
            <a:cxnLst/>
            <a:rect l="l" t="t" r="r" b="b"/>
            <a:pathLst>
              <a:path w="266700" h="9525">
                <a:moveTo>
                  <a:pt x="0" y="0"/>
                </a:moveTo>
                <a:lnTo>
                  <a:pt x="266700" y="0"/>
                </a:lnTo>
              </a:path>
            </a:pathLst>
          </a:custGeom>
          <a:noFill/>
          <a:ln w="9525">
            <a:solidFill>
              <a:srgbClr val="334155"/>
            </a:solidFill>
          </a:ln>
        </p:spPr>
      </p:sp>
      <p:sp>
        <p:nvSpPr>
          <p:cNvPr id="25" name="Line 25"/>
          <p:cNvSpPr/>
          <p:nvPr/>
        </p:nvSpPr>
        <p:spPr>
          <a:xfrm>
            <a:off x="1866900" y="5048250"/>
            <a:ext cx="266700" cy="9525"/>
          </a:xfrm>
          <a:custGeom>
            <a:avLst/>
            <a:gdLst/>
            <a:ahLst/>
            <a:cxnLst/>
            <a:rect l="l" t="t" r="r" b="b"/>
            <a:pathLst>
              <a:path w="266700" h="9525">
                <a:moveTo>
                  <a:pt x="0" y="0"/>
                </a:moveTo>
                <a:lnTo>
                  <a:pt x="266700" y="0"/>
                </a:lnTo>
              </a:path>
            </a:pathLst>
          </a:custGeom>
          <a:noFill/>
          <a:ln w="9525">
            <a:solidFill>
              <a:srgbClr val="334155"/>
            </a:solidFill>
          </a:ln>
        </p:spPr>
      </p:sp>
      <p:sp>
        <p:nvSpPr>
          <p:cNvPr id="26" name="Line 26"/>
          <p:cNvSpPr/>
          <p:nvPr/>
        </p:nvSpPr>
        <p:spPr>
          <a:xfrm>
            <a:off x="2438400" y="5048250"/>
            <a:ext cx="266700" cy="9525"/>
          </a:xfrm>
          <a:custGeom>
            <a:avLst/>
            <a:gdLst/>
            <a:ahLst/>
            <a:cxnLst/>
            <a:rect l="l" t="t" r="r" b="b"/>
            <a:pathLst>
              <a:path w="266700" h="9525">
                <a:moveTo>
                  <a:pt x="0" y="0"/>
                </a:moveTo>
                <a:lnTo>
                  <a:pt x="266700" y="0"/>
                </a:lnTo>
              </a:path>
            </a:pathLst>
          </a:custGeom>
          <a:noFill/>
          <a:ln w="9525">
            <a:solidFill>
              <a:srgbClr val="334155"/>
            </a:solidFill>
          </a:ln>
        </p:spPr>
      </p:sp>
      <p:sp>
        <p:nvSpPr>
          <p:cNvPr id="27" name="Freeform 27"/>
          <p:cNvSpPr/>
          <p:nvPr/>
        </p:nvSpPr>
        <p:spPr>
          <a:xfrm>
            <a:off x="4210050" y="139590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3B82F6"/>
          </a:solidFill>
          <a:ln>
            <a:noFill/>
          </a:ln>
        </p:spPr>
      </p:sp>
      <p:sp>
        <p:nvSpPr>
          <p:cNvPr id="28" name="TextBox 28"/>
          <p:cNvSpPr txBox="1"/>
          <p:nvPr/>
        </p:nvSpPr>
        <p:spPr>
          <a:xfrm>
            <a:off x="4516755" y="1330642"/>
            <a:ext cx="3626189" cy="274320"/>
          </a:xfrm>
          <a:prstGeom prst="rect">
            <a:avLst/>
          </a:prstGeom>
          <a:noFill/>
          <a:ln>
            <a:noFill/>
          </a:ln>
        </p:spPr>
        <p:txBody>
          <a:bodyPr wrap="none" lIns="0" tIns="0" rIns="0" bIns="0" anchor="t" anchorCtr="0">
            <a:spAutoFit/>
          </a:bodyPr>
          <a:lstStyle/>
          <a:p>
            <a:pPr algn="l"/>
            <a:r>
              <a:rPr lang="zh-CN" sz="1350" b="1" dirty="0">
                <a:solidFill>
                  <a:srgbClr val="F1F5F9"/>
                </a:solidFill>
                <a:latin typeface="Arial"/>
                <a:ea typeface="Microsoft YaHei"/>
                <a:cs typeface="Arial"/>
              </a:rPr>
              <a:t>Fine-tuning Neural Network Weights</a:t>
            </a:r>
          </a:p>
        </p:txBody>
      </p:sp>
      <p:sp>
        <p:nvSpPr>
          <p:cNvPr id="29" name="TextBox 29"/>
          <p:cNvSpPr txBox="1"/>
          <p:nvPr/>
        </p:nvSpPr>
        <p:spPr>
          <a:xfrm>
            <a:off x="4518660" y="1584960"/>
            <a:ext cx="370217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Adjusts weights based on error rates from</a:t>
            </a:r>
          </a:p>
        </p:txBody>
      </p:sp>
      <p:sp>
        <p:nvSpPr>
          <p:cNvPr id="30" name="TextBox 30"/>
          <p:cNvSpPr txBox="1"/>
          <p:nvPr/>
        </p:nvSpPr>
        <p:spPr>
          <a:xfrm>
            <a:off x="4518660" y="1794510"/>
            <a:ext cx="401764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previous iterations (epochs) to reduce errors</a:t>
            </a:r>
          </a:p>
        </p:txBody>
      </p:sp>
      <p:sp>
        <p:nvSpPr>
          <p:cNvPr id="31" name="Freeform 31"/>
          <p:cNvSpPr/>
          <p:nvPr/>
        </p:nvSpPr>
        <p:spPr>
          <a:xfrm>
            <a:off x="4210050" y="225315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22D3EE"/>
          </a:solidFill>
          <a:ln>
            <a:noFill/>
          </a:ln>
        </p:spPr>
      </p:sp>
      <p:sp>
        <p:nvSpPr>
          <p:cNvPr id="32" name="TextBox 32"/>
          <p:cNvSpPr txBox="1"/>
          <p:nvPr/>
        </p:nvSpPr>
        <p:spPr>
          <a:xfrm>
            <a:off x="4516755" y="2187892"/>
            <a:ext cx="2052792" cy="274320"/>
          </a:xfrm>
          <a:prstGeom prst="rect">
            <a:avLst/>
          </a:prstGeom>
          <a:noFill/>
          <a:ln>
            <a:noFill/>
          </a:ln>
        </p:spPr>
        <p:txBody>
          <a:bodyPr wrap="none" lIns="0" tIns="0" rIns="0" bIns="0" anchor="t" anchorCtr="0">
            <a:spAutoFit/>
          </a:bodyPr>
          <a:lstStyle/>
          <a:p>
            <a:pPr algn="l"/>
            <a:r>
              <a:rPr lang="zh-CN" sz="1350" b="1" dirty="0">
                <a:solidFill>
                  <a:srgbClr val="F1F5F9"/>
                </a:solidFill>
                <a:latin typeface="Arial"/>
                <a:ea typeface="Microsoft YaHei"/>
                <a:cs typeface="Arial"/>
              </a:rPr>
              <a:t>Gradient Calculation</a:t>
            </a:r>
          </a:p>
        </p:txBody>
      </p:sp>
      <p:sp>
        <p:nvSpPr>
          <p:cNvPr id="33" name="TextBox 33"/>
          <p:cNvSpPr txBox="1"/>
          <p:nvPr/>
        </p:nvSpPr>
        <p:spPr>
          <a:xfrm>
            <a:off x="4518660" y="2442210"/>
            <a:ext cx="378980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Calculates the gradient of the loss function</a:t>
            </a:r>
          </a:p>
        </p:txBody>
      </p:sp>
      <p:sp>
        <p:nvSpPr>
          <p:cNvPr id="34" name="TextBox 34"/>
          <p:cNvSpPr txBox="1"/>
          <p:nvPr/>
        </p:nvSpPr>
        <p:spPr>
          <a:xfrm>
            <a:off x="4518660" y="2651760"/>
            <a:ext cx="374599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with respect to each weight in the network</a:t>
            </a:r>
          </a:p>
        </p:txBody>
      </p:sp>
      <p:sp>
        <p:nvSpPr>
          <p:cNvPr id="35" name="Freeform 35"/>
          <p:cNvSpPr/>
          <p:nvPr/>
        </p:nvSpPr>
        <p:spPr>
          <a:xfrm>
            <a:off x="4210050" y="311040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8B5CF6"/>
          </a:solidFill>
          <a:ln>
            <a:noFill/>
          </a:ln>
        </p:spPr>
      </p:sp>
      <p:sp>
        <p:nvSpPr>
          <p:cNvPr id="36" name="TextBox 36"/>
          <p:cNvSpPr txBox="1"/>
          <p:nvPr/>
        </p:nvSpPr>
        <p:spPr>
          <a:xfrm>
            <a:off x="4516755" y="3045142"/>
            <a:ext cx="3191435" cy="274320"/>
          </a:xfrm>
          <a:prstGeom prst="rect">
            <a:avLst/>
          </a:prstGeom>
          <a:noFill/>
          <a:ln>
            <a:noFill/>
          </a:ln>
        </p:spPr>
        <p:txBody>
          <a:bodyPr wrap="none" lIns="0" tIns="0" rIns="0" bIns="0" anchor="t" anchorCtr="0">
            <a:spAutoFit/>
          </a:bodyPr>
          <a:lstStyle/>
          <a:p>
            <a:pPr algn="l"/>
            <a:r>
              <a:rPr lang="zh-CN" sz="1350" b="1" dirty="0">
                <a:solidFill>
                  <a:srgbClr val="F1F5F9"/>
                </a:solidFill>
                <a:latin typeface="Arial"/>
                <a:ea typeface="Microsoft YaHei"/>
                <a:cs typeface="Arial"/>
              </a:rPr>
              <a:t>Supervised Learning Foundation</a:t>
            </a:r>
          </a:p>
        </p:txBody>
      </p:sp>
      <p:sp>
        <p:nvSpPr>
          <p:cNvPr id="37" name="TextBox 37"/>
          <p:cNvSpPr txBox="1"/>
          <p:nvPr/>
        </p:nvSpPr>
        <p:spPr>
          <a:xfrm>
            <a:off x="4518660" y="3299460"/>
            <a:ext cx="408774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Key component for training feedforward neural</a:t>
            </a:r>
          </a:p>
        </p:txBody>
      </p:sp>
      <p:sp>
        <p:nvSpPr>
          <p:cNvPr id="38" name="TextBox 38"/>
          <p:cNvSpPr txBox="1"/>
          <p:nvPr/>
        </p:nvSpPr>
        <p:spPr>
          <a:xfrm>
            <a:off x="4518660" y="3509010"/>
            <a:ext cx="3807333"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networks using stochastic gradient descent</a:t>
            </a:r>
          </a:p>
        </p:txBody>
      </p:sp>
      <p:sp>
        <p:nvSpPr>
          <p:cNvPr id="39" name="Freeform 39"/>
          <p:cNvSpPr/>
          <p:nvPr/>
        </p:nvSpPr>
        <p:spPr>
          <a:xfrm>
            <a:off x="4210050" y="396765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10B981"/>
          </a:solidFill>
          <a:ln>
            <a:noFill/>
          </a:ln>
        </p:spPr>
      </p:sp>
      <p:sp>
        <p:nvSpPr>
          <p:cNvPr id="40" name="TextBox 40"/>
          <p:cNvSpPr txBox="1"/>
          <p:nvPr/>
        </p:nvSpPr>
        <p:spPr>
          <a:xfrm>
            <a:off x="4516755" y="3902392"/>
            <a:ext cx="2560006" cy="274320"/>
          </a:xfrm>
          <a:prstGeom prst="rect">
            <a:avLst/>
          </a:prstGeom>
          <a:noFill/>
          <a:ln>
            <a:noFill/>
          </a:ln>
        </p:spPr>
        <p:txBody>
          <a:bodyPr wrap="none" lIns="0" tIns="0" rIns="0" bIns="0" anchor="t" anchorCtr="0">
            <a:spAutoFit/>
          </a:bodyPr>
          <a:lstStyle/>
          <a:p>
            <a:pPr algn="l"/>
            <a:r>
              <a:rPr lang="zh-CN" sz="1350" b="1" dirty="0">
                <a:solidFill>
                  <a:srgbClr val="F1F5F9"/>
                </a:solidFill>
                <a:latin typeface="Arial"/>
                <a:ea typeface="Microsoft YaHei"/>
                <a:cs typeface="Arial"/>
              </a:rPr>
              <a:t>Individual Weight Updates</a:t>
            </a:r>
          </a:p>
        </p:txBody>
      </p:sp>
      <p:sp>
        <p:nvSpPr>
          <p:cNvPr id="41" name="TextBox 41"/>
          <p:cNvSpPr txBox="1"/>
          <p:nvPr/>
        </p:nvSpPr>
        <p:spPr>
          <a:xfrm>
            <a:off x="4518660" y="4156710"/>
            <a:ext cx="383362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Each weight updated individually to gradually</a:t>
            </a:r>
          </a:p>
        </p:txBody>
      </p:sp>
      <p:sp>
        <p:nvSpPr>
          <p:cNvPr id="42" name="TextBox 42"/>
          <p:cNvSpPr txBox="1"/>
          <p:nvPr/>
        </p:nvSpPr>
        <p:spPr>
          <a:xfrm>
            <a:off x="4518660" y="4366260"/>
            <a:ext cx="422795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reduce the loss function over training iterations</a:t>
            </a:r>
          </a:p>
        </p:txBody>
      </p:sp>
      <p:sp>
        <p:nvSpPr>
          <p:cNvPr id="43" name="Freeform 43"/>
          <p:cNvSpPr/>
          <p:nvPr/>
        </p:nvSpPr>
        <p:spPr>
          <a:xfrm>
            <a:off x="4210050" y="4824908"/>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F59E0B"/>
          </a:solidFill>
          <a:ln>
            <a:noFill/>
          </a:ln>
        </p:spPr>
      </p:sp>
      <p:sp>
        <p:nvSpPr>
          <p:cNvPr id="44" name="TextBox 44"/>
          <p:cNvSpPr txBox="1"/>
          <p:nvPr/>
        </p:nvSpPr>
        <p:spPr>
          <a:xfrm>
            <a:off x="4516755" y="4759642"/>
            <a:ext cx="2218413" cy="274320"/>
          </a:xfrm>
          <a:prstGeom prst="rect">
            <a:avLst/>
          </a:prstGeom>
          <a:noFill/>
          <a:ln>
            <a:noFill/>
          </a:ln>
        </p:spPr>
        <p:txBody>
          <a:bodyPr wrap="none" lIns="0" tIns="0" rIns="0" bIns="0" anchor="t" anchorCtr="0">
            <a:spAutoFit/>
          </a:bodyPr>
          <a:lstStyle/>
          <a:p>
            <a:pPr algn="l"/>
            <a:r>
              <a:rPr lang="zh-CN" sz="1350" b="1" dirty="0">
                <a:solidFill>
                  <a:srgbClr val="F1F5F9"/>
                </a:solidFill>
                <a:latin typeface="Arial"/>
                <a:ea typeface="Microsoft YaHei"/>
                <a:cs typeface="Arial"/>
              </a:rPr>
              <a:t>Deep Learning Enabler</a:t>
            </a:r>
          </a:p>
        </p:txBody>
      </p:sp>
      <p:sp>
        <p:nvSpPr>
          <p:cNvPr id="45" name="TextBox 45"/>
          <p:cNvSpPr txBox="1"/>
          <p:nvPr/>
        </p:nvSpPr>
        <p:spPr>
          <a:xfrm>
            <a:off x="4518660" y="5013960"/>
            <a:ext cx="408774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Enabled the surge in popularity of deep learning</a:t>
            </a:r>
          </a:p>
        </p:txBody>
      </p:sp>
      <p:sp>
        <p:nvSpPr>
          <p:cNvPr id="46" name="TextBox 46"/>
          <p:cNvSpPr txBox="1"/>
          <p:nvPr/>
        </p:nvSpPr>
        <p:spPr>
          <a:xfrm>
            <a:off x="4518660" y="5223510"/>
            <a:ext cx="279958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algorithms since the early 2000s</a:t>
            </a:r>
          </a:p>
        </p:txBody>
      </p:sp>
      <p:sp>
        <p:nvSpPr>
          <p:cNvPr id="47" name="Line 47"/>
          <p:cNvSpPr/>
          <p:nvPr/>
        </p:nvSpPr>
        <p:spPr>
          <a:xfrm>
            <a:off x="4191000" y="5619750"/>
            <a:ext cx="7429500" cy="9525"/>
          </a:xfrm>
          <a:custGeom>
            <a:avLst/>
            <a:gdLst/>
            <a:ahLst/>
            <a:cxnLst/>
            <a:rect l="l" t="t" r="r" b="b"/>
            <a:pathLst>
              <a:path w="7429500" h="9525">
                <a:moveTo>
                  <a:pt x="0" y="0"/>
                </a:moveTo>
                <a:lnTo>
                  <a:pt x="7429500" y="0"/>
                </a:lnTo>
              </a:path>
            </a:pathLst>
          </a:custGeom>
          <a:noFill/>
          <a:ln w="9525">
            <a:solidFill>
              <a:srgbClr val="334155"/>
            </a:solidFill>
          </a:ln>
        </p:spPr>
      </p:sp>
      <p:sp>
        <p:nvSpPr>
          <p:cNvPr id="48" name="TextBox 48"/>
          <p:cNvSpPr txBox="1"/>
          <p:nvPr/>
        </p:nvSpPr>
        <p:spPr>
          <a:xfrm>
            <a:off x="4176712" y="5784056"/>
            <a:ext cx="7512725" cy="228600"/>
          </a:xfrm>
          <a:prstGeom prst="rect">
            <a:avLst/>
          </a:prstGeom>
          <a:noFill/>
          <a:ln>
            <a:noFill/>
          </a:ln>
        </p:spPr>
        <p:txBody>
          <a:bodyPr wrap="none" lIns="0" tIns="0" rIns="0" bIns="0" anchor="t" anchorCtr="0">
            <a:spAutoFit/>
          </a:bodyPr>
          <a:lstStyle/>
          <a:p>
            <a:pPr algn="l"/>
            <a:r>
              <a:rPr lang="zh-CN" sz="1125" i="1" dirty="0">
                <a:solidFill>
                  <a:srgbClr val="22D3EE"/>
                </a:solidFill>
                <a:latin typeface="Georgia"/>
                <a:ea typeface="Microsoft YaHei"/>
                <a:cs typeface="Georgia"/>
              </a:rPr>
              <a:t>Backpropagation proceeds backwards through the network, from the last layer to the first.</a:t>
            </a:r>
          </a:p>
        </p:txBody>
      </p:sp>
      <p:sp>
        <p:nvSpPr>
          <p:cNvPr id="49" name="TextBox 49"/>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03</a:t>
            </a:r>
          </a:p>
        </p:txBody>
      </p:sp>
      <p:pic>
        <p:nvPicPr>
          <p:cNvPr id="50" name="narration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42620">
    <p:fade/>
  </p:transition>
  <p:timing>
    <p:tnLst>
      <p:par>
        <p:cTn id="1" dur="indefinite" restart="never" nodeType="tmRoot">
          <p:childTnLst>
            <p:audio>
              <p:cMediaNode vol="80000">
                <p:cTn id="2" fill="hold" display="0">
                  <p:stCondLst>
                    <p:cond delay="0"/>
                  </p:stCondLst>
                </p:cTn>
                <p:tgtEl>
                  <p:spTgt spid="5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5163788"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Feed Forward Neural Networks</a:t>
            </a:r>
          </a:p>
        </p:txBody>
      </p:sp>
      <p:sp>
        <p:nvSpPr>
          <p:cNvPr id="5" name="TextBox 5"/>
          <p:cNvSpPr txBox="1"/>
          <p:nvPr/>
        </p:nvSpPr>
        <p:spPr>
          <a:xfrm>
            <a:off x="556260" y="975360"/>
            <a:ext cx="4254246"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The foundation architecture for backpropagation</a:t>
            </a:r>
          </a:p>
        </p:txBody>
      </p:sp>
      <p:sp>
        <p:nvSpPr>
          <p:cNvPr id="6" name="Rectangle 6"/>
          <p:cNvSpPr/>
          <p:nvPr/>
        </p:nvSpPr>
        <p:spPr>
          <a:xfrm>
            <a:off x="571500" y="1381125"/>
            <a:ext cx="4762500" cy="2857500"/>
          </a:xfrm>
          <a:prstGeom prst="roundRect">
            <a:avLst>
              <a:gd name="adj" fmla="val 4000"/>
            </a:avLst>
          </a:prstGeom>
          <a:solidFill>
            <a:srgbClr val="1E293B"/>
          </a:solidFill>
          <a:ln>
            <a:noFill/>
          </a:ln>
        </p:spPr>
      </p:sp>
      <p:pic>
        <p:nvPicPr>
          <p:cNvPr id="7" name="Image 7"/>
          <p:cNvPicPr>
            <a:picLocks noChangeAspect="1"/>
          </p:cNvPicPr>
          <p:nvPr/>
        </p:nvPicPr>
        <p:blipFill>
          <a:blip r:embed="rId2"/>
          <a:srcRect l="3125" t="0" r="3125" b="0"/>
          <a:stretch>
            <a:fillRect/>
          </a:stretch>
        </p:blipFill>
        <p:spPr>
          <a:xfrm>
            <a:off x="571500" y="1381125"/>
            <a:ext cx="4762500" cy="2857500"/>
          </a:xfrm>
          <a:prstGeom prst="rect">
            <a:avLst/>
          </a:prstGeom>
        </p:spPr>
      </p:pic>
      <p:sp>
        <p:nvSpPr>
          <p:cNvPr id="8" name="Rectangle 8"/>
          <p:cNvSpPr/>
          <p:nvPr/>
        </p:nvSpPr>
        <p:spPr>
          <a:xfrm>
            <a:off x="571500" y="1381125"/>
            <a:ext cx="4762500" cy="2857500"/>
          </a:xfrm>
          <a:prstGeom prst="roundRect">
            <a:avLst>
              <a:gd name="adj" fmla="val 4000"/>
            </a:avLst>
          </a:prstGeom>
          <a:noFill/>
          <a:ln w="9525">
            <a:solidFill>
              <a:srgbClr val="334155"/>
            </a:solidFill>
          </a:ln>
        </p:spPr>
      </p:sp>
      <p:sp>
        <p:nvSpPr>
          <p:cNvPr id="9" name="TextBox 9"/>
          <p:cNvSpPr txBox="1"/>
          <p:nvPr/>
        </p:nvSpPr>
        <p:spPr>
          <a:xfrm>
            <a:off x="5600700" y="1457325"/>
            <a:ext cx="2269379"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Georgia"/>
                <a:ea typeface="Microsoft YaHei"/>
                <a:cs typeface="Georgia"/>
              </a:rPr>
              <a:t>Key Characteristics</a:t>
            </a:r>
          </a:p>
        </p:txBody>
      </p:sp>
      <p:sp>
        <p:nvSpPr>
          <p:cNvPr id="10" name="Freeform 10"/>
          <p:cNvSpPr/>
          <p:nvPr/>
        </p:nvSpPr>
        <p:spPr>
          <a:xfrm>
            <a:off x="5638800" y="1888392"/>
            <a:ext cx="188412" cy="166559"/>
          </a:xfrm>
          <a:custGeom>
            <a:avLst/>
            <a:gdLst/>
            <a:ahLst/>
            <a:cxnLst/>
            <a:rect l="l" t="t" r="r" b="b"/>
            <a:pathLst>
              <a:path w="188412" h="166559">
                <a:moveTo>
                  <a:pt x="96098" y="3597"/>
                </a:moveTo>
                <a:cubicBezTo>
                  <a:pt x="89732" y="6854"/>
                  <a:pt x="85727" y="13401"/>
                  <a:pt x="85725" y="20551"/>
                </a:cubicBezTo>
                <a:lnTo>
                  <a:pt x="85715" y="45183"/>
                </a:lnTo>
                <a:lnTo>
                  <a:pt x="19050" y="45183"/>
                </a:lnTo>
                <a:cubicBezTo>
                  <a:pt x="8529" y="45183"/>
                  <a:pt x="0" y="53712"/>
                  <a:pt x="0" y="64233"/>
                </a:cubicBezTo>
                <a:lnTo>
                  <a:pt x="0" y="102333"/>
                </a:lnTo>
                <a:lnTo>
                  <a:pt x="48" y="103762"/>
                </a:lnTo>
                <a:cubicBezTo>
                  <a:pt x="795" y="113703"/>
                  <a:pt x="9081" y="121386"/>
                  <a:pt x="19050" y="121383"/>
                </a:cubicBezTo>
                <a:lnTo>
                  <a:pt x="85715" y="121374"/>
                </a:lnTo>
                <a:lnTo>
                  <a:pt x="85725" y="146015"/>
                </a:lnTo>
                <a:cubicBezTo>
                  <a:pt x="85727" y="153719"/>
                  <a:pt x="90368" y="160663"/>
                  <a:pt x="97485" y="163611"/>
                </a:cubicBezTo>
                <a:cubicBezTo>
                  <a:pt x="104603" y="166559"/>
                  <a:pt x="112795" y="164930"/>
                  <a:pt x="118243" y="159483"/>
                </a:cubicBezTo>
                <a:lnTo>
                  <a:pt x="180975" y="96751"/>
                </a:lnTo>
                <a:cubicBezTo>
                  <a:pt x="188412" y="89312"/>
                  <a:pt x="188412" y="77254"/>
                  <a:pt x="180975" y="69815"/>
                </a:cubicBezTo>
                <a:lnTo>
                  <a:pt x="118243" y="7083"/>
                </a:lnTo>
                <a:cubicBezTo>
                  <a:pt x="112795" y="1632"/>
                  <a:pt x="104599" y="0"/>
                  <a:pt x="97479" y="2949"/>
                </a:cubicBezTo>
                <a:lnTo>
                  <a:pt x="96098" y="3597"/>
                </a:lnTo>
                <a:close/>
              </a:path>
            </a:pathLst>
          </a:custGeom>
          <a:solidFill>
            <a:srgbClr val="22D3EE"/>
          </a:solidFill>
          <a:ln>
            <a:noFill/>
          </a:ln>
        </p:spPr>
      </p:sp>
      <p:sp>
        <p:nvSpPr>
          <p:cNvPr id="11" name="TextBox 11"/>
          <p:cNvSpPr txBox="1"/>
          <p:nvPr/>
        </p:nvSpPr>
        <p:spPr>
          <a:xfrm>
            <a:off x="5927408" y="1862614"/>
            <a:ext cx="902469"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Arial"/>
                <a:ea typeface="Microsoft YaHei"/>
                <a:cs typeface="Arial"/>
              </a:rPr>
              <a:t>No Cycles</a:t>
            </a:r>
          </a:p>
        </p:txBody>
      </p:sp>
      <p:sp>
        <p:nvSpPr>
          <p:cNvPr id="12" name="TextBox 12"/>
          <p:cNvSpPr txBox="1"/>
          <p:nvPr/>
        </p:nvSpPr>
        <p:spPr>
          <a:xfrm>
            <a:off x="5929312" y="2088356"/>
            <a:ext cx="242744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Connections between nodes do</a:t>
            </a:r>
          </a:p>
        </p:txBody>
      </p:sp>
      <p:sp>
        <p:nvSpPr>
          <p:cNvPr id="13" name="TextBox 13"/>
          <p:cNvSpPr txBox="1"/>
          <p:nvPr/>
        </p:nvSpPr>
        <p:spPr>
          <a:xfrm>
            <a:off x="5929312" y="2278856"/>
            <a:ext cx="13430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not form a cycle</a:t>
            </a:r>
          </a:p>
        </p:txBody>
      </p:sp>
      <p:sp>
        <p:nvSpPr>
          <p:cNvPr id="14" name="Freeform 14"/>
          <p:cNvSpPr/>
          <p:nvPr/>
        </p:nvSpPr>
        <p:spPr>
          <a:xfrm>
            <a:off x="5638800" y="2602767"/>
            <a:ext cx="188412" cy="166559"/>
          </a:xfrm>
          <a:custGeom>
            <a:avLst/>
            <a:gdLst/>
            <a:ahLst/>
            <a:cxnLst/>
            <a:rect l="l" t="t" r="r" b="b"/>
            <a:pathLst>
              <a:path w="188412" h="166559">
                <a:moveTo>
                  <a:pt x="96098" y="3597"/>
                </a:moveTo>
                <a:cubicBezTo>
                  <a:pt x="89732" y="6854"/>
                  <a:pt x="85727" y="13401"/>
                  <a:pt x="85725" y="20551"/>
                </a:cubicBezTo>
                <a:lnTo>
                  <a:pt x="85715" y="45183"/>
                </a:lnTo>
                <a:lnTo>
                  <a:pt x="19050" y="45183"/>
                </a:lnTo>
                <a:cubicBezTo>
                  <a:pt x="8529" y="45183"/>
                  <a:pt x="0" y="53712"/>
                  <a:pt x="0" y="64233"/>
                </a:cubicBezTo>
                <a:lnTo>
                  <a:pt x="0" y="102333"/>
                </a:lnTo>
                <a:lnTo>
                  <a:pt x="48" y="103762"/>
                </a:lnTo>
                <a:cubicBezTo>
                  <a:pt x="795" y="113703"/>
                  <a:pt x="9081" y="121386"/>
                  <a:pt x="19050" y="121383"/>
                </a:cubicBezTo>
                <a:lnTo>
                  <a:pt x="85715" y="121374"/>
                </a:lnTo>
                <a:lnTo>
                  <a:pt x="85725" y="146015"/>
                </a:lnTo>
                <a:cubicBezTo>
                  <a:pt x="85727" y="153719"/>
                  <a:pt x="90368" y="160663"/>
                  <a:pt x="97485" y="163611"/>
                </a:cubicBezTo>
                <a:cubicBezTo>
                  <a:pt x="104603" y="166559"/>
                  <a:pt x="112795" y="164930"/>
                  <a:pt x="118243" y="159483"/>
                </a:cubicBezTo>
                <a:lnTo>
                  <a:pt x="180975" y="96751"/>
                </a:lnTo>
                <a:cubicBezTo>
                  <a:pt x="188412" y="89312"/>
                  <a:pt x="188412" y="77254"/>
                  <a:pt x="180975" y="69815"/>
                </a:cubicBezTo>
                <a:lnTo>
                  <a:pt x="118243" y="7083"/>
                </a:lnTo>
                <a:cubicBezTo>
                  <a:pt x="112795" y="1632"/>
                  <a:pt x="104599" y="0"/>
                  <a:pt x="97479" y="2949"/>
                </a:cubicBezTo>
                <a:lnTo>
                  <a:pt x="96098" y="3597"/>
                </a:lnTo>
                <a:close/>
              </a:path>
            </a:pathLst>
          </a:custGeom>
          <a:solidFill>
            <a:srgbClr val="22D3EE"/>
          </a:solidFill>
          <a:ln>
            <a:noFill/>
          </a:ln>
        </p:spPr>
      </p:sp>
      <p:sp>
        <p:nvSpPr>
          <p:cNvPr id="15" name="TextBox 15"/>
          <p:cNvSpPr txBox="1"/>
          <p:nvPr/>
        </p:nvSpPr>
        <p:spPr>
          <a:xfrm>
            <a:off x="5927408" y="2576989"/>
            <a:ext cx="1801881"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Arial"/>
                <a:ea typeface="Microsoft YaHei"/>
                <a:cs typeface="Arial"/>
              </a:rPr>
              <a:t>One Direction Only</a:t>
            </a:r>
          </a:p>
        </p:txBody>
      </p:sp>
      <p:sp>
        <p:nvSpPr>
          <p:cNvPr id="16" name="TextBox 16"/>
          <p:cNvSpPr txBox="1"/>
          <p:nvPr/>
        </p:nvSpPr>
        <p:spPr>
          <a:xfrm>
            <a:off x="5929312" y="2802731"/>
            <a:ext cx="231243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Data always moves forward,</a:t>
            </a:r>
          </a:p>
        </p:txBody>
      </p:sp>
      <p:sp>
        <p:nvSpPr>
          <p:cNvPr id="17" name="TextBox 17"/>
          <p:cNvSpPr txBox="1"/>
          <p:nvPr/>
        </p:nvSpPr>
        <p:spPr>
          <a:xfrm>
            <a:off x="5929312" y="2993231"/>
            <a:ext cx="137588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never backwards</a:t>
            </a:r>
          </a:p>
        </p:txBody>
      </p:sp>
      <p:sp>
        <p:nvSpPr>
          <p:cNvPr id="18" name="Freeform 18"/>
          <p:cNvSpPr/>
          <p:nvPr/>
        </p:nvSpPr>
        <p:spPr>
          <a:xfrm>
            <a:off x="5638800" y="3317142"/>
            <a:ext cx="188412" cy="166559"/>
          </a:xfrm>
          <a:custGeom>
            <a:avLst/>
            <a:gdLst/>
            <a:ahLst/>
            <a:cxnLst/>
            <a:rect l="l" t="t" r="r" b="b"/>
            <a:pathLst>
              <a:path w="188412" h="166559">
                <a:moveTo>
                  <a:pt x="96098" y="3597"/>
                </a:moveTo>
                <a:cubicBezTo>
                  <a:pt x="89732" y="6854"/>
                  <a:pt x="85727" y="13401"/>
                  <a:pt x="85725" y="20551"/>
                </a:cubicBezTo>
                <a:lnTo>
                  <a:pt x="85715" y="45183"/>
                </a:lnTo>
                <a:lnTo>
                  <a:pt x="19050" y="45183"/>
                </a:lnTo>
                <a:cubicBezTo>
                  <a:pt x="8529" y="45183"/>
                  <a:pt x="0" y="53712"/>
                  <a:pt x="0" y="64233"/>
                </a:cubicBezTo>
                <a:lnTo>
                  <a:pt x="0" y="102333"/>
                </a:lnTo>
                <a:lnTo>
                  <a:pt x="48" y="103762"/>
                </a:lnTo>
                <a:cubicBezTo>
                  <a:pt x="795" y="113703"/>
                  <a:pt x="9081" y="121386"/>
                  <a:pt x="19050" y="121383"/>
                </a:cubicBezTo>
                <a:lnTo>
                  <a:pt x="85715" y="121374"/>
                </a:lnTo>
                <a:lnTo>
                  <a:pt x="85725" y="146015"/>
                </a:lnTo>
                <a:cubicBezTo>
                  <a:pt x="85727" y="153719"/>
                  <a:pt x="90368" y="160663"/>
                  <a:pt x="97485" y="163611"/>
                </a:cubicBezTo>
                <a:cubicBezTo>
                  <a:pt x="104603" y="166559"/>
                  <a:pt x="112795" y="164930"/>
                  <a:pt x="118243" y="159483"/>
                </a:cubicBezTo>
                <a:lnTo>
                  <a:pt x="180975" y="96751"/>
                </a:lnTo>
                <a:cubicBezTo>
                  <a:pt x="188412" y="89312"/>
                  <a:pt x="188412" y="77254"/>
                  <a:pt x="180975" y="69815"/>
                </a:cubicBezTo>
                <a:lnTo>
                  <a:pt x="118243" y="7083"/>
                </a:lnTo>
                <a:cubicBezTo>
                  <a:pt x="112795" y="1632"/>
                  <a:pt x="104599" y="0"/>
                  <a:pt x="97479" y="2949"/>
                </a:cubicBezTo>
                <a:lnTo>
                  <a:pt x="96098" y="3597"/>
                </a:lnTo>
                <a:close/>
              </a:path>
            </a:pathLst>
          </a:custGeom>
          <a:solidFill>
            <a:srgbClr val="22D3EE"/>
          </a:solidFill>
          <a:ln>
            <a:noFill/>
          </a:ln>
        </p:spPr>
      </p:sp>
      <p:sp>
        <p:nvSpPr>
          <p:cNvPr id="19" name="TextBox 19"/>
          <p:cNvSpPr txBox="1"/>
          <p:nvPr/>
        </p:nvSpPr>
        <p:spPr>
          <a:xfrm>
            <a:off x="5927408" y="3291364"/>
            <a:ext cx="1361951"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Arial"/>
                <a:ea typeface="Microsoft YaHei"/>
                <a:cs typeface="Arial"/>
              </a:rPr>
              <a:t>Simplest Form</a:t>
            </a:r>
          </a:p>
        </p:txBody>
      </p:sp>
      <p:sp>
        <p:nvSpPr>
          <p:cNvPr id="20" name="TextBox 20"/>
          <p:cNvSpPr txBox="1"/>
          <p:nvPr/>
        </p:nvSpPr>
        <p:spPr>
          <a:xfrm>
            <a:off x="5929312" y="3517106"/>
            <a:ext cx="244387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Foundation model: single layer</a:t>
            </a:r>
          </a:p>
        </p:txBody>
      </p:sp>
      <p:sp>
        <p:nvSpPr>
          <p:cNvPr id="21" name="TextBox 21"/>
          <p:cNvSpPr txBox="1"/>
          <p:nvPr/>
        </p:nvSpPr>
        <p:spPr>
          <a:xfrm>
            <a:off x="5929312" y="3707606"/>
            <a:ext cx="240280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perceptron for classification</a:t>
            </a:r>
          </a:p>
        </p:txBody>
      </p:sp>
      <p:sp>
        <p:nvSpPr>
          <p:cNvPr id="22" name="Rectangle 22"/>
          <p:cNvSpPr/>
          <p:nvPr/>
        </p:nvSpPr>
        <p:spPr>
          <a:xfrm>
            <a:off x="571500" y="4524375"/>
            <a:ext cx="11049000" cy="1809750"/>
          </a:xfrm>
          <a:prstGeom prst="roundRect">
            <a:avLst>
              <a:gd name="adj" fmla="val 6316"/>
            </a:avLst>
          </a:prstGeom>
          <a:solidFill>
            <a:srgbClr val="1E293B"/>
          </a:solidFill>
          <a:ln w="9525">
            <a:solidFill>
              <a:srgbClr val="334155"/>
            </a:solidFill>
          </a:ln>
        </p:spPr>
      </p:sp>
      <p:sp>
        <p:nvSpPr>
          <p:cNvPr id="23" name="TextBox 23"/>
          <p:cNvSpPr txBox="1"/>
          <p:nvPr/>
        </p:nvSpPr>
        <p:spPr>
          <a:xfrm>
            <a:off x="2638595" y="4712018"/>
            <a:ext cx="1390309" cy="274320"/>
          </a:xfrm>
          <a:prstGeom prst="rect">
            <a:avLst/>
          </a:prstGeom>
          <a:noFill/>
          <a:ln>
            <a:noFill/>
          </a:ln>
        </p:spPr>
        <p:txBody>
          <a:bodyPr wrap="none" lIns="0" tIns="0" rIns="0" bIns="0" anchor="t" anchorCtr="0">
            <a:spAutoFit/>
          </a:bodyPr>
          <a:lstStyle/>
          <a:p>
            <a:pPr algn="ctr"/>
            <a:r>
              <a:rPr lang="zh-CN" sz="1350" b="1" dirty="0">
                <a:solidFill>
                  <a:srgbClr val="10B981"/>
                </a:solidFill>
                <a:latin typeface="Georgia"/>
                <a:ea typeface="Microsoft YaHei"/>
                <a:cs typeface="Georgia"/>
              </a:rPr>
              <a:t>Feed Forward</a:t>
            </a:r>
          </a:p>
        </p:txBody>
      </p:sp>
      <p:sp>
        <p:nvSpPr>
          <p:cNvPr id="24" name="TextBox 24"/>
          <p:cNvSpPr txBox="1"/>
          <p:nvPr/>
        </p:nvSpPr>
        <p:spPr>
          <a:xfrm>
            <a:off x="2428101" y="5022056"/>
            <a:ext cx="1811298"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Directed acyclic graph</a:t>
            </a:r>
          </a:p>
        </p:txBody>
      </p:sp>
      <p:sp>
        <p:nvSpPr>
          <p:cNvPr id="25" name="TextBox 25"/>
          <p:cNvSpPr txBox="1"/>
          <p:nvPr/>
        </p:nvSpPr>
        <p:spPr>
          <a:xfrm>
            <a:off x="2563654" y="5231606"/>
            <a:ext cx="1540192"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One-way data flow</a:t>
            </a:r>
          </a:p>
        </p:txBody>
      </p:sp>
      <p:sp>
        <p:nvSpPr>
          <p:cNvPr id="26" name="TextBox 26"/>
          <p:cNvSpPr txBox="1"/>
          <p:nvPr/>
        </p:nvSpPr>
        <p:spPr>
          <a:xfrm>
            <a:off x="2473285" y="5441156"/>
            <a:ext cx="1720929"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Static input → output</a:t>
            </a:r>
          </a:p>
        </p:txBody>
      </p:sp>
      <p:sp>
        <p:nvSpPr>
          <p:cNvPr id="27" name="Line 27"/>
          <p:cNvSpPr/>
          <p:nvPr/>
        </p:nvSpPr>
        <p:spPr>
          <a:xfrm>
            <a:off x="6096000" y="4714875"/>
            <a:ext cx="9525" cy="1428750"/>
          </a:xfrm>
          <a:custGeom>
            <a:avLst/>
            <a:gdLst/>
            <a:ahLst/>
            <a:cxnLst/>
            <a:rect l="l" t="t" r="r" b="b"/>
            <a:pathLst>
              <a:path w="9525" h="1428750">
                <a:moveTo>
                  <a:pt x="0" y="0"/>
                </a:moveTo>
                <a:lnTo>
                  <a:pt x="0" y="1428750"/>
                </a:lnTo>
              </a:path>
            </a:pathLst>
          </a:custGeom>
          <a:noFill/>
          <a:ln w="9525">
            <a:solidFill>
              <a:srgbClr val="334155"/>
            </a:solidFill>
          </a:ln>
        </p:spPr>
      </p:sp>
      <p:sp>
        <p:nvSpPr>
          <p:cNvPr id="28" name="Ellipse 28"/>
          <p:cNvSpPr/>
          <p:nvPr/>
        </p:nvSpPr>
        <p:spPr>
          <a:xfrm>
            <a:off x="5886450" y="4981575"/>
            <a:ext cx="419100" cy="419100"/>
          </a:xfrm>
          <a:prstGeom prst="ellipse">
            <a:avLst/>
          </a:prstGeom>
          <a:solidFill>
            <a:srgbClr val="0F172A"/>
          </a:solidFill>
          <a:ln w="19050">
            <a:solidFill>
              <a:srgbClr val="3B82F6"/>
            </a:solidFill>
          </a:ln>
        </p:spPr>
      </p:sp>
      <p:sp>
        <p:nvSpPr>
          <p:cNvPr id="29" name="TextBox 29"/>
          <p:cNvSpPr txBox="1"/>
          <p:nvPr/>
        </p:nvSpPr>
        <p:spPr>
          <a:xfrm>
            <a:off x="5994104" y="5134928"/>
            <a:ext cx="203792" cy="213360"/>
          </a:xfrm>
          <a:prstGeom prst="rect">
            <a:avLst/>
          </a:prstGeom>
          <a:noFill/>
          <a:ln>
            <a:noFill/>
          </a:ln>
        </p:spPr>
        <p:txBody>
          <a:bodyPr wrap="none" lIns="0" tIns="0" rIns="0" bIns="0" anchor="t" anchorCtr="0">
            <a:spAutoFit/>
          </a:bodyPr>
          <a:lstStyle/>
          <a:p>
            <a:pPr algn="ctr"/>
            <a:r>
              <a:rPr lang="zh-CN" sz="1050" b="1" dirty="0">
                <a:solidFill>
                  <a:srgbClr val="3B82F6"/>
                </a:solidFill>
                <a:latin typeface="Georgia"/>
                <a:ea typeface="Microsoft YaHei"/>
                <a:cs typeface="Georgia"/>
              </a:rPr>
              <a:t>VS</a:t>
            </a:r>
          </a:p>
        </p:txBody>
      </p:sp>
      <p:sp>
        <p:nvSpPr>
          <p:cNvPr id="30" name="TextBox 30"/>
          <p:cNvSpPr txBox="1"/>
          <p:nvPr/>
        </p:nvSpPr>
        <p:spPr>
          <a:xfrm>
            <a:off x="8328716" y="4712018"/>
            <a:ext cx="1059068" cy="274320"/>
          </a:xfrm>
          <a:prstGeom prst="rect">
            <a:avLst/>
          </a:prstGeom>
          <a:noFill/>
          <a:ln>
            <a:noFill/>
          </a:ln>
        </p:spPr>
        <p:txBody>
          <a:bodyPr wrap="none" lIns="0" tIns="0" rIns="0" bIns="0" anchor="t" anchorCtr="0">
            <a:spAutoFit/>
          </a:bodyPr>
          <a:lstStyle/>
          <a:p>
            <a:pPr algn="ctr"/>
            <a:r>
              <a:rPr lang="zh-CN" sz="1350" b="1" dirty="0">
                <a:solidFill>
                  <a:srgbClr val="F59E0B"/>
                </a:solidFill>
                <a:latin typeface="Georgia"/>
                <a:ea typeface="Microsoft YaHei"/>
                <a:cs typeface="Georgia"/>
              </a:rPr>
              <a:t>Recurrent</a:t>
            </a:r>
          </a:p>
        </p:txBody>
      </p:sp>
      <p:sp>
        <p:nvSpPr>
          <p:cNvPr id="31" name="TextBox 31"/>
          <p:cNvSpPr txBox="1"/>
          <p:nvPr/>
        </p:nvSpPr>
        <p:spPr>
          <a:xfrm>
            <a:off x="8227814" y="5022056"/>
            <a:ext cx="1260872"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Contains cycles</a:t>
            </a:r>
          </a:p>
        </p:txBody>
      </p:sp>
      <p:sp>
        <p:nvSpPr>
          <p:cNvPr id="32" name="TextBox 32"/>
          <p:cNvSpPr txBox="1"/>
          <p:nvPr/>
        </p:nvSpPr>
        <p:spPr>
          <a:xfrm>
            <a:off x="8252460" y="5231606"/>
            <a:ext cx="1211580"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Feedback loops</a:t>
            </a:r>
          </a:p>
        </p:txBody>
      </p:sp>
      <p:sp>
        <p:nvSpPr>
          <p:cNvPr id="33" name="TextBox 33"/>
          <p:cNvSpPr txBox="1"/>
          <p:nvPr/>
        </p:nvSpPr>
        <p:spPr>
          <a:xfrm>
            <a:off x="7866340" y="5441156"/>
            <a:ext cx="1983819" cy="228600"/>
          </a:xfrm>
          <a:prstGeom prst="rect">
            <a:avLst/>
          </a:prstGeom>
          <a:noFill/>
          <a:ln>
            <a:noFill/>
          </a:ln>
        </p:spPr>
        <p:txBody>
          <a:bodyPr wrap="none" lIns="0" tIns="0" rIns="0" bIns="0" anchor="t" anchorCtr="0">
            <a:spAutoFit/>
          </a:bodyPr>
          <a:lstStyle/>
          <a:p>
            <a:pPr algn="ctr"/>
            <a:r>
              <a:rPr lang="zh-CN" sz="1125" dirty="0">
                <a:solidFill>
                  <a:srgbClr val="94A3B8"/>
                </a:solidFill>
                <a:latin typeface="Arial"/>
                <a:ea typeface="Microsoft YaHei"/>
                <a:cs typeface="Arial"/>
              </a:rPr>
              <a:t>Sequential / time-series</a:t>
            </a:r>
          </a:p>
        </p:txBody>
      </p:sp>
      <p:sp>
        <p:nvSpPr>
          <p:cNvPr id="34" name="TextBox 34"/>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04</a:t>
            </a:r>
          </a:p>
        </p:txBody>
      </p:sp>
      <p:pic>
        <p:nvPicPr>
          <p:cNvPr id="35" name="narration4.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0" y="0"/>
            <a:ext cx="1" cy="1"/>
          </a:xfrm>
          <a:prstGeom prst="rect">
            <a:avLst/>
          </a:prstGeom>
        </p:spPr>
      </p:pic>
    </p:spTree>
  </p:cSld>
  <p:clrMapOvr>
    <a:masterClrMapping/>
  </p:clrMapOvr>
  <p:transition xmlns:p14="http://schemas.microsoft.com/office/powerpoint/2010/main" p14:dur="400" advTm="45188">
    <p:fade/>
  </p:transition>
  <p:timing>
    <p:tnLst>
      <p:par>
        <p:cTn id="1" dur="indefinite" restart="never" nodeType="tmRoot">
          <p:childTnLst>
            <p:audio>
              <p:cMediaNode vol="80000">
                <p:cTn id="2" fill="hold" display="0">
                  <p:stCondLst>
                    <p:cond delay="0"/>
                  </p:stCondLst>
                </p:cTn>
                <p:tgtEl>
                  <p:spTgt spid="3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5681353"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How Feed Forward Networks Work</a:t>
            </a:r>
          </a:p>
        </p:txBody>
      </p:sp>
      <p:sp>
        <p:nvSpPr>
          <p:cNvPr id="5" name="Rectangle 5"/>
          <p:cNvSpPr/>
          <p:nvPr/>
        </p:nvSpPr>
        <p:spPr>
          <a:xfrm>
            <a:off x="571500" y="1143000"/>
            <a:ext cx="11049000" cy="2667000"/>
          </a:xfrm>
          <a:prstGeom prst="roundRect">
            <a:avLst>
              <a:gd name="adj" fmla="val 4286"/>
            </a:avLst>
          </a:prstGeom>
          <a:solidFill>
            <a:srgbClr val="1E293B"/>
          </a:solidFill>
          <a:ln w="9525">
            <a:solidFill>
              <a:srgbClr val="334155"/>
            </a:solidFill>
          </a:ln>
        </p:spPr>
      </p:sp>
      <p:sp>
        <p:nvSpPr>
          <p:cNvPr id="6" name="TextBox 6"/>
          <p:cNvSpPr txBox="1"/>
          <p:nvPr/>
        </p:nvSpPr>
        <p:spPr>
          <a:xfrm>
            <a:off x="935355" y="1330642"/>
            <a:ext cx="3067219"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Georgia"/>
                <a:ea typeface="Microsoft YaHei"/>
                <a:cs typeface="Georgia"/>
              </a:rPr>
              <a:t>Single Layer Perceptron Model</a:t>
            </a:r>
          </a:p>
        </p:txBody>
      </p:sp>
      <p:sp>
        <p:nvSpPr>
          <p:cNvPr id="7" name="Ellipse 7"/>
          <p:cNvSpPr/>
          <p:nvPr/>
        </p:nvSpPr>
        <p:spPr>
          <a:xfrm>
            <a:off x="1504950" y="1885950"/>
            <a:ext cx="419100" cy="419100"/>
          </a:xfrm>
          <a:prstGeom prst="ellipse">
            <a:avLst/>
          </a:prstGeom>
          <a:solidFill>
            <a:srgbClr val="3B82F6">
              <a:alpha val="20000"/>
            </a:srgbClr>
          </a:solidFill>
          <a:ln w="19050">
            <a:solidFill>
              <a:srgbClr val="3B82F6"/>
            </a:solidFill>
          </a:ln>
        </p:spPr>
      </p:sp>
      <p:sp>
        <p:nvSpPr>
          <p:cNvPr id="8" name="TextBox 8"/>
          <p:cNvSpPr txBox="1"/>
          <p:nvPr/>
        </p:nvSpPr>
        <p:spPr>
          <a:xfrm>
            <a:off x="1641598" y="2037874"/>
            <a:ext cx="145804" cy="198120"/>
          </a:xfrm>
          <a:prstGeom prst="rect">
            <a:avLst/>
          </a:prstGeom>
          <a:noFill/>
          <a:ln>
            <a:noFill/>
          </a:ln>
        </p:spPr>
        <p:txBody>
          <a:bodyPr wrap="none" lIns="0" tIns="0" rIns="0" bIns="0" anchor="t" anchorCtr="0">
            <a:spAutoFit/>
          </a:bodyPr>
          <a:lstStyle/>
          <a:p>
            <a:pPr algn="ctr"/>
            <a:r>
              <a:rPr lang="zh-CN" sz="975" dirty="0">
                <a:solidFill>
                  <a:srgbClr val="3B82F6"/>
                </a:solidFill>
                <a:latin typeface="Consolas"/>
                <a:ea typeface="Microsoft YaHei"/>
                <a:cs typeface="Consolas"/>
              </a:rPr>
              <a:t>x1</a:t>
            </a:r>
          </a:p>
        </p:txBody>
      </p:sp>
      <p:sp>
        <p:nvSpPr>
          <p:cNvPr id="9" name="Ellipse 9"/>
          <p:cNvSpPr/>
          <p:nvPr/>
        </p:nvSpPr>
        <p:spPr>
          <a:xfrm>
            <a:off x="1504950" y="2552700"/>
            <a:ext cx="419100" cy="419100"/>
          </a:xfrm>
          <a:prstGeom prst="ellipse">
            <a:avLst/>
          </a:prstGeom>
          <a:solidFill>
            <a:srgbClr val="3B82F6">
              <a:alpha val="20000"/>
            </a:srgbClr>
          </a:solidFill>
          <a:ln w="19050">
            <a:solidFill>
              <a:srgbClr val="3B82F6"/>
            </a:solidFill>
          </a:ln>
        </p:spPr>
      </p:sp>
      <p:sp>
        <p:nvSpPr>
          <p:cNvPr id="10" name="TextBox 10"/>
          <p:cNvSpPr txBox="1"/>
          <p:nvPr/>
        </p:nvSpPr>
        <p:spPr>
          <a:xfrm>
            <a:off x="1623798" y="2704624"/>
            <a:ext cx="181404" cy="198120"/>
          </a:xfrm>
          <a:prstGeom prst="rect">
            <a:avLst/>
          </a:prstGeom>
          <a:noFill/>
          <a:ln>
            <a:noFill/>
          </a:ln>
        </p:spPr>
        <p:txBody>
          <a:bodyPr wrap="none" lIns="0" tIns="0" rIns="0" bIns="0" anchor="t" anchorCtr="0">
            <a:spAutoFit/>
          </a:bodyPr>
          <a:lstStyle/>
          <a:p>
            <a:pPr algn="ctr"/>
            <a:r>
              <a:rPr lang="zh-CN" sz="975" dirty="0">
                <a:solidFill>
                  <a:srgbClr val="3B82F6"/>
                </a:solidFill>
                <a:latin typeface="Consolas"/>
                <a:ea typeface="Microsoft YaHei"/>
                <a:cs typeface="Consolas"/>
              </a:rPr>
              <a:t>x2</a:t>
            </a:r>
          </a:p>
        </p:txBody>
      </p:sp>
      <p:sp>
        <p:nvSpPr>
          <p:cNvPr id="11" name="Ellipse 11"/>
          <p:cNvSpPr/>
          <p:nvPr/>
        </p:nvSpPr>
        <p:spPr>
          <a:xfrm>
            <a:off x="1504950" y="3219450"/>
            <a:ext cx="419100" cy="419100"/>
          </a:xfrm>
          <a:prstGeom prst="ellipse">
            <a:avLst/>
          </a:prstGeom>
          <a:solidFill>
            <a:srgbClr val="3B82F6">
              <a:alpha val="20000"/>
            </a:srgbClr>
          </a:solidFill>
          <a:ln w="19050">
            <a:solidFill>
              <a:srgbClr val="3B82F6"/>
            </a:solidFill>
          </a:ln>
        </p:spPr>
      </p:sp>
      <p:sp>
        <p:nvSpPr>
          <p:cNvPr id="12" name="TextBox 12"/>
          <p:cNvSpPr txBox="1"/>
          <p:nvPr/>
        </p:nvSpPr>
        <p:spPr>
          <a:xfrm>
            <a:off x="1623798" y="3371374"/>
            <a:ext cx="181404" cy="198120"/>
          </a:xfrm>
          <a:prstGeom prst="rect">
            <a:avLst/>
          </a:prstGeom>
          <a:noFill/>
          <a:ln>
            <a:noFill/>
          </a:ln>
        </p:spPr>
        <p:txBody>
          <a:bodyPr wrap="none" lIns="0" tIns="0" rIns="0" bIns="0" anchor="t" anchorCtr="0">
            <a:spAutoFit/>
          </a:bodyPr>
          <a:lstStyle/>
          <a:p>
            <a:pPr algn="ctr"/>
            <a:r>
              <a:rPr lang="zh-CN" sz="975" dirty="0">
                <a:solidFill>
                  <a:srgbClr val="3B82F6"/>
                </a:solidFill>
                <a:latin typeface="Consolas"/>
                <a:ea typeface="Microsoft YaHei"/>
                <a:cs typeface="Consolas"/>
              </a:rPr>
              <a:t>x3</a:t>
            </a:r>
          </a:p>
        </p:txBody>
      </p:sp>
      <p:sp>
        <p:nvSpPr>
          <p:cNvPr id="13" name="TextBox 13"/>
          <p:cNvSpPr txBox="1"/>
          <p:nvPr/>
        </p:nvSpPr>
        <p:spPr>
          <a:xfrm>
            <a:off x="2655570" y="1950720"/>
            <a:ext cx="160877" cy="182880"/>
          </a:xfrm>
          <a:prstGeom prst="rect">
            <a:avLst/>
          </a:prstGeom>
          <a:noFill/>
          <a:ln>
            <a:noFill/>
          </a:ln>
        </p:spPr>
        <p:txBody>
          <a:bodyPr wrap="none" lIns="0" tIns="0" rIns="0" bIns="0" anchor="t" anchorCtr="0">
            <a:spAutoFit/>
          </a:bodyPr>
          <a:lstStyle/>
          <a:p>
            <a:pPr algn="l"/>
            <a:r>
              <a:rPr lang="zh-CN" sz="900" dirty="0">
                <a:solidFill>
                  <a:srgbClr val="22D3EE"/>
                </a:solidFill>
                <a:latin typeface="Consolas"/>
                <a:ea typeface="Microsoft YaHei"/>
                <a:cs typeface="Consolas"/>
              </a:rPr>
              <a:t>w1</a:t>
            </a:r>
          </a:p>
        </p:txBody>
      </p:sp>
      <p:sp>
        <p:nvSpPr>
          <p:cNvPr id="14" name="TextBox 14"/>
          <p:cNvSpPr txBox="1"/>
          <p:nvPr/>
        </p:nvSpPr>
        <p:spPr>
          <a:xfrm>
            <a:off x="2655570" y="2522220"/>
            <a:ext cx="193739" cy="182880"/>
          </a:xfrm>
          <a:prstGeom prst="rect">
            <a:avLst/>
          </a:prstGeom>
          <a:noFill/>
          <a:ln>
            <a:noFill/>
          </a:ln>
        </p:spPr>
        <p:txBody>
          <a:bodyPr wrap="none" lIns="0" tIns="0" rIns="0" bIns="0" anchor="t" anchorCtr="0">
            <a:spAutoFit/>
          </a:bodyPr>
          <a:lstStyle/>
          <a:p>
            <a:pPr algn="l"/>
            <a:r>
              <a:rPr lang="zh-CN" sz="900" dirty="0">
                <a:solidFill>
                  <a:srgbClr val="22D3EE"/>
                </a:solidFill>
                <a:latin typeface="Consolas"/>
                <a:ea typeface="Microsoft YaHei"/>
                <a:cs typeface="Consolas"/>
              </a:rPr>
              <a:t>w2</a:t>
            </a:r>
          </a:p>
        </p:txBody>
      </p:sp>
      <p:sp>
        <p:nvSpPr>
          <p:cNvPr id="15" name="TextBox 15"/>
          <p:cNvSpPr txBox="1"/>
          <p:nvPr/>
        </p:nvSpPr>
        <p:spPr>
          <a:xfrm>
            <a:off x="2655570" y="3188970"/>
            <a:ext cx="193739" cy="182880"/>
          </a:xfrm>
          <a:prstGeom prst="rect">
            <a:avLst/>
          </a:prstGeom>
          <a:noFill/>
          <a:ln>
            <a:noFill/>
          </a:ln>
        </p:spPr>
        <p:txBody>
          <a:bodyPr wrap="none" lIns="0" tIns="0" rIns="0" bIns="0" anchor="t" anchorCtr="0">
            <a:spAutoFit/>
          </a:bodyPr>
          <a:lstStyle/>
          <a:p>
            <a:pPr algn="l"/>
            <a:r>
              <a:rPr lang="zh-CN" sz="900" dirty="0">
                <a:solidFill>
                  <a:srgbClr val="22D3EE"/>
                </a:solidFill>
                <a:latin typeface="Consolas"/>
                <a:ea typeface="Microsoft YaHei"/>
                <a:cs typeface="Consolas"/>
              </a:rPr>
              <a:t>w3</a:t>
            </a:r>
          </a:p>
        </p:txBody>
      </p:sp>
      <p:sp>
        <p:nvSpPr>
          <p:cNvPr id="16" name="Line 16"/>
          <p:cNvSpPr/>
          <p:nvPr/>
        </p:nvSpPr>
        <p:spPr>
          <a:xfrm>
            <a:off x="1924050" y="2095500"/>
            <a:ext cx="1676400" cy="571500"/>
          </a:xfrm>
          <a:custGeom>
            <a:avLst/>
            <a:gdLst/>
            <a:ahLst/>
            <a:cxnLst/>
            <a:rect l="l" t="t" r="r" b="b"/>
            <a:pathLst>
              <a:path w="1676400" h="571500">
                <a:moveTo>
                  <a:pt x="0" y="0"/>
                </a:moveTo>
                <a:lnTo>
                  <a:pt x="1676400" y="571500"/>
                </a:lnTo>
              </a:path>
            </a:pathLst>
          </a:custGeom>
          <a:noFill/>
          <a:ln w="14288">
            <a:solidFill>
              <a:srgbClr val="22D3EE">
                <a:alpha val="60000"/>
              </a:srgbClr>
            </a:solidFill>
          </a:ln>
        </p:spPr>
      </p:sp>
      <p:sp>
        <p:nvSpPr>
          <p:cNvPr id="17" name="Line 17"/>
          <p:cNvSpPr/>
          <p:nvPr/>
        </p:nvSpPr>
        <p:spPr>
          <a:xfrm>
            <a:off x="1924050" y="2762250"/>
            <a:ext cx="1676400" cy="9525"/>
          </a:xfrm>
          <a:custGeom>
            <a:avLst/>
            <a:gdLst/>
            <a:ahLst/>
            <a:cxnLst/>
            <a:rect l="l" t="t" r="r" b="b"/>
            <a:pathLst>
              <a:path w="1676400" h="9525">
                <a:moveTo>
                  <a:pt x="0" y="0"/>
                </a:moveTo>
                <a:lnTo>
                  <a:pt x="1676400" y="0"/>
                </a:lnTo>
              </a:path>
            </a:pathLst>
          </a:custGeom>
          <a:noFill/>
          <a:ln w="14288">
            <a:solidFill>
              <a:srgbClr val="22D3EE">
                <a:alpha val="60000"/>
              </a:srgbClr>
            </a:solidFill>
          </a:ln>
        </p:spPr>
      </p:sp>
      <p:sp>
        <p:nvSpPr>
          <p:cNvPr id="18" name="Line 18"/>
          <p:cNvSpPr/>
          <p:nvPr/>
        </p:nvSpPr>
        <p:spPr>
          <a:xfrm>
            <a:off x="1924050" y="2857500"/>
            <a:ext cx="1676400" cy="571500"/>
          </a:xfrm>
          <a:custGeom>
            <a:avLst/>
            <a:gdLst/>
            <a:ahLst/>
            <a:cxnLst/>
            <a:rect l="l" t="t" r="r" b="b"/>
            <a:pathLst>
              <a:path w="1676400" h="571500">
                <a:moveTo>
                  <a:pt x="0" y="571500"/>
                </a:moveTo>
                <a:lnTo>
                  <a:pt x="1676400" y="0"/>
                </a:lnTo>
              </a:path>
            </a:pathLst>
          </a:custGeom>
          <a:noFill/>
          <a:ln w="14288">
            <a:solidFill>
              <a:srgbClr val="22D3EE">
                <a:alpha val="60000"/>
              </a:srgbClr>
            </a:solidFill>
          </a:ln>
        </p:spPr>
      </p:sp>
      <p:sp>
        <p:nvSpPr>
          <p:cNvPr id="19" name="Ellipse 19"/>
          <p:cNvSpPr/>
          <p:nvPr/>
        </p:nvSpPr>
        <p:spPr>
          <a:xfrm>
            <a:off x="3543300" y="2495550"/>
            <a:ext cx="533400" cy="533400"/>
          </a:xfrm>
          <a:prstGeom prst="ellipse">
            <a:avLst/>
          </a:prstGeom>
          <a:solidFill>
            <a:srgbClr val="8B5CF6">
              <a:alpha val="20000"/>
            </a:srgbClr>
          </a:solidFill>
          <a:ln w="19050">
            <a:solidFill>
              <a:srgbClr val="8B5CF6"/>
            </a:solidFill>
          </a:ln>
        </p:spPr>
      </p:sp>
      <p:sp>
        <p:nvSpPr>
          <p:cNvPr id="20" name="TextBox 20"/>
          <p:cNvSpPr txBox="1"/>
          <p:nvPr/>
        </p:nvSpPr>
        <p:spPr>
          <a:xfrm>
            <a:off x="3746563" y="2689860"/>
            <a:ext cx="126873" cy="243840"/>
          </a:xfrm>
          <a:prstGeom prst="rect">
            <a:avLst/>
          </a:prstGeom>
          <a:noFill/>
          <a:ln>
            <a:noFill/>
          </a:ln>
        </p:spPr>
        <p:txBody>
          <a:bodyPr wrap="none" lIns="0" tIns="0" rIns="0" bIns="0" anchor="t" anchorCtr="0">
            <a:spAutoFit/>
          </a:bodyPr>
          <a:lstStyle/>
          <a:p>
            <a:pPr algn="ctr"/>
            <a:r>
              <a:rPr lang="zh-CN" sz="1200" dirty="0">
                <a:solidFill>
                  <a:srgbClr val="8B5CF6"/>
                </a:solidFill>
                <a:latin typeface="Georgia"/>
                <a:ea typeface="Microsoft YaHei"/>
                <a:cs typeface="Georgia"/>
              </a:rPr>
              <a:t>∑</a:t>
            </a:r>
          </a:p>
        </p:txBody>
      </p:sp>
      <p:sp>
        <p:nvSpPr>
          <p:cNvPr id="21" name="Line 21"/>
          <p:cNvSpPr/>
          <p:nvPr/>
        </p:nvSpPr>
        <p:spPr>
          <a:xfrm>
            <a:off x="4076700" y="2762250"/>
            <a:ext cx="666750" cy="1"/>
          </a:xfrm>
          <a:prstGeom prst="line">
            <a:avLst/>
          </a:prstGeom>
          <a:noFill/>
          <a:ln w="19050">
            <a:solidFill>
              <a:srgbClr val="10B981"/>
            </a:solidFill>
            <a:tailEnd type="triangle" w="lg" len="lg"/>
          </a:ln>
        </p:spPr>
      </p:sp>
      <p:sp>
        <p:nvSpPr>
          <p:cNvPr id="22" name="Rectangle 22"/>
          <p:cNvSpPr/>
          <p:nvPr/>
        </p:nvSpPr>
        <p:spPr>
          <a:xfrm>
            <a:off x="4857750" y="2524125"/>
            <a:ext cx="762000" cy="476250"/>
          </a:xfrm>
          <a:prstGeom prst="roundRect">
            <a:avLst>
              <a:gd name="adj" fmla="val 16000"/>
            </a:avLst>
          </a:prstGeom>
          <a:solidFill>
            <a:srgbClr val="10B981">
              <a:alpha val="15000"/>
            </a:srgbClr>
          </a:solidFill>
          <a:ln w="14288">
            <a:solidFill>
              <a:srgbClr val="10B981"/>
            </a:solidFill>
          </a:ln>
        </p:spPr>
      </p:sp>
      <p:sp>
        <p:nvSpPr>
          <p:cNvPr id="23" name="TextBox 23"/>
          <p:cNvSpPr txBox="1"/>
          <p:nvPr/>
        </p:nvSpPr>
        <p:spPr>
          <a:xfrm>
            <a:off x="5069729" y="2704624"/>
            <a:ext cx="338042" cy="198120"/>
          </a:xfrm>
          <a:prstGeom prst="rect">
            <a:avLst/>
          </a:prstGeom>
          <a:noFill/>
          <a:ln>
            <a:noFill/>
          </a:ln>
        </p:spPr>
        <p:txBody>
          <a:bodyPr wrap="none" lIns="0" tIns="0" rIns="0" bIns="0" anchor="t" anchorCtr="0">
            <a:spAutoFit/>
          </a:bodyPr>
          <a:lstStyle/>
          <a:p>
            <a:pPr algn="ctr"/>
            <a:r>
              <a:rPr lang="zh-CN" sz="975" dirty="0">
                <a:solidFill>
                  <a:srgbClr val="10B981"/>
                </a:solidFill>
                <a:latin typeface="Consolas"/>
                <a:ea typeface="Microsoft YaHei"/>
                <a:cs typeface="Consolas"/>
              </a:rPr>
              <a:t>f(x)</a:t>
            </a:r>
          </a:p>
        </p:txBody>
      </p:sp>
      <p:sp>
        <p:nvSpPr>
          <p:cNvPr id="24" name="Line 24"/>
          <p:cNvSpPr/>
          <p:nvPr/>
        </p:nvSpPr>
        <p:spPr>
          <a:xfrm>
            <a:off x="5619750" y="2762250"/>
            <a:ext cx="666750" cy="1"/>
          </a:xfrm>
          <a:prstGeom prst="line">
            <a:avLst/>
          </a:prstGeom>
          <a:noFill/>
          <a:ln w="19050">
            <a:solidFill>
              <a:srgbClr val="10B981"/>
            </a:solidFill>
            <a:tailEnd type="triangle" w="lg" len="lg"/>
          </a:ln>
        </p:spPr>
      </p:sp>
      <p:sp>
        <p:nvSpPr>
          <p:cNvPr id="25" name="Ellipse 25"/>
          <p:cNvSpPr/>
          <p:nvPr/>
        </p:nvSpPr>
        <p:spPr>
          <a:xfrm>
            <a:off x="6362700" y="2552700"/>
            <a:ext cx="419100" cy="419100"/>
          </a:xfrm>
          <a:prstGeom prst="ellipse">
            <a:avLst/>
          </a:prstGeom>
          <a:solidFill>
            <a:srgbClr val="F59E0B">
              <a:alpha val="20000"/>
            </a:srgbClr>
          </a:solidFill>
          <a:ln w="19050">
            <a:solidFill>
              <a:srgbClr val="F59E0B"/>
            </a:solidFill>
          </a:ln>
        </p:spPr>
      </p:sp>
      <p:sp>
        <p:nvSpPr>
          <p:cNvPr id="26" name="TextBox 26"/>
          <p:cNvSpPr txBox="1"/>
          <p:nvPr/>
        </p:nvSpPr>
        <p:spPr>
          <a:xfrm>
            <a:off x="6520708" y="2704624"/>
            <a:ext cx="103084" cy="198120"/>
          </a:xfrm>
          <a:prstGeom prst="rect">
            <a:avLst/>
          </a:prstGeom>
          <a:noFill/>
          <a:ln>
            <a:noFill/>
          </a:ln>
        </p:spPr>
        <p:txBody>
          <a:bodyPr wrap="none" lIns="0" tIns="0" rIns="0" bIns="0" anchor="t" anchorCtr="0">
            <a:spAutoFit/>
          </a:bodyPr>
          <a:lstStyle/>
          <a:p>
            <a:pPr algn="ctr"/>
            <a:r>
              <a:rPr lang="zh-CN" sz="975" dirty="0">
                <a:solidFill>
                  <a:srgbClr val="F59E0B"/>
                </a:solidFill>
                <a:latin typeface="Consolas"/>
                <a:ea typeface="Microsoft YaHei"/>
                <a:cs typeface="Consolas"/>
              </a:rPr>
              <a:t>y</a:t>
            </a:r>
          </a:p>
        </p:txBody>
      </p:sp>
      <p:sp>
        <p:nvSpPr>
          <p:cNvPr id="27" name="TextBox 27"/>
          <p:cNvSpPr txBox="1"/>
          <p:nvPr/>
        </p:nvSpPr>
        <p:spPr>
          <a:xfrm>
            <a:off x="7319962" y="1783556"/>
            <a:ext cx="787670" cy="228600"/>
          </a:xfrm>
          <a:prstGeom prst="rect">
            <a:avLst/>
          </a:prstGeom>
          <a:noFill/>
          <a:ln>
            <a:noFill/>
          </a:ln>
        </p:spPr>
        <p:txBody>
          <a:bodyPr wrap="none" lIns="0" tIns="0" rIns="0" bIns="0" anchor="t" anchorCtr="0">
            <a:spAutoFit/>
          </a:bodyPr>
          <a:lstStyle/>
          <a:p>
            <a:pPr algn="l"/>
            <a:r>
              <a:rPr lang="zh-CN" sz="1125" b="1" dirty="0">
                <a:solidFill>
                  <a:srgbClr val="F1F5F9"/>
                </a:solidFill>
                <a:latin typeface="Arial"/>
                <a:ea typeface="Microsoft YaHei"/>
                <a:cs typeface="Arial"/>
              </a:rPr>
              <a:t>Process:</a:t>
            </a:r>
          </a:p>
        </p:txBody>
      </p:sp>
      <p:sp>
        <p:nvSpPr>
          <p:cNvPr id="28" name="TextBox 28"/>
          <p:cNvSpPr txBox="1"/>
          <p:nvPr/>
        </p:nvSpPr>
        <p:spPr>
          <a:xfrm>
            <a:off x="7320915" y="2058352"/>
            <a:ext cx="228095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1. Inputs multiplied by weights</a:t>
            </a:r>
          </a:p>
        </p:txBody>
      </p:sp>
      <p:sp>
        <p:nvSpPr>
          <p:cNvPr id="29" name="TextBox 29"/>
          <p:cNvSpPr txBox="1"/>
          <p:nvPr/>
        </p:nvSpPr>
        <p:spPr>
          <a:xfrm>
            <a:off x="7320915" y="2286952"/>
            <a:ext cx="2035588"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2. Weighted values summed</a:t>
            </a:r>
          </a:p>
        </p:txBody>
      </p:sp>
      <p:sp>
        <p:nvSpPr>
          <p:cNvPr id="30" name="TextBox 30"/>
          <p:cNvSpPr txBox="1"/>
          <p:nvPr/>
        </p:nvSpPr>
        <p:spPr>
          <a:xfrm>
            <a:off x="7320915" y="2515552"/>
            <a:ext cx="225028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3. Activation function applied</a:t>
            </a:r>
          </a:p>
        </p:txBody>
      </p:sp>
      <p:sp>
        <p:nvSpPr>
          <p:cNvPr id="31" name="TextBox 31"/>
          <p:cNvSpPr txBox="1"/>
          <p:nvPr/>
        </p:nvSpPr>
        <p:spPr>
          <a:xfrm>
            <a:off x="7320915" y="2744152"/>
            <a:ext cx="245730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4. If sum &gt; threshold: output = 1</a:t>
            </a:r>
          </a:p>
        </p:txBody>
      </p:sp>
      <p:sp>
        <p:nvSpPr>
          <p:cNvPr id="32" name="TextBox 32"/>
          <p:cNvSpPr txBox="1"/>
          <p:nvPr/>
        </p:nvSpPr>
        <p:spPr>
          <a:xfrm>
            <a:off x="7539990" y="2972752"/>
            <a:ext cx="232695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If sum &lt; threshold: output = -1</a:t>
            </a:r>
          </a:p>
        </p:txBody>
      </p:sp>
      <p:sp>
        <p:nvSpPr>
          <p:cNvPr id="33" name="Rectangle 33"/>
          <p:cNvSpPr/>
          <p:nvPr/>
        </p:nvSpPr>
        <p:spPr>
          <a:xfrm>
            <a:off x="571500" y="4095750"/>
            <a:ext cx="5334000" cy="2286000"/>
          </a:xfrm>
          <a:prstGeom prst="roundRect">
            <a:avLst>
              <a:gd name="adj" fmla="val 5000"/>
            </a:avLst>
          </a:prstGeom>
          <a:solidFill>
            <a:srgbClr val="1E293B"/>
          </a:solidFill>
          <a:ln w="9525">
            <a:solidFill>
              <a:srgbClr val="334155"/>
            </a:solidFill>
          </a:ln>
        </p:spPr>
      </p:sp>
      <p:sp>
        <p:nvSpPr>
          <p:cNvPr id="34" name="Rectangle 34"/>
          <p:cNvSpPr/>
          <p:nvPr/>
        </p:nvSpPr>
        <p:spPr>
          <a:xfrm>
            <a:off x="571500" y="4095750"/>
            <a:ext cx="5334000" cy="47625"/>
          </a:xfrm>
          <a:prstGeom prst="roundRect">
            <a:avLst>
              <a:gd name="adj" fmla="val 50000"/>
            </a:avLst>
          </a:prstGeom>
          <a:solidFill>
            <a:srgbClr val="22D3EE"/>
          </a:solidFill>
          <a:ln>
            <a:noFill/>
          </a:ln>
        </p:spPr>
      </p:sp>
      <p:sp>
        <p:nvSpPr>
          <p:cNvPr id="35" name="TextBox 35"/>
          <p:cNvSpPr txBox="1"/>
          <p:nvPr/>
        </p:nvSpPr>
        <p:spPr>
          <a:xfrm>
            <a:off x="935355" y="4311968"/>
            <a:ext cx="1017663" cy="274320"/>
          </a:xfrm>
          <a:prstGeom prst="rect">
            <a:avLst/>
          </a:prstGeom>
          <a:noFill/>
          <a:ln>
            <a:noFill/>
          </a:ln>
        </p:spPr>
        <p:txBody>
          <a:bodyPr wrap="none" lIns="0" tIns="0" rIns="0" bIns="0" anchor="t" anchorCtr="0">
            <a:spAutoFit/>
          </a:bodyPr>
          <a:lstStyle/>
          <a:p>
            <a:pPr algn="l"/>
            <a:r>
              <a:rPr lang="zh-CN" sz="1350" b="1" dirty="0">
                <a:solidFill>
                  <a:srgbClr val="22D3EE"/>
                </a:solidFill>
                <a:latin typeface="Georgia"/>
                <a:ea typeface="Microsoft YaHei"/>
                <a:cs typeface="Georgia"/>
              </a:rPr>
              <a:t>Delta Rule</a:t>
            </a:r>
          </a:p>
        </p:txBody>
      </p:sp>
      <p:sp>
        <p:nvSpPr>
          <p:cNvPr id="36" name="TextBox 36"/>
          <p:cNvSpPr txBox="1"/>
          <p:nvPr/>
        </p:nvSpPr>
        <p:spPr>
          <a:xfrm>
            <a:off x="938212" y="4622006"/>
            <a:ext cx="306002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Compare outputs with intended values</a:t>
            </a:r>
          </a:p>
        </p:txBody>
      </p:sp>
      <p:sp>
        <p:nvSpPr>
          <p:cNvPr id="37" name="TextBox 37"/>
          <p:cNvSpPr txBox="1"/>
          <p:nvPr/>
        </p:nvSpPr>
        <p:spPr>
          <a:xfrm>
            <a:off x="938212" y="4850606"/>
            <a:ext cx="289571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to adjust weights through training.</a:t>
            </a:r>
          </a:p>
        </p:txBody>
      </p:sp>
      <p:sp>
        <p:nvSpPr>
          <p:cNvPr id="38" name="TextBox 38"/>
          <p:cNvSpPr txBox="1"/>
          <p:nvPr/>
        </p:nvSpPr>
        <p:spPr>
          <a:xfrm>
            <a:off x="938212" y="5079206"/>
            <a:ext cx="343793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This produces a form of gradient descent.</a:t>
            </a:r>
          </a:p>
        </p:txBody>
      </p:sp>
      <p:sp>
        <p:nvSpPr>
          <p:cNvPr id="39" name="TextBox 39"/>
          <p:cNvSpPr txBox="1"/>
          <p:nvPr/>
        </p:nvSpPr>
        <p:spPr>
          <a:xfrm>
            <a:off x="938212" y="5422106"/>
            <a:ext cx="348722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In multi-layered perceptrons, this process</a:t>
            </a:r>
          </a:p>
        </p:txBody>
      </p:sp>
      <p:sp>
        <p:nvSpPr>
          <p:cNvPr id="40" name="TextBox 40"/>
          <p:cNvSpPr txBox="1"/>
          <p:nvPr/>
        </p:nvSpPr>
        <p:spPr>
          <a:xfrm>
            <a:off x="938212" y="5650706"/>
            <a:ext cx="249316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is defined as backpropagation.</a:t>
            </a:r>
          </a:p>
        </p:txBody>
      </p:sp>
      <p:sp>
        <p:nvSpPr>
          <p:cNvPr id="41" name="Rectangle 41"/>
          <p:cNvSpPr/>
          <p:nvPr/>
        </p:nvSpPr>
        <p:spPr>
          <a:xfrm>
            <a:off x="6286500" y="4095750"/>
            <a:ext cx="5334000" cy="2286000"/>
          </a:xfrm>
          <a:prstGeom prst="roundRect">
            <a:avLst>
              <a:gd name="adj" fmla="val 5000"/>
            </a:avLst>
          </a:prstGeom>
          <a:solidFill>
            <a:srgbClr val="1E293B"/>
          </a:solidFill>
          <a:ln w="9525">
            <a:solidFill>
              <a:srgbClr val="334155"/>
            </a:solidFill>
          </a:ln>
        </p:spPr>
      </p:sp>
      <p:sp>
        <p:nvSpPr>
          <p:cNvPr id="42" name="Rectangle 42"/>
          <p:cNvSpPr/>
          <p:nvPr/>
        </p:nvSpPr>
        <p:spPr>
          <a:xfrm>
            <a:off x="6286500" y="4095750"/>
            <a:ext cx="5334000" cy="47625"/>
          </a:xfrm>
          <a:prstGeom prst="roundRect">
            <a:avLst>
              <a:gd name="adj" fmla="val 50000"/>
            </a:avLst>
          </a:prstGeom>
          <a:solidFill>
            <a:srgbClr val="8B5CF6"/>
          </a:solidFill>
          <a:ln>
            <a:noFill/>
          </a:ln>
        </p:spPr>
      </p:sp>
      <p:sp>
        <p:nvSpPr>
          <p:cNvPr id="43" name="TextBox 43"/>
          <p:cNvSpPr txBox="1"/>
          <p:nvPr/>
        </p:nvSpPr>
        <p:spPr>
          <a:xfrm>
            <a:off x="6650355" y="4311968"/>
            <a:ext cx="2539303" cy="274320"/>
          </a:xfrm>
          <a:prstGeom prst="rect">
            <a:avLst/>
          </a:prstGeom>
          <a:noFill/>
          <a:ln>
            <a:noFill/>
          </a:ln>
        </p:spPr>
        <p:txBody>
          <a:bodyPr wrap="none" lIns="0" tIns="0" rIns="0" bIns="0" anchor="t" anchorCtr="0">
            <a:spAutoFit/>
          </a:bodyPr>
          <a:lstStyle/>
          <a:p>
            <a:pPr algn="l"/>
            <a:r>
              <a:rPr lang="zh-CN" sz="1350" b="1" dirty="0">
                <a:solidFill>
                  <a:srgbClr val="8B5CF6"/>
                </a:solidFill>
                <a:latin typeface="Georgia"/>
                <a:ea typeface="Microsoft YaHei"/>
                <a:cs typeface="Georgia"/>
              </a:rPr>
              <a:t>Multi-Layer Perceptrons</a:t>
            </a:r>
          </a:p>
        </p:txBody>
      </p:sp>
      <p:sp>
        <p:nvSpPr>
          <p:cNvPr id="44" name="TextBox 44"/>
          <p:cNvSpPr txBox="1"/>
          <p:nvPr/>
        </p:nvSpPr>
        <p:spPr>
          <a:xfrm>
            <a:off x="6653212" y="4622006"/>
            <a:ext cx="295322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Each hidden layer adjusted according</a:t>
            </a:r>
          </a:p>
        </p:txBody>
      </p:sp>
      <p:sp>
        <p:nvSpPr>
          <p:cNvPr id="45" name="TextBox 45"/>
          <p:cNvSpPr txBox="1"/>
          <p:nvPr/>
        </p:nvSpPr>
        <p:spPr>
          <a:xfrm>
            <a:off x="6653212" y="4850606"/>
            <a:ext cx="308467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to output values from the final layer.</a:t>
            </a:r>
          </a:p>
        </p:txBody>
      </p:sp>
      <p:sp>
        <p:nvSpPr>
          <p:cNvPr id="46" name="TextBox 46"/>
          <p:cNvSpPr txBox="1"/>
          <p:nvPr/>
        </p:nvSpPr>
        <p:spPr>
          <a:xfrm>
            <a:off x="6653212" y="5193506"/>
            <a:ext cx="269033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Weight updating follows the same</a:t>
            </a:r>
          </a:p>
        </p:txBody>
      </p:sp>
      <p:sp>
        <p:nvSpPr>
          <p:cNvPr id="47" name="TextBox 47"/>
          <p:cNvSpPr txBox="1"/>
          <p:nvPr/>
        </p:nvSpPr>
        <p:spPr>
          <a:xfrm>
            <a:off x="6653212" y="5422106"/>
            <a:ext cx="329826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principle but propagates error backward</a:t>
            </a:r>
          </a:p>
        </p:txBody>
      </p:sp>
      <p:sp>
        <p:nvSpPr>
          <p:cNvPr id="48" name="TextBox 48"/>
          <p:cNvSpPr txBox="1"/>
          <p:nvPr/>
        </p:nvSpPr>
        <p:spPr>
          <a:xfrm>
            <a:off x="6653212" y="5650706"/>
            <a:ext cx="262461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through all intermediate layers.</a:t>
            </a:r>
          </a:p>
        </p:txBody>
      </p:sp>
      <p:sp>
        <p:nvSpPr>
          <p:cNvPr id="49" name="TextBox 49"/>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05</a:t>
            </a:r>
          </a:p>
        </p:txBody>
      </p:sp>
      <p:pic>
        <p:nvPicPr>
          <p:cNvPr id="50" name="narration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45356">
    <p:fade/>
  </p:transition>
  <p:timing>
    <p:tnLst>
      <p:par>
        <p:cTn id="1" dur="indefinite" restart="never" nodeType="tmRoot">
          <p:childTnLst>
            <p:audio>
              <p:cMediaNode vol="80000">
                <p:cTn id="2" fill="hold" display="0">
                  <p:stCondLst>
                    <p:cond delay="0"/>
                  </p:stCondLst>
                </p:cTn>
                <p:tgtEl>
                  <p:spTgt spid="5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6858000"/>
          </a:xfrm>
          <a:prstGeom prst="rect">
            <a:avLst/>
          </a:prstGeom>
          <a:gradFill>
            <a:gsLst>
              <a:gs pos="0">
                <a:srgbClr val="3B82F6">
                  <a:alpha val="12000"/>
                </a:srgbClr>
              </a:gs>
              <a:gs pos="100000">
                <a:srgbClr val="3B82F6">
                  <a:alpha val="0"/>
                </a:srgbClr>
              </a:gs>
            </a:gsLst>
            <a:path path="circle">
              <a:fillToRect l="50000" t="50000" r="50000" b="50000"/>
            </a:path>
          </a:gradFill>
          <a:ln>
            <a:noFill/>
          </a:ln>
        </p:spPr>
      </p:sp>
      <p:sp>
        <p:nvSpPr>
          <p:cNvPr id="4" name="Rectangle 4"/>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5" name="TextBox 5"/>
          <p:cNvSpPr txBox="1"/>
          <p:nvPr/>
        </p:nvSpPr>
        <p:spPr>
          <a:xfrm>
            <a:off x="542925" y="614362"/>
            <a:ext cx="6612969"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Applications of Feed Forward Networks</a:t>
            </a:r>
          </a:p>
        </p:txBody>
      </p:sp>
      <p:sp>
        <p:nvSpPr>
          <p:cNvPr id="6" name="Ellipse 6"/>
          <p:cNvSpPr/>
          <p:nvPr/>
        </p:nvSpPr>
        <p:spPr>
          <a:xfrm>
            <a:off x="5143500" y="2476500"/>
            <a:ext cx="1905000" cy="1905000"/>
          </a:xfrm>
          <a:prstGeom prst="ellipse">
            <a:avLst/>
          </a:prstGeom>
          <a:solidFill>
            <a:srgbClr val="1E293B"/>
          </a:solidFill>
          <a:ln w="19050">
            <a:solidFill>
              <a:srgbClr val="3B82F6"/>
            </a:solidFill>
          </a:ln>
        </p:spPr>
      </p:sp>
      <p:sp>
        <p:nvSpPr>
          <p:cNvPr id="7" name="Ellipse 7"/>
          <p:cNvSpPr/>
          <p:nvPr/>
        </p:nvSpPr>
        <p:spPr>
          <a:xfrm>
            <a:off x="5286375" y="2619375"/>
            <a:ext cx="1619250" cy="1619250"/>
          </a:xfrm>
          <a:prstGeom prst="ellipse">
            <a:avLst/>
          </a:prstGeom>
          <a:solidFill>
            <a:srgbClr val="0F172A"/>
          </a:solidFill>
          <a:ln w="9525">
            <a:solidFill>
              <a:srgbClr val="334155"/>
            </a:solidFill>
          </a:ln>
        </p:spPr>
      </p:sp>
      <p:grpSp>
        <p:nvGrpSpPr>
          <p:cNvPr id="12" name="Group 12"/>
          <p:cNvGrpSpPr/>
          <p:nvPr/>
        </p:nvGrpSpPr>
        <p:grpSpPr>
          <a:xfrm>
            <a:off x="5842000" y="3098800"/>
            <a:ext cx="508000" cy="508000"/>
            <a:chOff x="5842000" y="3098800"/>
            <a:chExt cx="508000" cy="508000"/>
          </a:xfrm>
        </p:grpSpPr>
        <p:sp>
          <p:nvSpPr>
            <p:cNvPr id="8" name="Freeform 8"/>
            <p:cNvSpPr/>
            <p:nvPr/>
          </p:nvSpPr>
          <p:spPr>
            <a:xfrm>
              <a:off x="5842000" y="3403600"/>
              <a:ext cx="203200" cy="203200"/>
            </a:xfrm>
            <a:custGeom>
              <a:avLst/>
              <a:gdLst/>
              <a:ahLst/>
              <a:cxnLst/>
              <a:rect l="l" t="t" r="r" b="b"/>
              <a:pathLst>
                <a:path w="203200" h="203200">
                  <a:moveTo>
                    <a:pt x="0" y="67742"/>
                  </a:moveTo>
                  <a:cubicBezTo>
                    <a:pt x="0" y="30329"/>
                    <a:pt x="30329" y="0"/>
                    <a:pt x="67742" y="0"/>
                  </a:cubicBezTo>
                  <a:lnTo>
                    <a:pt x="135458" y="0"/>
                  </a:lnTo>
                  <a:cubicBezTo>
                    <a:pt x="172871" y="0"/>
                    <a:pt x="203200" y="30329"/>
                    <a:pt x="203200" y="67742"/>
                  </a:cubicBezTo>
                  <a:lnTo>
                    <a:pt x="203200" y="135458"/>
                  </a:lnTo>
                  <a:cubicBezTo>
                    <a:pt x="203200" y="172871"/>
                    <a:pt x="172871" y="203200"/>
                    <a:pt x="135458" y="203200"/>
                  </a:cubicBezTo>
                  <a:lnTo>
                    <a:pt x="67742" y="203200"/>
                  </a:lnTo>
                  <a:cubicBezTo>
                    <a:pt x="49776" y="203200"/>
                    <a:pt x="32545" y="196063"/>
                    <a:pt x="19841" y="183359"/>
                  </a:cubicBezTo>
                  <a:cubicBezTo>
                    <a:pt x="7137" y="170655"/>
                    <a:pt x="0" y="153424"/>
                    <a:pt x="0" y="135458"/>
                  </a:cubicBezTo>
                  <a:close/>
                </a:path>
              </a:pathLst>
            </a:custGeom>
            <a:solidFill>
              <a:srgbClr val="3B82F6"/>
            </a:solidFill>
            <a:ln>
              <a:noFill/>
            </a:ln>
          </p:spPr>
        </p:sp>
        <p:sp>
          <p:nvSpPr>
            <p:cNvPr id="9" name="Freeform 9"/>
            <p:cNvSpPr/>
            <p:nvPr/>
          </p:nvSpPr>
          <p:spPr>
            <a:xfrm>
              <a:off x="6146800" y="3403600"/>
              <a:ext cx="203200" cy="203200"/>
            </a:xfrm>
            <a:custGeom>
              <a:avLst/>
              <a:gdLst/>
              <a:ahLst/>
              <a:cxnLst/>
              <a:rect l="l" t="t" r="r" b="b"/>
              <a:pathLst>
                <a:path w="203200" h="203200">
                  <a:moveTo>
                    <a:pt x="0" y="67742"/>
                  </a:moveTo>
                  <a:cubicBezTo>
                    <a:pt x="0" y="49776"/>
                    <a:pt x="7137" y="32545"/>
                    <a:pt x="19841" y="19841"/>
                  </a:cubicBezTo>
                  <a:cubicBezTo>
                    <a:pt x="32545" y="7137"/>
                    <a:pt x="49776" y="0"/>
                    <a:pt x="67742" y="0"/>
                  </a:cubicBezTo>
                  <a:lnTo>
                    <a:pt x="135458" y="0"/>
                  </a:lnTo>
                  <a:cubicBezTo>
                    <a:pt x="172871" y="0"/>
                    <a:pt x="203200" y="30329"/>
                    <a:pt x="203200" y="67742"/>
                  </a:cubicBezTo>
                  <a:lnTo>
                    <a:pt x="203200" y="135458"/>
                  </a:lnTo>
                  <a:cubicBezTo>
                    <a:pt x="203200" y="172871"/>
                    <a:pt x="172871" y="203200"/>
                    <a:pt x="135458" y="203200"/>
                  </a:cubicBezTo>
                  <a:lnTo>
                    <a:pt x="67742" y="203200"/>
                  </a:lnTo>
                  <a:cubicBezTo>
                    <a:pt x="49776" y="203200"/>
                    <a:pt x="32545" y="196063"/>
                    <a:pt x="19841" y="183359"/>
                  </a:cubicBezTo>
                  <a:cubicBezTo>
                    <a:pt x="7137" y="170655"/>
                    <a:pt x="0" y="153424"/>
                    <a:pt x="0" y="135458"/>
                  </a:cubicBezTo>
                  <a:close/>
                </a:path>
              </a:pathLst>
            </a:custGeom>
            <a:solidFill>
              <a:srgbClr val="3B82F6"/>
            </a:solidFill>
            <a:ln>
              <a:noFill/>
            </a:ln>
          </p:spPr>
        </p:sp>
        <p:sp>
          <p:nvSpPr>
            <p:cNvPr id="10" name="Freeform 10"/>
            <p:cNvSpPr/>
            <p:nvPr/>
          </p:nvSpPr>
          <p:spPr>
            <a:xfrm>
              <a:off x="5994400" y="3098800"/>
              <a:ext cx="203200" cy="203200"/>
            </a:xfrm>
            <a:custGeom>
              <a:avLst/>
              <a:gdLst/>
              <a:ahLst/>
              <a:cxnLst/>
              <a:rect l="l" t="t" r="r" b="b"/>
              <a:pathLst>
                <a:path w="203200" h="203200">
                  <a:moveTo>
                    <a:pt x="0" y="67742"/>
                  </a:moveTo>
                  <a:cubicBezTo>
                    <a:pt x="0" y="30329"/>
                    <a:pt x="30329" y="0"/>
                    <a:pt x="67742" y="0"/>
                  </a:cubicBezTo>
                  <a:lnTo>
                    <a:pt x="135458" y="0"/>
                  </a:lnTo>
                  <a:cubicBezTo>
                    <a:pt x="172871" y="0"/>
                    <a:pt x="203200" y="30329"/>
                    <a:pt x="203200" y="67742"/>
                  </a:cubicBezTo>
                  <a:lnTo>
                    <a:pt x="203200" y="135458"/>
                  </a:lnTo>
                  <a:cubicBezTo>
                    <a:pt x="203200" y="172871"/>
                    <a:pt x="172871" y="203200"/>
                    <a:pt x="135458" y="203200"/>
                  </a:cubicBezTo>
                  <a:lnTo>
                    <a:pt x="67742" y="203200"/>
                  </a:lnTo>
                  <a:cubicBezTo>
                    <a:pt x="30329" y="203200"/>
                    <a:pt x="0" y="172871"/>
                    <a:pt x="0" y="135458"/>
                  </a:cubicBezTo>
                  <a:close/>
                </a:path>
              </a:pathLst>
            </a:custGeom>
            <a:solidFill>
              <a:srgbClr val="3B82F6"/>
            </a:solidFill>
            <a:ln>
              <a:noFill/>
            </a:ln>
          </p:spPr>
        </p:sp>
        <p:sp>
          <p:nvSpPr>
            <p:cNvPr id="11" name="Freeform 11"/>
            <p:cNvSpPr/>
            <p:nvPr/>
          </p:nvSpPr>
          <p:spPr>
            <a:xfrm>
              <a:off x="5918200" y="3251200"/>
              <a:ext cx="355600" cy="203200"/>
            </a:xfrm>
            <a:custGeom>
              <a:avLst/>
              <a:gdLst/>
              <a:ahLst/>
              <a:cxnLst/>
              <a:rect l="l" t="t" r="r" b="b"/>
              <a:pathLst>
                <a:path w="355600" h="203200">
                  <a:moveTo>
                    <a:pt x="177800" y="0"/>
                  </a:moveTo>
                  <a:cubicBezTo>
                    <a:pt x="163772" y="0"/>
                    <a:pt x="152400" y="11372"/>
                    <a:pt x="152400" y="25400"/>
                  </a:cubicBezTo>
                  <a:lnTo>
                    <a:pt x="152400" y="76200"/>
                  </a:lnTo>
                  <a:lnTo>
                    <a:pt x="76200" y="76200"/>
                  </a:lnTo>
                  <a:cubicBezTo>
                    <a:pt x="34417" y="76200"/>
                    <a:pt x="0" y="110617"/>
                    <a:pt x="0" y="152400"/>
                  </a:cubicBezTo>
                  <a:lnTo>
                    <a:pt x="0" y="177800"/>
                  </a:lnTo>
                  <a:cubicBezTo>
                    <a:pt x="0" y="191828"/>
                    <a:pt x="11372" y="203200"/>
                    <a:pt x="25400" y="203200"/>
                  </a:cubicBezTo>
                  <a:cubicBezTo>
                    <a:pt x="39428" y="203200"/>
                    <a:pt x="50800" y="191828"/>
                    <a:pt x="50800" y="177800"/>
                  </a:cubicBezTo>
                  <a:lnTo>
                    <a:pt x="50800" y="152400"/>
                  </a:lnTo>
                  <a:cubicBezTo>
                    <a:pt x="50800" y="138074"/>
                    <a:pt x="61874" y="127000"/>
                    <a:pt x="76200" y="127000"/>
                  </a:cubicBezTo>
                  <a:lnTo>
                    <a:pt x="279400" y="127000"/>
                  </a:lnTo>
                  <a:cubicBezTo>
                    <a:pt x="293726" y="127000"/>
                    <a:pt x="304800" y="138074"/>
                    <a:pt x="304800" y="152400"/>
                  </a:cubicBezTo>
                  <a:lnTo>
                    <a:pt x="304800" y="177800"/>
                  </a:lnTo>
                  <a:cubicBezTo>
                    <a:pt x="304800" y="191828"/>
                    <a:pt x="316172" y="203200"/>
                    <a:pt x="330200" y="203200"/>
                  </a:cubicBezTo>
                  <a:cubicBezTo>
                    <a:pt x="344228" y="203200"/>
                    <a:pt x="355600" y="191828"/>
                    <a:pt x="355600" y="177800"/>
                  </a:cubicBezTo>
                  <a:lnTo>
                    <a:pt x="355600" y="152400"/>
                  </a:lnTo>
                  <a:cubicBezTo>
                    <a:pt x="355600" y="110617"/>
                    <a:pt x="321183" y="76200"/>
                    <a:pt x="279400" y="76200"/>
                  </a:cubicBezTo>
                  <a:lnTo>
                    <a:pt x="203200" y="76200"/>
                  </a:lnTo>
                  <a:lnTo>
                    <a:pt x="203200" y="25400"/>
                  </a:lnTo>
                  <a:cubicBezTo>
                    <a:pt x="203200" y="11372"/>
                    <a:pt x="191828" y="0"/>
                    <a:pt x="177800" y="0"/>
                  </a:cubicBezTo>
                  <a:close/>
                </a:path>
              </a:pathLst>
            </a:custGeom>
            <a:solidFill>
              <a:srgbClr val="3B82F6"/>
            </a:solidFill>
            <a:ln>
              <a:noFill/>
            </a:ln>
          </p:spPr>
        </p:sp>
      </p:grpSp>
      <p:sp>
        <p:nvSpPr>
          <p:cNvPr id="13" name="TextBox 13"/>
          <p:cNvSpPr txBox="1"/>
          <p:nvPr/>
        </p:nvSpPr>
        <p:spPr>
          <a:xfrm>
            <a:off x="5788803" y="3791902"/>
            <a:ext cx="614393" cy="213360"/>
          </a:xfrm>
          <a:prstGeom prst="rect">
            <a:avLst/>
          </a:prstGeom>
          <a:noFill/>
          <a:ln>
            <a:noFill/>
          </a:ln>
        </p:spPr>
        <p:txBody>
          <a:bodyPr wrap="none" lIns="0" tIns="0" rIns="0" bIns="0" anchor="t" anchorCtr="0">
            <a:spAutoFit/>
          </a:bodyPr>
          <a:lstStyle/>
          <a:p>
            <a:pPr algn="ctr"/>
            <a:r>
              <a:rPr lang="zh-CN" sz="1050" b="1" dirty="0">
                <a:solidFill>
                  <a:srgbClr val="22D3EE"/>
                </a:solidFill>
                <a:latin typeface="Georgia"/>
                <a:ea typeface="Microsoft YaHei"/>
                <a:cs typeface="Georgia"/>
              </a:rPr>
              <a:t>Parallel</a:t>
            </a:r>
          </a:p>
        </p:txBody>
      </p:sp>
      <p:sp>
        <p:nvSpPr>
          <p:cNvPr id="14" name="TextBox 14"/>
          <p:cNvSpPr txBox="1"/>
          <p:nvPr/>
        </p:nvSpPr>
        <p:spPr>
          <a:xfrm>
            <a:off x="5659987" y="3963352"/>
            <a:ext cx="872026" cy="213360"/>
          </a:xfrm>
          <a:prstGeom prst="rect">
            <a:avLst/>
          </a:prstGeom>
          <a:noFill/>
          <a:ln>
            <a:noFill/>
          </a:ln>
        </p:spPr>
        <p:txBody>
          <a:bodyPr wrap="none" lIns="0" tIns="0" rIns="0" bIns="0" anchor="t" anchorCtr="0">
            <a:spAutoFit/>
          </a:bodyPr>
          <a:lstStyle/>
          <a:p>
            <a:pPr algn="ctr"/>
            <a:r>
              <a:rPr lang="zh-CN" sz="1050" b="1" dirty="0">
                <a:solidFill>
                  <a:srgbClr val="22D3EE"/>
                </a:solidFill>
                <a:latin typeface="Georgia"/>
                <a:ea typeface="Microsoft YaHei"/>
                <a:cs typeface="Georgia"/>
              </a:rPr>
              <a:t>Processing</a:t>
            </a:r>
          </a:p>
        </p:txBody>
      </p:sp>
      <p:sp>
        <p:nvSpPr>
          <p:cNvPr id="15" name="Line 15"/>
          <p:cNvSpPr/>
          <p:nvPr/>
        </p:nvSpPr>
        <p:spPr>
          <a:xfrm>
            <a:off x="2476500" y="2000250"/>
            <a:ext cx="2667000" cy="952500"/>
          </a:xfrm>
          <a:custGeom>
            <a:avLst/>
            <a:gdLst/>
            <a:ahLst/>
            <a:cxnLst/>
            <a:rect l="l" t="t" r="r" b="b"/>
            <a:pathLst>
              <a:path w="2667000" h="952500">
                <a:moveTo>
                  <a:pt x="2667000" y="952500"/>
                </a:moveTo>
                <a:lnTo>
                  <a:pt x="0" y="0"/>
                </a:lnTo>
              </a:path>
            </a:pathLst>
          </a:custGeom>
          <a:noFill/>
          <a:ln w="14288">
            <a:solidFill>
              <a:srgbClr val="3B82F6">
                <a:alpha val="40000"/>
              </a:srgbClr>
            </a:solidFill>
          </a:ln>
        </p:spPr>
      </p:sp>
      <p:sp>
        <p:nvSpPr>
          <p:cNvPr id="16" name="Ellipse 16"/>
          <p:cNvSpPr/>
          <p:nvPr/>
        </p:nvSpPr>
        <p:spPr>
          <a:xfrm>
            <a:off x="1428750" y="1238250"/>
            <a:ext cx="1143000" cy="1143000"/>
          </a:xfrm>
          <a:prstGeom prst="ellipse">
            <a:avLst/>
          </a:prstGeom>
          <a:solidFill>
            <a:srgbClr val="1E293B"/>
          </a:solidFill>
          <a:ln w="9525">
            <a:solidFill>
              <a:srgbClr val="334155"/>
            </a:solidFill>
          </a:ln>
        </p:spPr>
      </p:sp>
      <p:sp>
        <p:nvSpPr>
          <p:cNvPr id="17" name="Freeform 17"/>
          <p:cNvSpPr/>
          <p:nvPr/>
        </p:nvSpPr>
        <p:spPr>
          <a:xfrm>
            <a:off x="1820370" y="1539872"/>
            <a:ext cx="342391" cy="354316"/>
          </a:xfrm>
          <a:custGeom>
            <a:avLst/>
            <a:gdLst/>
            <a:ahLst/>
            <a:cxnLst/>
            <a:rect l="l" t="t" r="r" b="b"/>
            <a:pathLst>
              <a:path w="342391" h="354316">
                <a:moveTo>
                  <a:pt x="211630" y="3"/>
                </a:moveTo>
                <a:cubicBezTo>
                  <a:pt x="229916" y="0"/>
                  <a:pt x="246590" y="10467"/>
                  <a:pt x="254534" y="26938"/>
                </a:cubicBezTo>
                <a:cubicBezTo>
                  <a:pt x="262479" y="43409"/>
                  <a:pt x="260291" y="62974"/>
                  <a:pt x="248904" y="77283"/>
                </a:cubicBezTo>
                <a:lnTo>
                  <a:pt x="280654" y="128130"/>
                </a:lnTo>
                <a:cubicBezTo>
                  <a:pt x="284009" y="127379"/>
                  <a:pt x="287459" y="127003"/>
                  <a:pt x="291005" y="127003"/>
                </a:cubicBezTo>
                <a:cubicBezTo>
                  <a:pt x="313220" y="127000"/>
                  <a:pt x="332487" y="142356"/>
                  <a:pt x="337439" y="164013"/>
                </a:cubicBezTo>
                <a:cubicBezTo>
                  <a:pt x="342391" y="185670"/>
                  <a:pt x="331711" y="207873"/>
                  <a:pt x="311702" y="217524"/>
                </a:cubicBezTo>
                <a:cubicBezTo>
                  <a:pt x="291692" y="227176"/>
                  <a:pt x="267667" y="221710"/>
                  <a:pt x="253802" y="204353"/>
                </a:cubicBezTo>
                <a:cubicBezTo>
                  <a:pt x="239936" y="186995"/>
                  <a:pt x="239913" y="162357"/>
                  <a:pt x="253746" y="144974"/>
                </a:cubicBezTo>
                <a:lnTo>
                  <a:pt x="221996" y="94126"/>
                </a:lnTo>
                <a:cubicBezTo>
                  <a:pt x="215179" y="95644"/>
                  <a:pt x="208112" y="95644"/>
                  <a:pt x="201295" y="94126"/>
                </a:cubicBezTo>
                <a:lnTo>
                  <a:pt x="169529" y="144974"/>
                </a:lnTo>
                <a:cubicBezTo>
                  <a:pt x="176006" y="153118"/>
                  <a:pt x="179880" y="163421"/>
                  <a:pt x="179880" y="174628"/>
                </a:cubicBezTo>
                <a:cubicBezTo>
                  <a:pt x="179880" y="185836"/>
                  <a:pt x="176006" y="196155"/>
                  <a:pt x="169513" y="204283"/>
                </a:cubicBezTo>
                <a:lnTo>
                  <a:pt x="201295" y="255130"/>
                </a:lnTo>
                <a:cubicBezTo>
                  <a:pt x="204629" y="254379"/>
                  <a:pt x="208074" y="254003"/>
                  <a:pt x="211630" y="254003"/>
                </a:cubicBezTo>
                <a:cubicBezTo>
                  <a:pt x="233845" y="254000"/>
                  <a:pt x="253112" y="269356"/>
                  <a:pt x="258064" y="291013"/>
                </a:cubicBezTo>
                <a:cubicBezTo>
                  <a:pt x="263016" y="312670"/>
                  <a:pt x="252336" y="334873"/>
                  <a:pt x="232327" y="344524"/>
                </a:cubicBezTo>
                <a:cubicBezTo>
                  <a:pt x="212317" y="354176"/>
                  <a:pt x="188292" y="348710"/>
                  <a:pt x="174427" y="331353"/>
                </a:cubicBezTo>
                <a:cubicBezTo>
                  <a:pt x="160561" y="313995"/>
                  <a:pt x="160538" y="289357"/>
                  <a:pt x="174371" y="271974"/>
                </a:cubicBezTo>
                <a:lnTo>
                  <a:pt x="142573" y="221126"/>
                </a:lnTo>
                <a:cubicBezTo>
                  <a:pt x="135767" y="222639"/>
                  <a:pt x="128711" y="222639"/>
                  <a:pt x="121904" y="221126"/>
                </a:cubicBezTo>
                <a:lnTo>
                  <a:pt x="90122" y="271974"/>
                </a:lnTo>
                <a:cubicBezTo>
                  <a:pt x="104569" y="290121"/>
                  <a:pt x="103841" y="316036"/>
                  <a:pt x="88399" y="333343"/>
                </a:cubicBezTo>
                <a:cubicBezTo>
                  <a:pt x="72956" y="350651"/>
                  <a:pt x="47291" y="354316"/>
                  <a:pt x="27622" y="342022"/>
                </a:cubicBezTo>
                <a:cubicBezTo>
                  <a:pt x="7952" y="329729"/>
                  <a:pt x="0" y="305053"/>
                  <a:pt x="8790" y="283588"/>
                </a:cubicBezTo>
                <a:cubicBezTo>
                  <a:pt x="17580" y="262123"/>
                  <a:pt x="40556" y="250112"/>
                  <a:pt x="63198" y="255146"/>
                </a:cubicBezTo>
                <a:lnTo>
                  <a:pt x="94980" y="204283"/>
                </a:lnTo>
                <a:cubicBezTo>
                  <a:pt x="82398" y="188494"/>
                  <a:pt x="81138" y="166487"/>
                  <a:pt x="91836" y="149365"/>
                </a:cubicBezTo>
                <a:cubicBezTo>
                  <a:pt x="102535" y="132243"/>
                  <a:pt x="122866" y="123728"/>
                  <a:pt x="142573" y="128115"/>
                </a:cubicBezTo>
                <a:lnTo>
                  <a:pt x="174355" y="77283"/>
                </a:lnTo>
                <a:cubicBezTo>
                  <a:pt x="162969" y="62974"/>
                  <a:pt x="160781" y="43409"/>
                  <a:pt x="168725" y="26938"/>
                </a:cubicBezTo>
                <a:cubicBezTo>
                  <a:pt x="176670" y="10467"/>
                  <a:pt x="193343" y="0"/>
                  <a:pt x="211630" y="3"/>
                </a:cubicBezTo>
              </a:path>
            </a:pathLst>
          </a:custGeom>
          <a:solidFill>
            <a:srgbClr val="3B82F6"/>
          </a:solidFill>
          <a:ln>
            <a:noFill/>
          </a:ln>
        </p:spPr>
      </p:sp>
      <p:sp>
        <p:nvSpPr>
          <p:cNvPr id="18" name="TextBox 18"/>
          <p:cNvSpPr txBox="1"/>
          <p:nvPr/>
        </p:nvSpPr>
        <p:spPr>
          <a:xfrm>
            <a:off x="1554263" y="2037874"/>
            <a:ext cx="891973"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Independent</a:t>
            </a:r>
          </a:p>
        </p:txBody>
      </p:sp>
      <p:sp>
        <p:nvSpPr>
          <p:cNvPr id="19" name="TextBox 19"/>
          <p:cNvSpPr txBox="1"/>
          <p:nvPr/>
        </p:nvSpPr>
        <p:spPr>
          <a:xfrm>
            <a:off x="1643975" y="2190274"/>
            <a:ext cx="712551"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Networks</a:t>
            </a:r>
          </a:p>
        </p:txBody>
      </p:sp>
      <p:sp>
        <p:nvSpPr>
          <p:cNvPr id="20" name="Line 20"/>
          <p:cNvSpPr/>
          <p:nvPr/>
        </p:nvSpPr>
        <p:spPr>
          <a:xfrm>
            <a:off x="6096000" y="1428750"/>
            <a:ext cx="9525" cy="1047750"/>
          </a:xfrm>
          <a:custGeom>
            <a:avLst/>
            <a:gdLst/>
            <a:ahLst/>
            <a:cxnLst/>
            <a:rect l="l" t="t" r="r" b="b"/>
            <a:pathLst>
              <a:path w="9525" h="1047750">
                <a:moveTo>
                  <a:pt x="0" y="1047750"/>
                </a:moveTo>
                <a:lnTo>
                  <a:pt x="0" y="0"/>
                </a:lnTo>
              </a:path>
            </a:pathLst>
          </a:custGeom>
          <a:noFill/>
          <a:ln w="14288">
            <a:solidFill>
              <a:srgbClr val="22D3EE">
                <a:alpha val="40000"/>
              </a:srgbClr>
            </a:solidFill>
          </a:ln>
        </p:spPr>
      </p:sp>
      <p:sp>
        <p:nvSpPr>
          <p:cNvPr id="21" name="Ellipse 21"/>
          <p:cNvSpPr/>
          <p:nvPr/>
        </p:nvSpPr>
        <p:spPr>
          <a:xfrm>
            <a:off x="5524500" y="666750"/>
            <a:ext cx="1143000" cy="1143000"/>
          </a:xfrm>
          <a:prstGeom prst="ellipse">
            <a:avLst/>
          </a:prstGeom>
          <a:solidFill>
            <a:srgbClr val="1E293B"/>
          </a:solidFill>
          <a:ln w="9525">
            <a:solidFill>
              <a:srgbClr val="334155"/>
            </a:solidFill>
          </a:ln>
        </p:spPr>
      </p:sp>
      <p:grpSp>
        <p:nvGrpSpPr>
          <p:cNvPr id="25" name="Group 25"/>
          <p:cNvGrpSpPr/>
          <p:nvPr/>
        </p:nvGrpSpPr>
        <p:grpSpPr>
          <a:xfrm>
            <a:off x="5953120" y="1000103"/>
            <a:ext cx="295041" cy="295003"/>
            <a:chOff x="5953120" y="1000103"/>
            <a:chExt cx="295041" cy="295003"/>
          </a:xfrm>
        </p:grpSpPr>
        <p:sp>
          <p:nvSpPr>
            <p:cNvPr id="22" name="Freeform 22"/>
            <p:cNvSpPr/>
            <p:nvPr/>
          </p:nvSpPr>
          <p:spPr>
            <a:xfrm>
              <a:off x="6031370" y="1077954"/>
              <a:ext cx="129676" cy="129676"/>
            </a:xfrm>
            <a:custGeom>
              <a:avLst/>
              <a:gdLst/>
              <a:ahLst/>
              <a:cxnLst/>
              <a:rect l="l" t="t" r="r" b="b"/>
              <a:pathLst>
                <a:path w="129676" h="129676">
                  <a:moveTo>
                    <a:pt x="123479" y="6197"/>
                  </a:moveTo>
                  <a:cubicBezTo>
                    <a:pt x="129676" y="12396"/>
                    <a:pt x="129676" y="22445"/>
                    <a:pt x="123479" y="28645"/>
                  </a:cubicBezTo>
                  <a:lnTo>
                    <a:pt x="28229" y="123895"/>
                  </a:lnTo>
                  <a:cubicBezTo>
                    <a:pt x="24243" y="128021"/>
                    <a:pt x="18341" y="129676"/>
                    <a:pt x="12791" y="128224"/>
                  </a:cubicBezTo>
                  <a:cubicBezTo>
                    <a:pt x="7240" y="126771"/>
                    <a:pt x="2906" y="122436"/>
                    <a:pt x="1453" y="116886"/>
                  </a:cubicBezTo>
                  <a:cubicBezTo>
                    <a:pt x="0" y="111335"/>
                    <a:pt x="1655" y="105433"/>
                    <a:pt x="5782" y="101447"/>
                  </a:cubicBezTo>
                  <a:lnTo>
                    <a:pt x="101032" y="6197"/>
                  </a:lnTo>
                  <a:cubicBezTo>
                    <a:pt x="107231" y="0"/>
                    <a:pt x="117280" y="0"/>
                    <a:pt x="123479" y="6197"/>
                  </a:cubicBezTo>
                </a:path>
              </a:pathLst>
            </a:custGeom>
            <a:solidFill>
              <a:srgbClr val="22D3EE"/>
            </a:solidFill>
            <a:ln>
              <a:noFill/>
            </a:ln>
          </p:spPr>
        </p:sp>
        <p:sp>
          <p:nvSpPr>
            <p:cNvPr id="23" name="Freeform 23"/>
            <p:cNvSpPr/>
            <p:nvPr/>
          </p:nvSpPr>
          <p:spPr>
            <a:xfrm>
              <a:off x="6063261" y="1000103"/>
              <a:ext cx="184900" cy="176509"/>
            </a:xfrm>
            <a:custGeom>
              <a:avLst/>
              <a:gdLst/>
              <a:ahLst/>
              <a:cxnLst/>
              <a:rect l="l" t="t" r="r" b="b"/>
              <a:pathLst>
                <a:path w="184900" h="176509">
                  <a:moveTo>
                    <a:pt x="147705" y="27915"/>
                  </a:moveTo>
                  <a:cubicBezTo>
                    <a:pt x="184900" y="65126"/>
                    <a:pt x="184885" y="125435"/>
                    <a:pt x="146880" y="163392"/>
                  </a:cubicBezTo>
                  <a:lnTo>
                    <a:pt x="138403" y="170758"/>
                  </a:lnTo>
                  <a:cubicBezTo>
                    <a:pt x="131783" y="176509"/>
                    <a:pt x="121754" y="175806"/>
                    <a:pt x="116003" y="169186"/>
                  </a:cubicBezTo>
                  <a:cubicBezTo>
                    <a:pt x="110251" y="162567"/>
                    <a:pt x="110955" y="152538"/>
                    <a:pt x="117575" y="146787"/>
                  </a:cubicBezTo>
                  <a:lnTo>
                    <a:pt x="125242" y="140183"/>
                  </a:lnTo>
                  <a:cubicBezTo>
                    <a:pt x="137151" y="128274"/>
                    <a:pt x="143842" y="112122"/>
                    <a:pt x="143842" y="95280"/>
                  </a:cubicBezTo>
                  <a:cubicBezTo>
                    <a:pt x="143842" y="78438"/>
                    <a:pt x="137151" y="62286"/>
                    <a:pt x="125242" y="50378"/>
                  </a:cubicBezTo>
                  <a:cubicBezTo>
                    <a:pt x="100445" y="25565"/>
                    <a:pt x="60234" y="25565"/>
                    <a:pt x="36231" y="49521"/>
                  </a:cubicBezTo>
                  <a:lnTo>
                    <a:pt x="28881" y="58030"/>
                  </a:lnTo>
                  <a:cubicBezTo>
                    <a:pt x="25172" y="62323"/>
                    <a:pt x="19454" y="64311"/>
                    <a:pt x="13881" y="63246"/>
                  </a:cubicBezTo>
                  <a:cubicBezTo>
                    <a:pt x="8308" y="62180"/>
                    <a:pt x="3727" y="58223"/>
                    <a:pt x="1864" y="52864"/>
                  </a:cubicBezTo>
                  <a:cubicBezTo>
                    <a:pt x="0" y="47505"/>
                    <a:pt x="1137" y="41558"/>
                    <a:pt x="4846" y="37265"/>
                  </a:cubicBezTo>
                  <a:lnTo>
                    <a:pt x="12990" y="27899"/>
                  </a:lnTo>
                  <a:cubicBezTo>
                    <a:pt x="30855" y="10035"/>
                    <a:pt x="55086" y="0"/>
                    <a:pt x="80351" y="3"/>
                  </a:cubicBezTo>
                  <a:cubicBezTo>
                    <a:pt x="105616" y="6"/>
                    <a:pt x="129844" y="10046"/>
                    <a:pt x="147705" y="27915"/>
                  </a:cubicBezTo>
                </a:path>
              </a:pathLst>
            </a:custGeom>
            <a:solidFill>
              <a:srgbClr val="22D3EE"/>
            </a:solidFill>
            <a:ln>
              <a:noFill/>
            </a:ln>
          </p:spPr>
        </p:sp>
        <p:sp>
          <p:nvSpPr>
            <p:cNvPr id="24" name="Freeform 24"/>
            <p:cNvSpPr/>
            <p:nvPr/>
          </p:nvSpPr>
          <p:spPr>
            <a:xfrm>
              <a:off x="5953120" y="1109434"/>
              <a:ext cx="175588" cy="185672"/>
            </a:xfrm>
            <a:custGeom>
              <a:avLst/>
              <a:gdLst/>
              <a:ahLst/>
              <a:cxnLst/>
              <a:rect l="l" t="t" r="r" b="b"/>
              <a:pathLst>
                <a:path w="175588" h="185672">
                  <a:moveTo>
                    <a:pt x="59537" y="7182"/>
                  </a:moveTo>
                  <a:cubicBezTo>
                    <a:pt x="65333" y="13754"/>
                    <a:pt x="64708" y="23780"/>
                    <a:pt x="58140" y="29581"/>
                  </a:cubicBezTo>
                  <a:lnTo>
                    <a:pt x="50472" y="36328"/>
                  </a:lnTo>
                  <a:cubicBezTo>
                    <a:pt x="38484" y="48169"/>
                    <a:pt x="31737" y="64317"/>
                    <a:pt x="31737" y="81167"/>
                  </a:cubicBezTo>
                  <a:cubicBezTo>
                    <a:pt x="31737" y="98017"/>
                    <a:pt x="38484" y="114165"/>
                    <a:pt x="50472" y="126006"/>
                  </a:cubicBezTo>
                  <a:cubicBezTo>
                    <a:pt x="75372" y="150644"/>
                    <a:pt x="115383" y="150912"/>
                    <a:pt x="140610" y="126609"/>
                  </a:cubicBezTo>
                  <a:lnTo>
                    <a:pt x="146008" y="119339"/>
                  </a:lnTo>
                  <a:cubicBezTo>
                    <a:pt x="149394" y="114784"/>
                    <a:pt x="154952" y="112382"/>
                    <a:pt x="160589" y="113038"/>
                  </a:cubicBezTo>
                  <a:cubicBezTo>
                    <a:pt x="166226" y="113693"/>
                    <a:pt x="171086" y="117306"/>
                    <a:pt x="173337" y="122515"/>
                  </a:cubicBezTo>
                  <a:cubicBezTo>
                    <a:pt x="175588" y="127724"/>
                    <a:pt x="174889" y="133739"/>
                    <a:pt x="171503" y="138293"/>
                  </a:cubicBezTo>
                  <a:lnTo>
                    <a:pt x="165201" y="146771"/>
                  </a:lnTo>
                  <a:lnTo>
                    <a:pt x="163613" y="148580"/>
                  </a:lnTo>
                  <a:cubicBezTo>
                    <a:pt x="126077" y="185672"/>
                    <a:pt x="65688" y="185672"/>
                    <a:pt x="28152" y="148580"/>
                  </a:cubicBezTo>
                  <a:cubicBezTo>
                    <a:pt x="10136" y="130772"/>
                    <a:pt x="0" y="106492"/>
                    <a:pt x="5" y="81159"/>
                  </a:cubicBezTo>
                  <a:cubicBezTo>
                    <a:pt x="5" y="55839"/>
                    <a:pt x="10134" y="31566"/>
                    <a:pt x="28803" y="13151"/>
                  </a:cubicBezTo>
                  <a:lnTo>
                    <a:pt x="37121" y="5801"/>
                  </a:lnTo>
                  <a:cubicBezTo>
                    <a:pt x="43689" y="0"/>
                    <a:pt x="53715" y="618"/>
                    <a:pt x="59521" y="7182"/>
                  </a:cubicBezTo>
                </a:path>
              </a:pathLst>
            </a:custGeom>
            <a:solidFill>
              <a:srgbClr val="22D3EE"/>
            </a:solidFill>
            <a:ln>
              <a:noFill/>
            </a:ln>
          </p:spPr>
        </p:sp>
      </p:grpSp>
      <p:sp>
        <p:nvSpPr>
          <p:cNvPr id="26" name="TextBox 26"/>
          <p:cNvSpPr txBox="1"/>
          <p:nvPr/>
        </p:nvSpPr>
        <p:spPr>
          <a:xfrm>
            <a:off x="5941575" y="1466374"/>
            <a:ext cx="308851"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Mild</a:t>
            </a:r>
          </a:p>
        </p:txBody>
      </p:sp>
      <p:sp>
        <p:nvSpPr>
          <p:cNvPr id="27" name="TextBox 27"/>
          <p:cNvSpPr txBox="1"/>
          <p:nvPr/>
        </p:nvSpPr>
        <p:spPr>
          <a:xfrm>
            <a:off x="5612634" y="1618774"/>
            <a:ext cx="966733"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Intermediary</a:t>
            </a:r>
          </a:p>
        </p:txBody>
      </p:sp>
      <p:sp>
        <p:nvSpPr>
          <p:cNvPr id="28" name="Line 28"/>
          <p:cNvSpPr/>
          <p:nvPr/>
        </p:nvSpPr>
        <p:spPr>
          <a:xfrm>
            <a:off x="7048500" y="2000250"/>
            <a:ext cx="2667000" cy="952500"/>
          </a:xfrm>
          <a:custGeom>
            <a:avLst/>
            <a:gdLst/>
            <a:ahLst/>
            <a:cxnLst/>
            <a:rect l="l" t="t" r="r" b="b"/>
            <a:pathLst>
              <a:path w="2667000" h="952500">
                <a:moveTo>
                  <a:pt x="0" y="952500"/>
                </a:moveTo>
                <a:lnTo>
                  <a:pt x="2667000" y="0"/>
                </a:lnTo>
              </a:path>
            </a:pathLst>
          </a:custGeom>
          <a:noFill/>
          <a:ln w="14288">
            <a:solidFill>
              <a:srgbClr val="8B5CF6">
                <a:alpha val="40000"/>
              </a:srgbClr>
            </a:solidFill>
          </a:ln>
        </p:spPr>
      </p:sp>
      <p:sp>
        <p:nvSpPr>
          <p:cNvPr id="29" name="Ellipse 29"/>
          <p:cNvSpPr/>
          <p:nvPr/>
        </p:nvSpPr>
        <p:spPr>
          <a:xfrm>
            <a:off x="9620250" y="1238250"/>
            <a:ext cx="1143000" cy="1143000"/>
          </a:xfrm>
          <a:prstGeom prst="ellipse">
            <a:avLst/>
          </a:prstGeom>
          <a:solidFill>
            <a:srgbClr val="1E293B"/>
          </a:solidFill>
          <a:ln w="9525">
            <a:solidFill>
              <a:srgbClr val="334155"/>
            </a:solidFill>
          </a:ln>
        </p:spPr>
      </p:sp>
      <p:sp>
        <p:nvSpPr>
          <p:cNvPr id="30" name="Freeform 30"/>
          <p:cNvSpPr/>
          <p:nvPr/>
        </p:nvSpPr>
        <p:spPr>
          <a:xfrm>
            <a:off x="10033000" y="1548639"/>
            <a:ext cx="333852" cy="334398"/>
          </a:xfrm>
          <a:custGeom>
            <a:avLst/>
            <a:gdLst/>
            <a:ahLst/>
            <a:cxnLst/>
            <a:rect l="l" t="t" r="r" b="b"/>
            <a:pathLst>
              <a:path w="333852" h="334398">
                <a:moveTo>
                  <a:pt x="238125" y="28384"/>
                </a:moveTo>
                <a:cubicBezTo>
                  <a:pt x="304282" y="66582"/>
                  <a:pt x="333852" y="146484"/>
                  <a:pt x="308499" y="218547"/>
                </a:cubicBezTo>
                <a:cubicBezTo>
                  <a:pt x="283146" y="290611"/>
                  <a:pt x="210062" y="334398"/>
                  <a:pt x="134560" y="322760"/>
                </a:cubicBezTo>
                <a:cubicBezTo>
                  <a:pt x="59059" y="311121"/>
                  <a:pt x="2554" y="247358"/>
                  <a:pt x="79" y="171005"/>
                </a:cubicBezTo>
                <a:lnTo>
                  <a:pt x="0" y="165861"/>
                </a:lnTo>
                <a:lnTo>
                  <a:pt x="79" y="160718"/>
                </a:lnTo>
                <a:cubicBezTo>
                  <a:pt x="1888" y="104948"/>
                  <a:pt x="32843" y="54223"/>
                  <a:pt x="81612" y="27112"/>
                </a:cubicBezTo>
                <a:cubicBezTo>
                  <a:pt x="130381" y="0"/>
                  <a:pt x="189803" y="483"/>
                  <a:pt x="238125" y="28384"/>
                </a:cubicBezTo>
                <a:close/>
                <a:moveTo>
                  <a:pt x="217599" y="122887"/>
                </a:moveTo>
                <a:cubicBezTo>
                  <a:pt x="211943" y="117232"/>
                  <a:pt x="202963" y="116668"/>
                  <a:pt x="196644" y="121570"/>
                </a:cubicBezTo>
                <a:lnTo>
                  <a:pt x="195151" y="122887"/>
                </a:lnTo>
                <a:lnTo>
                  <a:pt x="142875" y="175148"/>
                </a:lnTo>
                <a:lnTo>
                  <a:pt x="122349" y="154637"/>
                </a:lnTo>
                <a:lnTo>
                  <a:pt x="120856" y="153320"/>
                </a:lnTo>
                <a:cubicBezTo>
                  <a:pt x="114537" y="148421"/>
                  <a:pt x="105560" y="148987"/>
                  <a:pt x="99906" y="154642"/>
                </a:cubicBezTo>
                <a:cubicBezTo>
                  <a:pt x="94251" y="160296"/>
                  <a:pt x="93685" y="169273"/>
                  <a:pt x="98584" y="175592"/>
                </a:cubicBezTo>
                <a:lnTo>
                  <a:pt x="99901" y="177085"/>
                </a:lnTo>
                <a:lnTo>
                  <a:pt x="131651" y="208835"/>
                </a:lnTo>
                <a:lnTo>
                  <a:pt x="133144" y="210152"/>
                </a:lnTo>
                <a:cubicBezTo>
                  <a:pt x="138870" y="214596"/>
                  <a:pt x="146880" y="214596"/>
                  <a:pt x="152606" y="210152"/>
                </a:cubicBezTo>
                <a:lnTo>
                  <a:pt x="154099" y="208835"/>
                </a:lnTo>
                <a:lnTo>
                  <a:pt x="217599" y="145335"/>
                </a:lnTo>
                <a:lnTo>
                  <a:pt x="218916" y="143842"/>
                </a:lnTo>
                <a:cubicBezTo>
                  <a:pt x="223818" y="137523"/>
                  <a:pt x="223254" y="128543"/>
                  <a:pt x="217599" y="122887"/>
                </a:cubicBezTo>
                <a:close/>
              </a:path>
            </a:pathLst>
          </a:custGeom>
          <a:solidFill>
            <a:srgbClr val="8B5CF6"/>
          </a:solidFill>
          <a:ln>
            <a:noFill/>
          </a:ln>
        </p:spPr>
      </p:sp>
      <p:sp>
        <p:nvSpPr>
          <p:cNvPr id="31" name="TextBox 31"/>
          <p:cNvSpPr txBox="1"/>
          <p:nvPr/>
        </p:nvSpPr>
        <p:spPr>
          <a:xfrm>
            <a:off x="9745763" y="2037874"/>
            <a:ext cx="891973"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Synthesized</a:t>
            </a:r>
          </a:p>
        </p:txBody>
      </p:sp>
      <p:sp>
        <p:nvSpPr>
          <p:cNvPr id="32" name="TextBox 32"/>
          <p:cNvSpPr txBox="1"/>
          <p:nvPr/>
        </p:nvSpPr>
        <p:spPr>
          <a:xfrm>
            <a:off x="9917710" y="2190274"/>
            <a:ext cx="548080"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Arial"/>
                <a:ea typeface="Microsoft YaHei"/>
                <a:cs typeface="Arial"/>
              </a:rPr>
              <a:t>Output</a:t>
            </a:r>
          </a:p>
        </p:txBody>
      </p:sp>
      <p:sp>
        <p:nvSpPr>
          <p:cNvPr id="33" name="Rectangle 33"/>
          <p:cNvSpPr/>
          <p:nvPr/>
        </p:nvSpPr>
        <p:spPr>
          <a:xfrm>
            <a:off x="1333500" y="4762500"/>
            <a:ext cx="9525000" cy="1333500"/>
          </a:xfrm>
          <a:prstGeom prst="roundRect">
            <a:avLst>
              <a:gd name="adj" fmla="val 8571"/>
            </a:avLst>
          </a:prstGeom>
          <a:solidFill>
            <a:srgbClr val="1E293B"/>
          </a:solidFill>
          <a:ln w="9525">
            <a:solidFill>
              <a:srgbClr val="334155"/>
            </a:solidFill>
          </a:ln>
        </p:spPr>
      </p:sp>
      <p:sp>
        <p:nvSpPr>
          <p:cNvPr id="34" name="TextBox 34"/>
          <p:cNvSpPr txBox="1"/>
          <p:nvPr/>
        </p:nvSpPr>
        <p:spPr>
          <a:xfrm>
            <a:off x="1695450" y="4981575"/>
            <a:ext cx="2326886"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Like the Human Brain</a:t>
            </a:r>
          </a:p>
        </p:txBody>
      </p:sp>
      <p:sp>
        <p:nvSpPr>
          <p:cNvPr id="35" name="TextBox 35"/>
          <p:cNvSpPr txBox="1"/>
          <p:nvPr/>
        </p:nvSpPr>
        <p:spPr>
          <a:xfrm>
            <a:off x="1699260" y="5347335"/>
            <a:ext cx="707593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Multiple independent neurons handle and process larger tasks. Individual networks</a:t>
            </a:r>
          </a:p>
        </p:txBody>
      </p:sp>
      <p:sp>
        <p:nvSpPr>
          <p:cNvPr id="36" name="TextBox 36"/>
          <p:cNvSpPr txBox="1"/>
          <p:nvPr/>
        </p:nvSpPr>
        <p:spPr>
          <a:xfrm>
            <a:off x="1699260" y="5575935"/>
            <a:ext cx="716356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perform their tasks independently, and results are combined at the end to produce</a:t>
            </a:r>
          </a:p>
        </p:txBody>
      </p:sp>
      <p:sp>
        <p:nvSpPr>
          <p:cNvPr id="37" name="TextBox 37"/>
          <p:cNvSpPr txBox="1"/>
          <p:nvPr/>
        </p:nvSpPr>
        <p:spPr>
          <a:xfrm>
            <a:off x="1699260" y="5804535"/>
            <a:ext cx="690067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 synthesized, cohesive output — mimicking biological neural parallel processing.</a:t>
            </a:r>
          </a:p>
        </p:txBody>
      </p:sp>
      <p:sp>
        <p:nvSpPr>
          <p:cNvPr id="38" name="TextBox 38"/>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06</a:t>
            </a:r>
          </a:p>
        </p:txBody>
      </p:sp>
      <p:pic>
        <p:nvPicPr>
          <p:cNvPr id="39" name="narration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40988">
    <p:fade/>
  </p:transition>
  <p:timing>
    <p:tnLst>
      <p:par>
        <p:cTn id="1" dur="indefinite" restart="never" nodeType="tmRoot">
          <p:childTnLst>
            <p:audio>
              <p:cMediaNode vol="80000">
                <p:cTn id="2" fill="hold" display="0">
                  <p:stCondLst>
                    <p:cond delay="0"/>
                  </p:stCondLst>
                </p:cTn>
                <p:tgtEl>
                  <p:spTgt spid="3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6043648"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Types of Backpropagation Networks</a:t>
            </a:r>
          </a:p>
        </p:txBody>
      </p:sp>
      <p:sp>
        <p:nvSpPr>
          <p:cNvPr id="5" name="Rectangle 5"/>
          <p:cNvSpPr/>
          <p:nvPr/>
        </p:nvSpPr>
        <p:spPr>
          <a:xfrm>
            <a:off x="571500" y="1238250"/>
            <a:ext cx="3524250" cy="5048250"/>
          </a:xfrm>
          <a:prstGeom prst="roundRect">
            <a:avLst>
              <a:gd name="adj" fmla="val 3243"/>
            </a:avLst>
          </a:prstGeom>
          <a:solidFill>
            <a:srgbClr val="1E293B"/>
          </a:solidFill>
          <a:ln w="9525">
            <a:solidFill>
              <a:srgbClr val="334155"/>
            </a:solidFill>
          </a:ln>
        </p:spPr>
      </p:sp>
      <p:sp>
        <p:nvSpPr>
          <p:cNvPr id="6" name="Rectangle 6"/>
          <p:cNvSpPr/>
          <p:nvPr/>
        </p:nvSpPr>
        <p:spPr>
          <a:xfrm>
            <a:off x="571500" y="1238250"/>
            <a:ext cx="3524250" cy="57150"/>
          </a:xfrm>
          <a:prstGeom prst="roundRect">
            <a:avLst>
              <a:gd name="adj" fmla="val 50000"/>
            </a:avLst>
          </a:prstGeom>
          <a:solidFill>
            <a:srgbClr val="3B82F6"/>
          </a:solidFill>
          <a:ln>
            <a:noFill/>
          </a:ln>
        </p:spPr>
      </p:sp>
      <p:sp>
        <p:nvSpPr>
          <p:cNvPr id="7" name="Ellipse 7"/>
          <p:cNvSpPr/>
          <p:nvPr/>
        </p:nvSpPr>
        <p:spPr>
          <a:xfrm>
            <a:off x="838200" y="1504950"/>
            <a:ext cx="609600" cy="609600"/>
          </a:xfrm>
          <a:prstGeom prst="ellipse">
            <a:avLst/>
          </a:prstGeom>
          <a:solidFill>
            <a:srgbClr val="3B82F6">
              <a:alpha val="15000"/>
            </a:srgbClr>
          </a:solidFill>
          <a:ln w="14288">
            <a:solidFill>
              <a:srgbClr val="3B82F6"/>
            </a:solidFill>
          </a:ln>
        </p:spPr>
      </p:sp>
      <p:sp>
        <p:nvSpPr>
          <p:cNvPr id="8" name="TextBox 8"/>
          <p:cNvSpPr txBox="1"/>
          <p:nvPr/>
        </p:nvSpPr>
        <p:spPr>
          <a:xfrm>
            <a:off x="1089446" y="1704975"/>
            <a:ext cx="107109" cy="304800"/>
          </a:xfrm>
          <a:prstGeom prst="rect">
            <a:avLst/>
          </a:prstGeom>
          <a:noFill/>
          <a:ln>
            <a:noFill/>
          </a:ln>
        </p:spPr>
        <p:txBody>
          <a:bodyPr wrap="none" lIns="0" tIns="0" rIns="0" bIns="0" anchor="t" anchorCtr="0">
            <a:spAutoFit/>
          </a:bodyPr>
          <a:lstStyle/>
          <a:p>
            <a:pPr algn="ctr"/>
            <a:r>
              <a:rPr lang="zh-CN" sz="1500" b="1" dirty="0">
                <a:solidFill>
                  <a:srgbClr val="3B82F6"/>
                </a:solidFill>
                <a:latin typeface="Georgia"/>
                <a:ea typeface="Microsoft YaHei"/>
                <a:cs typeface="Georgia"/>
              </a:rPr>
              <a:t>1</a:t>
            </a:r>
          </a:p>
        </p:txBody>
      </p:sp>
      <p:sp>
        <p:nvSpPr>
          <p:cNvPr id="9" name="TextBox 9"/>
          <p:cNvSpPr txBox="1"/>
          <p:nvPr/>
        </p:nvSpPr>
        <p:spPr>
          <a:xfrm>
            <a:off x="1579245" y="1688782"/>
            <a:ext cx="813656"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Static</a:t>
            </a:r>
          </a:p>
        </p:txBody>
      </p:sp>
      <p:sp>
        <p:nvSpPr>
          <p:cNvPr id="10" name="TextBox 10"/>
          <p:cNvSpPr txBox="1"/>
          <p:nvPr/>
        </p:nvSpPr>
        <p:spPr>
          <a:xfrm>
            <a:off x="1579245" y="1936432"/>
            <a:ext cx="2066163"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Backpropagation</a:t>
            </a:r>
          </a:p>
        </p:txBody>
      </p:sp>
      <p:sp>
        <p:nvSpPr>
          <p:cNvPr id="11" name="Line 11"/>
          <p:cNvSpPr/>
          <p:nvPr/>
        </p:nvSpPr>
        <p:spPr>
          <a:xfrm>
            <a:off x="952500" y="2333625"/>
            <a:ext cx="2762250" cy="9525"/>
          </a:xfrm>
          <a:custGeom>
            <a:avLst/>
            <a:gdLst/>
            <a:ahLst/>
            <a:cxnLst/>
            <a:rect l="l" t="t" r="r" b="b"/>
            <a:pathLst>
              <a:path w="2762250" h="9525">
                <a:moveTo>
                  <a:pt x="0" y="0"/>
                </a:moveTo>
                <a:lnTo>
                  <a:pt x="2762250" y="0"/>
                </a:lnTo>
              </a:path>
            </a:pathLst>
          </a:custGeom>
          <a:noFill/>
          <a:ln w="9525">
            <a:solidFill>
              <a:srgbClr val="334155"/>
            </a:solidFill>
          </a:ln>
        </p:spPr>
      </p:sp>
      <p:sp>
        <p:nvSpPr>
          <p:cNvPr id="12" name="TextBox 12"/>
          <p:cNvSpPr txBox="1"/>
          <p:nvPr/>
        </p:nvSpPr>
        <p:spPr>
          <a:xfrm>
            <a:off x="937260" y="2537460"/>
            <a:ext cx="177431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Maps static input to</a:t>
            </a:r>
          </a:p>
        </p:txBody>
      </p:sp>
      <p:sp>
        <p:nvSpPr>
          <p:cNvPr id="13" name="TextBox 13"/>
          <p:cNvSpPr txBox="1"/>
          <p:nvPr/>
        </p:nvSpPr>
        <p:spPr>
          <a:xfrm>
            <a:off x="937260" y="2766060"/>
            <a:ext cx="1292352"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static output.</a:t>
            </a:r>
          </a:p>
        </p:txBody>
      </p:sp>
      <p:sp>
        <p:nvSpPr>
          <p:cNvPr id="14" name="TextBox 14"/>
          <p:cNvSpPr txBox="1"/>
          <p:nvPr/>
        </p:nvSpPr>
        <p:spPr>
          <a:xfrm>
            <a:off x="937260" y="3108960"/>
            <a:ext cx="257175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Used for static classification</a:t>
            </a:r>
          </a:p>
        </p:txBody>
      </p:sp>
      <p:sp>
        <p:nvSpPr>
          <p:cNvPr id="15" name="TextBox 15"/>
          <p:cNvSpPr txBox="1"/>
          <p:nvPr/>
        </p:nvSpPr>
        <p:spPr>
          <a:xfrm>
            <a:off x="937260" y="3337560"/>
            <a:ext cx="242277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tasks like optical character</a:t>
            </a:r>
          </a:p>
        </p:txBody>
      </p:sp>
      <p:sp>
        <p:nvSpPr>
          <p:cNvPr id="16" name="TextBox 16"/>
          <p:cNvSpPr txBox="1"/>
          <p:nvPr/>
        </p:nvSpPr>
        <p:spPr>
          <a:xfrm>
            <a:off x="937260" y="3566160"/>
            <a:ext cx="166916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recognition (OCR).</a:t>
            </a:r>
          </a:p>
        </p:txBody>
      </p:sp>
      <p:sp>
        <p:nvSpPr>
          <p:cNvPr id="17" name="Rectangle 17"/>
          <p:cNvSpPr/>
          <p:nvPr/>
        </p:nvSpPr>
        <p:spPr>
          <a:xfrm>
            <a:off x="952500" y="4191000"/>
            <a:ext cx="2762250" cy="419100"/>
          </a:xfrm>
          <a:prstGeom prst="roundRect">
            <a:avLst>
              <a:gd name="adj" fmla="val 18182"/>
            </a:avLst>
          </a:prstGeom>
          <a:solidFill>
            <a:srgbClr val="3B82F6">
              <a:alpha val="10000"/>
            </a:srgbClr>
          </a:solidFill>
          <a:ln w="9525">
            <a:solidFill>
              <a:srgbClr val="3B82F6">
                <a:alpha val="30000"/>
              </a:srgbClr>
            </a:solidFill>
          </a:ln>
        </p:spPr>
      </p:sp>
      <p:grpSp>
        <p:nvGrpSpPr>
          <p:cNvPr id="22" name="Group 22"/>
          <p:cNvGrpSpPr/>
          <p:nvPr/>
        </p:nvGrpSpPr>
        <p:grpSpPr>
          <a:xfrm>
            <a:off x="1095375" y="4314825"/>
            <a:ext cx="171791" cy="172122"/>
            <a:chOff x="1095375" y="4314825"/>
            <a:chExt cx="171791" cy="172122"/>
          </a:xfrm>
        </p:grpSpPr>
        <p:sp>
          <p:nvSpPr>
            <p:cNvPr id="18" name="Freeform 18"/>
            <p:cNvSpPr/>
            <p:nvPr/>
          </p:nvSpPr>
          <p:spPr>
            <a:xfrm>
              <a:off x="1095375"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3B82F6"/>
            </a:solidFill>
            <a:ln>
              <a:noFill/>
            </a:ln>
          </p:spPr>
        </p:sp>
        <p:sp>
          <p:nvSpPr>
            <p:cNvPr id="19" name="Freeform 19"/>
            <p:cNvSpPr/>
            <p:nvPr/>
          </p:nvSpPr>
          <p:spPr>
            <a:xfrm>
              <a:off x="1190625"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3B82F6"/>
            </a:solidFill>
            <a:ln>
              <a:noFill/>
            </a:ln>
          </p:spPr>
        </p:sp>
        <p:sp>
          <p:nvSpPr>
            <p:cNvPr id="20" name="Freeform 20"/>
            <p:cNvSpPr/>
            <p:nvPr/>
          </p:nvSpPr>
          <p:spPr>
            <a:xfrm>
              <a:off x="1095375" y="441007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3B82F6"/>
            </a:solidFill>
            <a:ln>
              <a:noFill/>
            </a:ln>
          </p:spPr>
        </p:sp>
        <p:sp>
          <p:nvSpPr>
            <p:cNvPr id="21" name="Freeform 21"/>
            <p:cNvSpPr/>
            <p:nvPr/>
          </p:nvSpPr>
          <p:spPr>
            <a:xfrm>
              <a:off x="1190625" y="4410075"/>
              <a:ext cx="76541" cy="76872"/>
            </a:xfrm>
            <a:custGeom>
              <a:avLst/>
              <a:gdLst/>
              <a:ahLst/>
              <a:cxnLst/>
              <a:rect l="l" t="t" r="r" b="b"/>
              <a:pathLst>
                <a:path w="76541" h="76872">
                  <a:moveTo>
                    <a:pt x="38100" y="0"/>
                  </a:moveTo>
                  <a:cubicBezTo>
                    <a:pt x="58894" y="0"/>
                    <a:pt x="75848" y="16673"/>
                    <a:pt x="76195" y="37465"/>
                  </a:cubicBezTo>
                  <a:cubicBezTo>
                    <a:pt x="76541" y="58256"/>
                    <a:pt x="60153" y="75486"/>
                    <a:pt x="39370" y="76179"/>
                  </a:cubicBezTo>
                  <a:cubicBezTo>
                    <a:pt x="18587" y="76872"/>
                    <a:pt x="1087" y="60773"/>
                    <a:pt x="48" y="40005"/>
                  </a:cubicBezTo>
                  <a:lnTo>
                    <a:pt x="0" y="38100"/>
                  </a:lnTo>
                  <a:lnTo>
                    <a:pt x="48" y="36195"/>
                  </a:lnTo>
                  <a:cubicBezTo>
                    <a:pt x="1063" y="15919"/>
                    <a:pt x="17798" y="0"/>
                    <a:pt x="38100" y="0"/>
                  </a:cubicBezTo>
                  <a:close/>
                </a:path>
              </a:pathLst>
            </a:custGeom>
            <a:solidFill>
              <a:srgbClr val="3B82F6"/>
            </a:solidFill>
            <a:ln>
              <a:noFill/>
            </a:ln>
          </p:spPr>
        </p:sp>
      </p:grpSp>
      <p:sp>
        <p:nvSpPr>
          <p:cNvPr id="23" name="TextBox 23"/>
          <p:cNvSpPr txBox="1"/>
          <p:nvPr/>
        </p:nvSpPr>
        <p:spPr>
          <a:xfrm>
            <a:off x="1358265" y="4344352"/>
            <a:ext cx="1521857" cy="213360"/>
          </a:xfrm>
          <a:prstGeom prst="rect">
            <a:avLst/>
          </a:prstGeom>
          <a:noFill/>
          <a:ln>
            <a:noFill/>
          </a:ln>
        </p:spPr>
        <p:txBody>
          <a:bodyPr wrap="none" lIns="0" tIns="0" rIns="0" bIns="0" anchor="t" anchorCtr="0">
            <a:spAutoFit/>
          </a:bodyPr>
          <a:lstStyle/>
          <a:p>
            <a:pPr algn="l"/>
            <a:r>
              <a:rPr lang="zh-CN" sz="1050" dirty="0">
                <a:solidFill>
                  <a:srgbClr val="3B82F6"/>
                </a:solidFill>
                <a:latin typeface="Arial"/>
                <a:ea typeface="Microsoft YaHei"/>
                <a:cs typeface="Arial"/>
              </a:rPr>
              <a:t>Classification Tasks</a:t>
            </a:r>
          </a:p>
        </p:txBody>
      </p:sp>
      <p:sp>
        <p:nvSpPr>
          <p:cNvPr id="24" name="Rectangle 24"/>
          <p:cNvSpPr/>
          <p:nvPr/>
        </p:nvSpPr>
        <p:spPr>
          <a:xfrm>
            <a:off x="1143000" y="4953000"/>
            <a:ext cx="666750" cy="342900"/>
          </a:xfrm>
          <a:prstGeom prst="roundRect">
            <a:avLst>
              <a:gd name="adj" fmla="val 16667"/>
            </a:avLst>
          </a:prstGeom>
          <a:solidFill>
            <a:srgbClr val="3B82F6">
              <a:alpha val="20000"/>
            </a:srgbClr>
          </a:solidFill>
          <a:ln w="9525">
            <a:solidFill>
              <a:srgbClr val="3B82F6"/>
            </a:solidFill>
          </a:ln>
        </p:spPr>
      </p:sp>
      <p:sp>
        <p:nvSpPr>
          <p:cNvPr id="25" name="TextBox 25"/>
          <p:cNvSpPr txBox="1"/>
          <p:nvPr/>
        </p:nvSpPr>
        <p:spPr>
          <a:xfrm>
            <a:off x="1300639" y="5074920"/>
            <a:ext cx="351472" cy="182880"/>
          </a:xfrm>
          <a:prstGeom prst="rect">
            <a:avLst/>
          </a:prstGeom>
          <a:noFill/>
          <a:ln>
            <a:noFill/>
          </a:ln>
        </p:spPr>
        <p:txBody>
          <a:bodyPr wrap="none" lIns="0" tIns="0" rIns="0" bIns="0" anchor="t" anchorCtr="0">
            <a:spAutoFit/>
          </a:bodyPr>
          <a:lstStyle/>
          <a:p>
            <a:pPr algn="ctr"/>
            <a:r>
              <a:rPr lang="zh-CN" sz="900" dirty="0">
                <a:solidFill>
                  <a:srgbClr val="3B82F6"/>
                </a:solidFill>
                <a:latin typeface="Consolas"/>
                <a:ea typeface="Microsoft YaHei"/>
                <a:cs typeface="Consolas"/>
              </a:rPr>
              <a:t>Input</a:t>
            </a:r>
          </a:p>
        </p:txBody>
      </p:sp>
      <p:sp>
        <p:nvSpPr>
          <p:cNvPr id="26" name="Line 26"/>
          <p:cNvSpPr/>
          <p:nvPr/>
        </p:nvSpPr>
        <p:spPr>
          <a:xfrm>
            <a:off x="1809750" y="5124450"/>
            <a:ext cx="476250" cy="9525"/>
          </a:xfrm>
          <a:custGeom>
            <a:avLst/>
            <a:gdLst/>
            <a:ahLst/>
            <a:cxnLst/>
            <a:rect l="l" t="t" r="r" b="b"/>
            <a:pathLst>
              <a:path w="476250" h="9525">
                <a:moveTo>
                  <a:pt x="0" y="0"/>
                </a:moveTo>
                <a:lnTo>
                  <a:pt x="476250" y="0"/>
                </a:lnTo>
              </a:path>
            </a:pathLst>
          </a:custGeom>
          <a:noFill/>
          <a:ln w="14288">
            <a:solidFill>
              <a:srgbClr val="3B82F6"/>
            </a:solidFill>
          </a:ln>
        </p:spPr>
      </p:sp>
      <p:sp>
        <p:nvSpPr>
          <p:cNvPr id="27" name="Polygon 27"/>
          <p:cNvSpPr/>
          <p:nvPr/>
        </p:nvSpPr>
        <p:spPr>
          <a:xfrm>
            <a:off x="2286000" y="5086350"/>
            <a:ext cx="76200" cy="76200"/>
          </a:xfrm>
          <a:custGeom>
            <a:avLst/>
            <a:gdLst/>
            <a:ahLst/>
            <a:cxnLst/>
            <a:rect l="l" t="t" r="r" b="b"/>
            <a:pathLst>
              <a:path w="76200" h="76200">
                <a:moveTo>
                  <a:pt x="0" y="0"/>
                </a:moveTo>
                <a:lnTo>
                  <a:pt x="76200" y="38100"/>
                </a:lnTo>
                <a:lnTo>
                  <a:pt x="0" y="76200"/>
                </a:lnTo>
                <a:close/>
              </a:path>
            </a:pathLst>
          </a:custGeom>
          <a:solidFill>
            <a:srgbClr val="3B82F6"/>
          </a:solidFill>
          <a:ln>
            <a:noFill/>
          </a:ln>
        </p:spPr>
      </p:sp>
      <p:sp>
        <p:nvSpPr>
          <p:cNvPr id="28" name="Rectangle 28"/>
          <p:cNvSpPr/>
          <p:nvPr/>
        </p:nvSpPr>
        <p:spPr>
          <a:xfrm>
            <a:off x="2362200" y="4953000"/>
            <a:ext cx="476250" cy="342900"/>
          </a:xfrm>
          <a:prstGeom prst="roundRect">
            <a:avLst>
              <a:gd name="adj" fmla="val 16667"/>
            </a:avLst>
          </a:prstGeom>
          <a:solidFill>
            <a:srgbClr val="8B5CF6">
              <a:alpha val="20000"/>
            </a:srgbClr>
          </a:solidFill>
          <a:ln w="9525">
            <a:solidFill>
              <a:srgbClr val="8B5CF6"/>
            </a:solidFill>
          </a:ln>
        </p:spPr>
      </p:sp>
      <p:sp>
        <p:nvSpPr>
          <p:cNvPr id="29" name="TextBox 29"/>
          <p:cNvSpPr txBox="1"/>
          <p:nvPr/>
        </p:nvSpPr>
        <p:spPr>
          <a:xfrm>
            <a:off x="2516600" y="5074920"/>
            <a:ext cx="167449" cy="182880"/>
          </a:xfrm>
          <a:prstGeom prst="rect">
            <a:avLst/>
          </a:prstGeom>
          <a:noFill/>
          <a:ln>
            <a:noFill/>
          </a:ln>
        </p:spPr>
        <p:txBody>
          <a:bodyPr wrap="none" lIns="0" tIns="0" rIns="0" bIns="0" anchor="t" anchorCtr="0">
            <a:spAutoFit/>
          </a:bodyPr>
          <a:lstStyle/>
          <a:p>
            <a:pPr algn="ctr"/>
            <a:r>
              <a:rPr lang="zh-CN" sz="900" dirty="0">
                <a:solidFill>
                  <a:srgbClr val="8B5CF6"/>
                </a:solidFill>
                <a:latin typeface="Consolas"/>
                <a:ea typeface="Microsoft YaHei"/>
                <a:cs typeface="Consolas"/>
              </a:rPr>
              <a:t>NN</a:t>
            </a:r>
          </a:p>
        </p:txBody>
      </p:sp>
      <p:sp>
        <p:nvSpPr>
          <p:cNvPr id="30" name="Line 30"/>
          <p:cNvSpPr/>
          <p:nvPr/>
        </p:nvSpPr>
        <p:spPr>
          <a:xfrm>
            <a:off x="2838450" y="5124450"/>
            <a:ext cx="381000" cy="9525"/>
          </a:xfrm>
          <a:custGeom>
            <a:avLst/>
            <a:gdLst/>
            <a:ahLst/>
            <a:cxnLst/>
            <a:rect l="l" t="t" r="r" b="b"/>
            <a:pathLst>
              <a:path w="381000" h="9525">
                <a:moveTo>
                  <a:pt x="0" y="0"/>
                </a:moveTo>
                <a:lnTo>
                  <a:pt x="381000" y="0"/>
                </a:lnTo>
              </a:path>
            </a:pathLst>
          </a:custGeom>
          <a:noFill/>
          <a:ln w="14288">
            <a:solidFill>
              <a:srgbClr val="10B981"/>
            </a:solidFill>
          </a:ln>
        </p:spPr>
      </p:sp>
      <p:sp>
        <p:nvSpPr>
          <p:cNvPr id="31" name="Polygon 31"/>
          <p:cNvSpPr/>
          <p:nvPr/>
        </p:nvSpPr>
        <p:spPr>
          <a:xfrm>
            <a:off x="3219450" y="5086350"/>
            <a:ext cx="76200" cy="76200"/>
          </a:xfrm>
          <a:custGeom>
            <a:avLst/>
            <a:gdLst/>
            <a:ahLst/>
            <a:cxnLst/>
            <a:rect l="l" t="t" r="r" b="b"/>
            <a:pathLst>
              <a:path w="76200" h="76200">
                <a:moveTo>
                  <a:pt x="0" y="0"/>
                </a:moveTo>
                <a:lnTo>
                  <a:pt x="76200" y="38100"/>
                </a:lnTo>
                <a:lnTo>
                  <a:pt x="0" y="76200"/>
                </a:lnTo>
                <a:close/>
              </a:path>
            </a:pathLst>
          </a:custGeom>
          <a:solidFill>
            <a:srgbClr val="10B981"/>
          </a:solidFill>
          <a:ln>
            <a:noFill/>
          </a:ln>
        </p:spPr>
      </p:sp>
      <p:sp>
        <p:nvSpPr>
          <p:cNvPr id="32" name="TextBox 32"/>
          <p:cNvSpPr txBox="1"/>
          <p:nvPr/>
        </p:nvSpPr>
        <p:spPr>
          <a:xfrm>
            <a:off x="3512820" y="5074920"/>
            <a:ext cx="482918" cy="182880"/>
          </a:xfrm>
          <a:prstGeom prst="rect">
            <a:avLst/>
          </a:prstGeom>
          <a:noFill/>
          <a:ln>
            <a:noFill/>
          </a:ln>
        </p:spPr>
        <p:txBody>
          <a:bodyPr wrap="none" lIns="0" tIns="0" rIns="0" bIns="0" anchor="t" anchorCtr="0">
            <a:spAutoFit/>
          </a:bodyPr>
          <a:lstStyle/>
          <a:p>
            <a:pPr algn="l"/>
            <a:r>
              <a:rPr lang="zh-CN" sz="900" dirty="0">
                <a:solidFill>
                  <a:srgbClr val="10B981"/>
                </a:solidFill>
                <a:latin typeface="Consolas"/>
                <a:ea typeface="Microsoft YaHei"/>
                <a:cs typeface="Consolas"/>
              </a:rPr>
              <a:t>Output</a:t>
            </a:r>
          </a:p>
        </p:txBody>
      </p:sp>
      <p:sp>
        <p:nvSpPr>
          <p:cNvPr id="33" name="Rectangle 33"/>
          <p:cNvSpPr/>
          <p:nvPr/>
        </p:nvSpPr>
        <p:spPr>
          <a:xfrm>
            <a:off x="4333875" y="1238250"/>
            <a:ext cx="3524250" cy="5048250"/>
          </a:xfrm>
          <a:prstGeom prst="roundRect">
            <a:avLst>
              <a:gd name="adj" fmla="val 3243"/>
            </a:avLst>
          </a:prstGeom>
          <a:solidFill>
            <a:srgbClr val="1E293B"/>
          </a:solidFill>
          <a:ln w="9525">
            <a:solidFill>
              <a:srgbClr val="334155"/>
            </a:solidFill>
          </a:ln>
        </p:spPr>
      </p:sp>
      <p:sp>
        <p:nvSpPr>
          <p:cNvPr id="34" name="Rectangle 34"/>
          <p:cNvSpPr/>
          <p:nvPr/>
        </p:nvSpPr>
        <p:spPr>
          <a:xfrm>
            <a:off x="4333875" y="1238250"/>
            <a:ext cx="3524250" cy="57150"/>
          </a:xfrm>
          <a:prstGeom prst="roundRect">
            <a:avLst>
              <a:gd name="adj" fmla="val 50000"/>
            </a:avLst>
          </a:prstGeom>
          <a:solidFill>
            <a:srgbClr val="22D3EE"/>
          </a:solidFill>
          <a:ln>
            <a:noFill/>
          </a:ln>
        </p:spPr>
      </p:sp>
      <p:sp>
        <p:nvSpPr>
          <p:cNvPr id="35" name="Ellipse 35"/>
          <p:cNvSpPr/>
          <p:nvPr/>
        </p:nvSpPr>
        <p:spPr>
          <a:xfrm>
            <a:off x="4600575" y="1504950"/>
            <a:ext cx="609600" cy="609600"/>
          </a:xfrm>
          <a:prstGeom prst="ellipse">
            <a:avLst/>
          </a:prstGeom>
          <a:solidFill>
            <a:srgbClr val="22D3EE">
              <a:alpha val="15000"/>
            </a:srgbClr>
          </a:solidFill>
          <a:ln w="14288">
            <a:solidFill>
              <a:srgbClr val="22D3EE"/>
            </a:solidFill>
          </a:ln>
        </p:spPr>
      </p:sp>
      <p:sp>
        <p:nvSpPr>
          <p:cNvPr id="36" name="TextBox 36"/>
          <p:cNvSpPr txBox="1"/>
          <p:nvPr/>
        </p:nvSpPr>
        <p:spPr>
          <a:xfrm>
            <a:off x="4823067" y="1704975"/>
            <a:ext cx="164616" cy="304800"/>
          </a:xfrm>
          <a:prstGeom prst="rect">
            <a:avLst/>
          </a:prstGeom>
          <a:noFill/>
          <a:ln>
            <a:noFill/>
          </a:ln>
        </p:spPr>
        <p:txBody>
          <a:bodyPr wrap="none" lIns="0" tIns="0" rIns="0" bIns="0" anchor="t" anchorCtr="0">
            <a:spAutoFit/>
          </a:bodyPr>
          <a:lstStyle/>
          <a:p>
            <a:pPr algn="ctr"/>
            <a:r>
              <a:rPr lang="zh-CN" sz="1500" b="1" dirty="0">
                <a:solidFill>
                  <a:srgbClr val="22D3EE"/>
                </a:solidFill>
                <a:latin typeface="Georgia"/>
                <a:ea typeface="Microsoft YaHei"/>
                <a:cs typeface="Georgia"/>
              </a:rPr>
              <a:t>2</a:t>
            </a:r>
          </a:p>
        </p:txBody>
      </p:sp>
      <p:sp>
        <p:nvSpPr>
          <p:cNvPr id="37" name="TextBox 37"/>
          <p:cNvSpPr txBox="1"/>
          <p:nvPr/>
        </p:nvSpPr>
        <p:spPr>
          <a:xfrm>
            <a:off x="5341620" y="1688782"/>
            <a:ext cx="1294417"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Recurrent</a:t>
            </a:r>
          </a:p>
        </p:txBody>
      </p:sp>
      <p:sp>
        <p:nvSpPr>
          <p:cNvPr id="38" name="TextBox 38"/>
          <p:cNvSpPr txBox="1"/>
          <p:nvPr/>
        </p:nvSpPr>
        <p:spPr>
          <a:xfrm>
            <a:off x="5341620" y="1936432"/>
            <a:ext cx="2066163"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Backpropagation</a:t>
            </a:r>
          </a:p>
        </p:txBody>
      </p:sp>
      <p:sp>
        <p:nvSpPr>
          <p:cNvPr id="39" name="Line 39"/>
          <p:cNvSpPr/>
          <p:nvPr/>
        </p:nvSpPr>
        <p:spPr>
          <a:xfrm>
            <a:off x="4714875" y="2333625"/>
            <a:ext cx="2762250" cy="9525"/>
          </a:xfrm>
          <a:custGeom>
            <a:avLst/>
            <a:gdLst/>
            <a:ahLst/>
            <a:cxnLst/>
            <a:rect l="l" t="t" r="r" b="b"/>
            <a:pathLst>
              <a:path w="2762250" h="9525">
                <a:moveTo>
                  <a:pt x="0" y="0"/>
                </a:moveTo>
                <a:lnTo>
                  <a:pt x="2762250" y="0"/>
                </a:lnTo>
              </a:path>
            </a:pathLst>
          </a:custGeom>
          <a:noFill/>
          <a:ln w="9525">
            <a:solidFill>
              <a:srgbClr val="334155"/>
            </a:solidFill>
          </a:ln>
        </p:spPr>
      </p:sp>
      <p:sp>
        <p:nvSpPr>
          <p:cNvPr id="40" name="TextBox 40"/>
          <p:cNvSpPr txBox="1"/>
          <p:nvPr/>
        </p:nvSpPr>
        <p:spPr>
          <a:xfrm>
            <a:off x="4699635" y="2537460"/>
            <a:ext cx="198462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Processes input until a</a:t>
            </a:r>
          </a:p>
        </p:txBody>
      </p:sp>
      <p:sp>
        <p:nvSpPr>
          <p:cNvPr id="41" name="TextBox 41"/>
          <p:cNvSpPr txBox="1"/>
          <p:nvPr/>
        </p:nvSpPr>
        <p:spPr>
          <a:xfrm>
            <a:off x="4699635" y="2766060"/>
            <a:ext cx="198462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fixed value is reached.</a:t>
            </a:r>
          </a:p>
        </p:txBody>
      </p:sp>
      <p:sp>
        <p:nvSpPr>
          <p:cNvPr id="42" name="TextBox 42"/>
          <p:cNvSpPr txBox="1"/>
          <p:nvPr/>
        </p:nvSpPr>
        <p:spPr>
          <a:xfrm>
            <a:off x="4699635" y="3108960"/>
            <a:ext cx="254546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Used for sequence-dependent</a:t>
            </a:r>
          </a:p>
        </p:txBody>
      </p:sp>
      <p:sp>
        <p:nvSpPr>
          <p:cNvPr id="43" name="TextBox 43"/>
          <p:cNvSpPr txBox="1"/>
          <p:nvPr/>
        </p:nvSpPr>
        <p:spPr>
          <a:xfrm>
            <a:off x="4699635" y="3337560"/>
            <a:ext cx="237896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tasks where order matters</a:t>
            </a:r>
          </a:p>
        </p:txBody>
      </p:sp>
      <p:sp>
        <p:nvSpPr>
          <p:cNvPr id="44" name="TextBox 44"/>
          <p:cNvSpPr txBox="1"/>
          <p:nvPr/>
        </p:nvSpPr>
        <p:spPr>
          <a:xfrm>
            <a:off x="4699635" y="3566160"/>
            <a:ext cx="201968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and output feeds back.</a:t>
            </a:r>
          </a:p>
        </p:txBody>
      </p:sp>
      <p:sp>
        <p:nvSpPr>
          <p:cNvPr id="45" name="Rectangle 45"/>
          <p:cNvSpPr/>
          <p:nvPr/>
        </p:nvSpPr>
        <p:spPr>
          <a:xfrm>
            <a:off x="4714875" y="4191000"/>
            <a:ext cx="2762250" cy="419100"/>
          </a:xfrm>
          <a:prstGeom prst="roundRect">
            <a:avLst>
              <a:gd name="adj" fmla="val 18182"/>
            </a:avLst>
          </a:prstGeom>
          <a:solidFill>
            <a:srgbClr val="22D3EE">
              <a:alpha val="10000"/>
            </a:srgbClr>
          </a:solidFill>
          <a:ln w="9525">
            <a:solidFill>
              <a:srgbClr val="22D3EE">
                <a:alpha val="30000"/>
              </a:srgbClr>
            </a:solidFill>
          </a:ln>
        </p:spPr>
      </p:sp>
      <p:grpSp>
        <p:nvGrpSpPr>
          <p:cNvPr id="50" name="Group 50"/>
          <p:cNvGrpSpPr/>
          <p:nvPr/>
        </p:nvGrpSpPr>
        <p:grpSpPr>
          <a:xfrm>
            <a:off x="4857750" y="4314825"/>
            <a:ext cx="171791" cy="172122"/>
            <a:chOff x="4857750" y="4314825"/>
            <a:chExt cx="171791" cy="172122"/>
          </a:xfrm>
        </p:grpSpPr>
        <p:sp>
          <p:nvSpPr>
            <p:cNvPr id="46" name="Freeform 46"/>
            <p:cNvSpPr/>
            <p:nvPr/>
          </p:nvSpPr>
          <p:spPr>
            <a:xfrm>
              <a:off x="4857750"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22D3EE"/>
            </a:solidFill>
            <a:ln>
              <a:noFill/>
            </a:ln>
          </p:spPr>
        </p:sp>
        <p:sp>
          <p:nvSpPr>
            <p:cNvPr id="47" name="Freeform 47"/>
            <p:cNvSpPr/>
            <p:nvPr/>
          </p:nvSpPr>
          <p:spPr>
            <a:xfrm>
              <a:off x="4953000"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22D3EE"/>
            </a:solidFill>
            <a:ln>
              <a:noFill/>
            </a:ln>
          </p:spPr>
        </p:sp>
        <p:sp>
          <p:nvSpPr>
            <p:cNvPr id="48" name="Freeform 48"/>
            <p:cNvSpPr/>
            <p:nvPr/>
          </p:nvSpPr>
          <p:spPr>
            <a:xfrm>
              <a:off x="4857750" y="441007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22D3EE"/>
            </a:solidFill>
            <a:ln>
              <a:noFill/>
            </a:ln>
          </p:spPr>
        </p:sp>
        <p:sp>
          <p:nvSpPr>
            <p:cNvPr id="49" name="Freeform 49"/>
            <p:cNvSpPr/>
            <p:nvPr/>
          </p:nvSpPr>
          <p:spPr>
            <a:xfrm>
              <a:off x="4953000" y="4410075"/>
              <a:ext cx="76541" cy="76872"/>
            </a:xfrm>
            <a:custGeom>
              <a:avLst/>
              <a:gdLst/>
              <a:ahLst/>
              <a:cxnLst/>
              <a:rect l="l" t="t" r="r" b="b"/>
              <a:pathLst>
                <a:path w="76541" h="76872">
                  <a:moveTo>
                    <a:pt x="38100" y="0"/>
                  </a:moveTo>
                  <a:cubicBezTo>
                    <a:pt x="58894" y="0"/>
                    <a:pt x="75848" y="16673"/>
                    <a:pt x="76195" y="37465"/>
                  </a:cubicBezTo>
                  <a:cubicBezTo>
                    <a:pt x="76541" y="58256"/>
                    <a:pt x="60153" y="75486"/>
                    <a:pt x="39370" y="76179"/>
                  </a:cubicBezTo>
                  <a:cubicBezTo>
                    <a:pt x="18587" y="76872"/>
                    <a:pt x="1087" y="60773"/>
                    <a:pt x="48" y="40005"/>
                  </a:cubicBezTo>
                  <a:lnTo>
                    <a:pt x="0" y="38100"/>
                  </a:lnTo>
                  <a:lnTo>
                    <a:pt x="48" y="36195"/>
                  </a:lnTo>
                  <a:cubicBezTo>
                    <a:pt x="1063" y="15919"/>
                    <a:pt x="17798" y="0"/>
                    <a:pt x="38100" y="0"/>
                  </a:cubicBezTo>
                  <a:close/>
                </a:path>
              </a:pathLst>
            </a:custGeom>
            <a:solidFill>
              <a:srgbClr val="22D3EE"/>
            </a:solidFill>
            <a:ln>
              <a:noFill/>
            </a:ln>
          </p:spPr>
        </p:sp>
      </p:grpSp>
      <p:sp>
        <p:nvSpPr>
          <p:cNvPr id="51" name="TextBox 51"/>
          <p:cNvSpPr txBox="1"/>
          <p:nvPr/>
        </p:nvSpPr>
        <p:spPr>
          <a:xfrm>
            <a:off x="5120640" y="4344352"/>
            <a:ext cx="2012585" cy="213360"/>
          </a:xfrm>
          <a:prstGeom prst="rect">
            <a:avLst/>
          </a:prstGeom>
          <a:noFill/>
          <a:ln>
            <a:noFill/>
          </a:ln>
        </p:spPr>
        <p:txBody>
          <a:bodyPr wrap="none" lIns="0" tIns="0" rIns="0" bIns="0" anchor="t" anchorCtr="0">
            <a:spAutoFit/>
          </a:bodyPr>
          <a:lstStyle/>
          <a:p>
            <a:pPr algn="l"/>
            <a:r>
              <a:rPr lang="zh-CN" sz="1050" dirty="0">
                <a:solidFill>
                  <a:srgbClr val="22D3EE"/>
                </a:solidFill>
                <a:latin typeface="Arial"/>
                <a:ea typeface="Microsoft YaHei"/>
                <a:cs typeface="Arial"/>
              </a:rPr>
              <a:t>Sequence-Dependent Tasks</a:t>
            </a:r>
          </a:p>
        </p:txBody>
      </p:sp>
      <p:sp>
        <p:nvSpPr>
          <p:cNvPr id="52" name="Rectangle 52"/>
          <p:cNvSpPr/>
          <p:nvPr/>
        </p:nvSpPr>
        <p:spPr>
          <a:xfrm>
            <a:off x="5143500" y="4953000"/>
            <a:ext cx="476250" cy="342900"/>
          </a:xfrm>
          <a:prstGeom prst="roundRect">
            <a:avLst>
              <a:gd name="adj" fmla="val 16667"/>
            </a:avLst>
          </a:prstGeom>
          <a:solidFill>
            <a:srgbClr val="22D3EE">
              <a:alpha val="20000"/>
            </a:srgbClr>
          </a:solidFill>
          <a:ln w="9525">
            <a:solidFill>
              <a:srgbClr val="22D3EE"/>
            </a:solidFill>
          </a:ln>
        </p:spPr>
      </p:sp>
      <p:sp>
        <p:nvSpPr>
          <p:cNvPr id="53" name="TextBox 53"/>
          <p:cNvSpPr txBox="1"/>
          <p:nvPr/>
        </p:nvSpPr>
        <p:spPr>
          <a:xfrm>
            <a:off x="5297900" y="5074920"/>
            <a:ext cx="167449" cy="182880"/>
          </a:xfrm>
          <a:prstGeom prst="rect">
            <a:avLst/>
          </a:prstGeom>
          <a:noFill/>
          <a:ln>
            <a:noFill/>
          </a:ln>
        </p:spPr>
        <p:txBody>
          <a:bodyPr wrap="none" lIns="0" tIns="0" rIns="0" bIns="0" anchor="t" anchorCtr="0">
            <a:spAutoFit/>
          </a:bodyPr>
          <a:lstStyle/>
          <a:p>
            <a:pPr algn="ctr"/>
            <a:r>
              <a:rPr lang="zh-CN" sz="900" dirty="0">
                <a:solidFill>
                  <a:srgbClr val="22D3EE"/>
                </a:solidFill>
                <a:latin typeface="Consolas"/>
                <a:ea typeface="Microsoft YaHei"/>
                <a:cs typeface="Consolas"/>
              </a:rPr>
              <a:t>NN</a:t>
            </a:r>
          </a:p>
        </p:txBody>
      </p:sp>
      <p:sp>
        <p:nvSpPr>
          <p:cNvPr id="54" name="Freeform 54"/>
          <p:cNvSpPr/>
          <p:nvPr/>
        </p:nvSpPr>
        <p:spPr>
          <a:xfrm>
            <a:off x="4857750" y="4838700"/>
            <a:ext cx="1238250" cy="285750"/>
          </a:xfrm>
          <a:custGeom>
            <a:avLst/>
            <a:gdLst/>
            <a:ahLst/>
            <a:cxnLst/>
            <a:rect l="l" t="t" r="r" b="b"/>
            <a:pathLst>
              <a:path w="1238250" h="285750">
                <a:moveTo>
                  <a:pt x="762000" y="285750"/>
                </a:moveTo>
                <a:lnTo>
                  <a:pt x="1238250" y="285750"/>
                </a:lnTo>
                <a:lnTo>
                  <a:pt x="1238250" y="0"/>
                </a:lnTo>
                <a:lnTo>
                  <a:pt x="0" y="0"/>
                </a:lnTo>
                <a:lnTo>
                  <a:pt x="0" y="285750"/>
                </a:lnTo>
                <a:lnTo>
                  <a:pt x="285750" y="285750"/>
                </a:lnTo>
              </a:path>
            </a:pathLst>
          </a:custGeom>
          <a:noFill/>
          <a:ln w="14288">
            <a:solidFill>
              <a:srgbClr val="F59E0B"/>
            </a:solidFill>
          </a:ln>
        </p:spPr>
      </p:sp>
      <p:sp>
        <p:nvSpPr>
          <p:cNvPr id="55" name="Polygon 55"/>
          <p:cNvSpPr/>
          <p:nvPr/>
        </p:nvSpPr>
        <p:spPr>
          <a:xfrm>
            <a:off x="5067300" y="5086350"/>
            <a:ext cx="76200" cy="76200"/>
          </a:xfrm>
          <a:custGeom>
            <a:avLst/>
            <a:gdLst/>
            <a:ahLst/>
            <a:cxnLst/>
            <a:rect l="l" t="t" r="r" b="b"/>
            <a:pathLst>
              <a:path w="76200" h="76200">
                <a:moveTo>
                  <a:pt x="76200" y="0"/>
                </a:moveTo>
                <a:lnTo>
                  <a:pt x="0" y="38100"/>
                </a:lnTo>
                <a:lnTo>
                  <a:pt x="76200" y="76200"/>
                </a:lnTo>
                <a:close/>
              </a:path>
            </a:pathLst>
          </a:custGeom>
          <a:solidFill>
            <a:srgbClr val="F59E0B"/>
          </a:solidFill>
          <a:ln>
            <a:noFill/>
          </a:ln>
        </p:spPr>
      </p:sp>
      <p:sp>
        <p:nvSpPr>
          <p:cNvPr id="56" name="Rectangle 56"/>
          <p:cNvSpPr/>
          <p:nvPr/>
        </p:nvSpPr>
        <p:spPr>
          <a:xfrm>
            <a:off x="8096250" y="1238250"/>
            <a:ext cx="3524250" cy="5048250"/>
          </a:xfrm>
          <a:prstGeom prst="roundRect">
            <a:avLst>
              <a:gd name="adj" fmla="val 3243"/>
            </a:avLst>
          </a:prstGeom>
          <a:solidFill>
            <a:srgbClr val="1E293B"/>
          </a:solidFill>
          <a:ln w="9525">
            <a:solidFill>
              <a:srgbClr val="334155"/>
            </a:solidFill>
          </a:ln>
        </p:spPr>
      </p:sp>
      <p:sp>
        <p:nvSpPr>
          <p:cNvPr id="57" name="Rectangle 57"/>
          <p:cNvSpPr/>
          <p:nvPr/>
        </p:nvSpPr>
        <p:spPr>
          <a:xfrm>
            <a:off x="8096250" y="1238250"/>
            <a:ext cx="3524250" cy="57150"/>
          </a:xfrm>
          <a:prstGeom prst="roundRect">
            <a:avLst>
              <a:gd name="adj" fmla="val 50000"/>
            </a:avLst>
          </a:prstGeom>
          <a:solidFill>
            <a:srgbClr val="8B5CF6"/>
          </a:solidFill>
          <a:ln>
            <a:noFill/>
          </a:ln>
        </p:spPr>
      </p:sp>
      <p:sp>
        <p:nvSpPr>
          <p:cNvPr id="58" name="Ellipse 58"/>
          <p:cNvSpPr/>
          <p:nvPr/>
        </p:nvSpPr>
        <p:spPr>
          <a:xfrm>
            <a:off x="8362950" y="1504950"/>
            <a:ext cx="609600" cy="609600"/>
          </a:xfrm>
          <a:prstGeom prst="ellipse">
            <a:avLst/>
          </a:prstGeom>
          <a:solidFill>
            <a:srgbClr val="8B5CF6">
              <a:alpha val="15000"/>
            </a:srgbClr>
          </a:solidFill>
          <a:ln w="14288">
            <a:solidFill>
              <a:srgbClr val="8B5CF6"/>
            </a:solidFill>
          </a:ln>
        </p:spPr>
      </p:sp>
      <p:sp>
        <p:nvSpPr>
          <p:cNvPr id="59" name="TextBox 59"/>
          <p:cNvSpPr txBox="1"/>
          <p:nvPr/>
        </p:nvSpPr>
        <p:spPr>
          <a:xfrm>
            <a:off x="8585442" y="1704975"/>
            <a:ext cx="164616" cy="304800"/>
          </a:xfrm>
          <a:prstGeom prst="rect">
            <a:avLst/>
          </a:prstGeom>
          <a:noFill/>
          <a:ln>
            <a:noFill/>
          </a:ln>
        </p:spPr>
        <p:txBody>
          <a:bodyPr wrap="none" lIns="0" tIns="0" rIns="0" bIns="0" anchor="t" anchorCtr="0">
            <a:spAutoFit/>
          </a:bodyPr>
          <a:lstStyle/>
          <a:p>
            <a:pPr algn="ctr"/>
            <a:r>
              <a:rPr lang="zh-CN" sz="1500" b="1" dirty="0">
                <a:solidFill>
                  <a:srgbClr val="8B5CF6"/>
                </a:solidFill>
                <a:latin typeface="Georgia"/>
                <a:ea typeface="Microsoft YaHei"/>
                <a:cs typeface="Georgia"/>
              </a:rPr>
              <a:t>3</a:t>
            </a:r>
          </a:p>
        </p:txBody>
      </p:sp>
      <p:sp>
        <p:nvSpPr>
          <p:cNvPr id="60" name="TextBox 60"/>
          <p:cNvSpPr txBox="1"/>
          <p:nvPr/>
        </p:nvSpPr>
        <p:spPr>
          <a:xfrm>
            <a:off x="9103995" y="1688782"/>
            <a:ext cx="1370326"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BP Through</a:t>
            </a:r>
          </a:p>
        </p:txBody>
      </p:sp>
      <p:sp>
        <p:nvSpPr>
          <p:cNvPr id="61" name="TextBox 61"/>
          <p:cNvSpPr txBox="1"/>
          <p:nvPr/>
        </p:nvSpPr>
        <p:spPr>
          <a:xfrm>
            <a:off x="9103995" y="1936432"/>
            <a:ext cx="1496842"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Time (BPTT)</a:t>
            </a:r>
          </a:p>
        </p:txBody>
      </p:sp>
      <p:sp>
        <p:nvSpPr>
          <p:cNvPr id="62" name="Line 62"/>
          <p:cNvSpPr/>
          <p:nvPr/>
        </p:nvSpPr>
        <p:spPr>
          <a:xfrm>
            <a:off x="8477250" y="2333625"/>
            <a:ext cx="2762250" cy="9525"/>
          </a:xfrm>
          <a:custGeom>
            <a:avLst/>
            <a:gdLst/>
            <a:ahLst/>
            <a:cxnLst/>
            <a:rect l="l" t="t" r="r" b="b"/>
            <a:pathLst>
              <a:path w="2762250" h="9525">
                <a:moveTo>
                  <a:pt x="0" y="0"/>
                </a:moveTo>
                <a:lnTo>
                  <a:pt x="2762250" y="0"/>
                </a:lnTo>
              </a:path>
            </a:pathLst>
          </a:custGeom>
          <a:noFill/>
          <a:ln w="9525">
            <a:solidFill>
              <a:srgbClr val="334155"/>
            </a:solidFill>
          </a:ln>
        </p:spPr>
      </p:sp>
      <p:sp>
        <p:nvSpPr>
          <p:cNvPr id="63" name="TextBox 63"/>
          <p:cNvSpPr txBox="1"/>
          <p:nvPr/>
        </p:nvSpPr>
        <p:spPr>
          <a:xfrm>
            <a:off x="8462010" y="2537460"/>
            <a:ext cx="215988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Handles time-series data</a:t>
            </a:r>
          </a:p>
        </p:txBody>
      </p:sp>
      <p:sp>
        <p:nvSpPr>
          <p:cNvPr id="64" name="TextBox 64"/>
          <p:cNvSpPr txBox="1"/>
          <p:nvPr/>
        </p:nvSpPr>
        <p:spPr>
          <a:xfrm>
            <a:off x="8462010" y="2766060"/>
            <a:ext cx="193205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by unrolling recurrent</a:t>
            </a:r>
          </a:p>
        </p:txBody>
      </p:sp>
      <p:sp>
        <p:nvSpPr>
          <p:cNvPr id="65" name="TextBox 65"/>
          <p:cNvSpPr txBox="1"/>
          <p:nvPr/>
        </p:nvSpPr>
        <p:spPr>
          <a:xfrm>
            <a:off x="8462010" y="2994660"/>
            <a:ext cx="2378964"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networks into feedforward</a:t>
            </a:r>
          </a:p>
        </p:txBody>
      </p:sp>
      <p:sp>
        <p:nvSpPr>
          <p:cNvPr id="66" name="TextBox 66"/>
          <p:cNvSpPr txBox="1"/>
          <p:nvPr/>
        </p:nvSpPr>
        <p:spPr>
          <a:xfrm>
            <a:off x="8462010" y="3223260"/>
            <a:ext cx="2063496"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form for training. Each</a:t>
            </a:r>
          </a:p>
        </p:txBody>
      </p:sp>
      <p:sp>
        <p:nvSpPr>
          <p:cNvPr id="67" name="TextBox 67"/>
          <p:cNvSpPr txBox="1"/>
          <p:nvPr/>
        </p:nvSpPr>
        <p:spPr>
          <a:xfrm>
            <a:off x="8462010" y="3451860"/>
            <a:ext cx="238772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timestep = a network copy.</a:t>
            </a:r>
          </a:p>
        </p:txBody>
      </p:sp>
      <p:sp>
        <p:nvSpPr>
          <p:cNvPr id="68" name="Rectangle 68"/>
          <p:cNvSpPr/>
          <p:nvPr/>
        </p:nvSpPr>
        <p:spPr>
          <a:xfrm>
            <a:off x="8477250" y="4191000"/>
            <a:ext cx="2762250" cy="419100"/>
          </a:xfrm>
          <a:prstGeom prst="roundRect">
            <a:avLst>
              <a:gd name="adj" fmla="val 18182"/>
            </a:avLst>
          </a:prstGeom>
          <a:solidFill>
            <a:srgbClr val="8B5CF6">
              <a:alpha val="10000"/>
            </a:srgbClr>
          </a:solidFill>
          <a:ln w="9525">
            <a:solidFill>
              <a:srgbClr val="8B5CF6">
                <a:alpha val="30000"/>
              </a:srgbClr>
            </a:solidFill>
          </a:ln>
        </p:spPr>
      </p:sp>
      <p:grpSp>
        <p:nvGrpSpPr>
          <p:cNvPr id="73" name="Group 73"/>
          <p:cNvGrpSpPr/>
          <p:nvPr/>
        </p:nvGrpSpPr>
        <p:grpSpPr>
          <a:xfrm>
            <a:off x="8620125" y="4314825"/>
            <a:ext cx="171791" cy="172122"/>
            <a:chOff x="8620125" y="4314825"/>
            <a:chExt cx="171791" cy="172122"/>
          </a:xfrm>
        </p:grpSpPr>
        <p:sp>
          <p:nvSpPr>
            <p:cNvPr id="69" name="Freeform 69"/>
            <p:cNvSpPr/>
            <p:nvPr/>
          </p:nvSpPr>
          <p:spPr>
            <a:xfrm>
              <a:off x="8620125"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8B5CF6"/>
            </a:solidFill>
            <a:ln>
              <a:noFill/>
            </a:ln>
          </p:spPr>
        </p:sp>
        <p:sp>
          <p:nvSpPr>
            <p:cNvPr id="70" name="Freeform 70"/>
            <p:cNvSpPr/>
            <p:nvPr/>
          </p:nvSpPr>
          <p:spPr>
            <a:xfrm>
              <a:off x="8715375" y="431482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8B5CF6"/>
            </a:solidFill>
            <a:ln>
              <a:noFill/>
            </a:ln>
          </p:spPr>
        </p:sp>
        <p:sp>
          <p:nvSpPr>
            <p:cNvPr id="71" name="Freeform 71"/>
            <p:cNvSpPr/>
            <p:nvPr/>
          </p:nvSpPr>
          <p:spPr>
            <a:xfrm>
              <a:off x="8620125" y="4410075"/>
              <a:ext cx="76200" cy="76200"/>
            </a:xfrm>
            <a:custGeom>
              <a:avLst/>
              <a:gdLst/>
              <a:ahLst/>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solidFill>
              <a:srgbClr val="8B5CF6"/>
            </a:solidFill>
            <a:ln>
              <a:noFill/>
            </a:ln>
          </p:spPr>
        </p:sp>
        <p:sp>
          <p:nvSpPr>
            <p:cNvPr id="72" name="Freeform 72"/>
            <p:cNvSpPr/>
            <p:nvPr/>
          </p:nvSpPr>
          <p:spPr>
            <a:xfrm>
              <a:off x="8715375" y="4410075"/>
              <a:ext cx="76541" cy="76872"/>
            </a:xfrm>
            <a:custGeom>
              <a:avLst/>
              <a:gdLst/>
              <a:ahLst/>
              <a:cxnLst/>
              <a:rect l="l" t="t" r="r" b="b"/>
              <a:pathLst>
                <a:path w="76541" h="76872">
                  <a:moveTo>
                    <a:pt x="38100" y="0"/>
                  </a:moveTo>
                  <a:cubicBezTo>
                    <a:pt x="58894" y="0"/>
                    <a:pt x="75848" y="16673"/>
                    <a:pt x="76195" y="37465"/>
                  </a:cubicBezTo>
                  <a:cubicBezTo>
                    <a:pt x="76541" y="58256"/>
                    <a:pt x="60153" y="75486"/>
                    <a:pt x="39370" y="76179"/>
                  </a:cubicBezTo>
                  <a:cubicBezTo>
                    <a:pt x="18587" y="76872"/>
                    <a:pt x="1087" y="60773"/>
                    <a:pt x="48" y="40005"/>
                  </a:cubicBezTo>
                  <a:lnTo>
                    <a:pt x="0" y="38100"/>
                  </a:lnTo>
                  <a:lnTo>
                    <a:pt x="48" y="36195"/>
                  </a:lnTo>
                  <a:cubicBezTo>
                    <a:pt x="1063" y="15919"/>
                    <a:pt x="17798" y="0"/>
                    <a:pt x="38100" y="0"/>
                  </a:cubicBezTo>
                  <a:close/>
                </a:path>
              </a:pathLst>
            </a:custGeom>
            <a:solidFill>
              <a:srgbClr val="8B5CF6"/>
            </a:solidFill>
            <a:ln>
              <a:noFill/>
            </a:ln>
          </p:spPr>
        </p:sp>
      </p:grpSp>
      <p:sp>
        <p:nvSpPr>
          <p:cNvPr id="74" name="TextBox 74"/>
          <p:cNvSpPr txBox="1"/>
          <p:nvPr/>
        </p:nvSpPr>
        <p:spPr>
          <a:xfrm>
            <a:off x="8883015" y="4344352"/>
            <a:ext cx="1291828" cy="213360"/>
          </a:xfrm>
          <a:prstGeom prst="rect">
            <a:avLst/>
          </a:prstGeom>
          <a:noFill/>
          <a:ln>
            <a:noFill/>
          </a:ln>
        </p:spPr>
        <p:txBody>
          <a:bodyPr wrap="none" lIns="0" tIns="0" rIns="0" bIns="0" anchor="t" anchorCtr="0">
            <a:spAutoFit/>
          </a:bodyPr>
          <a:lstStyle/>
          <a:p>
            <a:pPr algn="l"/>
            <a:r>
              <a:rPr lang="zh-CN" sz="1050" dirty="0">
                <a:solidFill>
                  <a:srgbClr val="8B5CF6"/>
                </a:solidFill>
                <a:latin typeface="Arial"/>
                <a:ea typeface="Microsoft YaHei"/>
                <a:cs typeface="Arial"/>
              </a:rPr>
              <a:t>Time-Series Data</a:t>
            </a:r>
          </a:p>
        </p:txBody>
      </p:sp>
      <p:sp>
        <p:nvSpPr>
          <p:cNvPr id="75" name="Rectangle 75"/>
          <p:cNvSpPr/>
          <p:nvPr/>
        </p:nvSpPr>
        <p:spPr>
          <a:xfrm>
            <a:off x="8667750" y="4953000"/>
            <a:ext cx="381000" cy="285750"/>
          </a:xfrm>
          <a:prstGeom prst="roundRect">
            <a:avLst>
              <a:gd name="adj" fmla="val 13333"/>
            </a:avLst>
          </a:prstGeom>
          <a:solidFill>
            <a:srgbClr val="8B5CF6">
              <a:alpha val="20000"/>
            </a:srgbClr>
          </a:solidFill>
          <a:ln w="9525">
            <a:solidFill>
              <a:srgbClr val="8B5CF6"/>
            </a:solidFill>
          </a:ln>
        </p:spPr>
      </p:sp>
      <p:sp>
        <p:nvSpPr>
          <p:cNvPr id="76" name="TextBox 76"/>
          <p:cNvSpPr txBox="1"/>
          <p:nvPr/>
        </p:nvSpPr>
        <p:spPr>
          <a:xfrm>
            <a:off x="8802172" y="5062538"/>
            <a:ext cx="112157" cy="152400"/>
          </a:xfrm>
          <a:prstGeom prst="rect">
            <a:avLst/>
          </a:prstGeom>
          <a:noFill/>
          <a:ln>
            <a:noFill/>
          </a:ln>
        </p:spPr>
        <p:txBody>
          <a:bodyPr wrap="none" lIns="0" tIns="0" rIns="0" bIns="0" anchor="t" anchorCtr="0">
            <a:spAutoFit/>
          </a:bodyPr>
          <a:lstStyle/>
          <a:p>
            <a:pPr algn="ctr"/>
            <a:r>
              <a:rPr lang="zh-CN" sz="750" dirty="0">
                <a:solidFill>
                  <a:srgbClr val="8B5CF6"/>
                </a:solidFill>
                <a:latin typeface="Consolas"/>
                <a:ea typeface="Microsoft YaHei"/>
                <a:cs typeface="Consolas"/>
              </a:rPr>
              <a:t>t1</a:t>
            </a:r>
          </a:p>
        </p:txBody>
      </p:sp>
      <p:sp>
        <p:nvSpPr>
          <p:cNvPr id="77" name="Line 77"/>
          <p:cNvSpPr/>
          <p:nvPr/>
        </p:nvSpPr>
        <p:spPr>
          <a:xfrm>
            <a:off x="9048750" y="5095875"/>
            <a:ext cx="190500" cy="9525"/>
          </a:xfrm>
          <a:custGeom>
            <a:avLst/>
            <a:gdLst/>
            <a:ahLst/>
            <a:cxnLst/>
            <a:rect l="l" t="t" r="r" b="b"/>
            <a:pathLst>
              <a:path w="190500" h="9525">
                <a:moveTo>
                  <a:pt x="0" y="0"/>
                </a:moveTo>
                <a:lnTo>
                  <a:pt x="190500" y="0"/>
                </a:lnTo>
              </a:path>
            </a:pathLst>
          </a:custGeom>
          <a:noFill/>
          <a:ln w="9525">
            <a:solidFill>
              <a:srgbClr val="8B5CF6"/>
            </a:solidFill>
          </a:ln>
        </p:spPr>
      </p:sp>
      <p:sp>
        <p:nvSpPr>
          <p:cNvPr id="78" name="Rectangle 78"/>
          <p:cNvSpPr/>
          <p:nvPr/>
        </p:nvSpPr>
        <p:spPr>
          <a:xfrm>
            <a:off x="9239250" y="4953000"/>
            <a:ext cx="381000" cy="285750"/>
          </a:xfrm>
          <a:prstGeom prst="roundRect">
            <a:avLst>
              <a:gd name="adj" fmla="val 13333"/>
            </a:avLst>
          </a:prstGeom>
          <a:solidFill>
            <a:srgbClr val="8B5CF6">
              <a:alpha val="20000"/>
            </a:srgbClr>
          </a:solidFill>
          <a:ln w="9525">
            <a:solidFill>
              <a:srgbClr val="8B5CF6"/>
            </a:solidFill>
          </a:ln>
        </p:spPr>
      </p:sp>
      <p:sp>
        <p:nvSpPr>
          <p:cNvPr id="79" name="TextBox 79"/>
          <p:cNvSpPr txBox="1"/>
          <p:nvPr/>
        </p:nvSpPr>
        <p:spPr>
          <a:xfrm>
            <a:off x="9359979" y="5062538"/>
            <a:ext cx="139541" cy="152400"/>
          </a:xfrm>
          <a:prstGeom prst="rect">
            <a:avLst/>
          </a:prstGeom>
          <a:noFill/>
          <a:ln>
            <a:noFill/>
          </a:ln>
        </p:spPr>
        <p:txBody>
          <a:bodyPr wrap="none" lIns="0" tIns="0" rIns="0" bIns="0" anchor="t" anchorCtr="0">
            <a:spAutoFit/>
          </a:bodyPr>
          <a:lstStyle/>
          <a:p>
            <a:pPr algn="ctr"/>
            <a:r>
              <a:rPr lang="zh-CN" sz="750" dirty="0">
                <a:solidFill>
                  <a:srgbClr val="8B5CF6"/>
                </a:solidFill>
                <a:latin typeface="Consolas"/>
                <a:ea typeface="Microsoft YaHei"/>
                <a:cs typeface="Consolas"/>
              </a:rPr>
              <a:t>t2</a:t>
            </a:r>
          </a:p>
        </p:txBody>
      </p:sp>
      <p:sp>
        <p:nvSpPr>
          <p:cNvPr id="80" name="Line 80"/>
          <p:cNvSpPr/>
          <p:nvPr/>
        </p:nvSpPr>
        <p:spPr>
          <a:xfrm>
            <a:off x="9620250" y="5095875"/>
            <a:ext cx="190500" cy="9525"/>
          </a:xfrm>
          <a:custGeom>
            <a:avLst/>
            <a:gdLst/>
            <a:ahLst/>
            <a:cxnLst/>
            <a:rect l="l" t="t" r="r" b="b"/>
            <a:pathLst>
              <a:path w="190500" h="9525">
                <a:moveTo>
                  <a:pt x="0" y="0"/>
                </a:moveTo>
                <a:lnTo>
                  <a:pt x="190500" y="0"/>
                </a:lnTo>
              </a:path>
            </a:pathLst>
          </a:custGeom>
          <a:noFill/>
          <a:ln w="9525">
            <a:solidFill>
              <a:srgbClr val="8B5CF6"/>
            </a:solidFill>
          </a:ln>
        </p:spPr>
      </p:sp>
      <p:sp>
        <p:nvSpPr>
          <p:cNvPr id="81" name="Rectangle 81"/>
          <p:cNvSpPr/>
          <p:nvPr/>
        </p:nvSpPr>
        <p:spPr>
          <a:xfrm>
            <a:off x="9810750" y="4953000"/>
            <a:ext cx="381000" cy="285750"/>
          </a:xfrm>
          <a:prstGeom prst="roundRect">
            <a:avLst>
              <a:gd name="adj" fmla="val 13333"/>
            </a:avLst>
          </a:prstGeom>
          <a:solidFill>
            <a:srgbClr val="8B5CF6">
              <a:alpha val="20000"/>
            </a:srgbClr>
          </a:solidFill>
          <a:ln w="9525">
            <a:solidFill>
              <a:srgbClr val="8B5CF6"/>
            </a:solidFill>
          </a:ln>
        </p:spPr>
      </p:sp>
      <p:sp>
        <p:nvSpPr>
          <p:cNvPr id="82" name="TextBox 82"/>
          <p:cNvSpPr txBox="1"/>
          <p:nvPr/>
        </p:nvSpPr>
        <p:spPr>
          <a:xfrm>
            <a:off x="9931479" y="5062538"/>
            <a:ext cx="139541" cy="152400"/>
          </a:xfrm>
          <a:prstGeom prst="rect">
            <a:avLst/>
          </a:prstGeom>
          <a:noFill/>
          <a:ln>
            <a:noFill/>
          </a:ln>
        </p:spPr>
        <p:txBody>
          <a:bodyPr wrap="none" lIns="0" tIns="0" rIns="0" bIns="0" anchor="t" anchorCtr="0">
            <a:spAutoFit/>
          </a:bodyPr>
          <a:lstStyle/>
          <a:p>
            <a:pPr algn="ctr"/>
            <a:r>
              <a:rPr lang="zh-CN" sz="750" dirty="0">
                <a:solidFill>
                  <a:srgbClr val="8B5CF6"/>
                </a:solidFill>
                <a:latin typeface="Consolas"/>
                <a:ea typeface="Microsoft YaHei"/>
                <a:cs typeface="Consolas"/>
              </a:rPr>
              <a:t>t3</a:t>
            </a:r>
          </a:p>
        </p:txBody>
      </p:sp>
      <p:sp>
        <p:nvSpPr>
          <p:cNvPr id="83" name="Line 83"/>
          <p:cNvSpPr/>
          <p:nvPr/>
        </p:nvSpPr>
        <p:spPr>
          <a:xfrm>
            <a:off x="10191750" y="5095875"/>
            <a:ext cx="190500" cy="9525"/>
          </a:xfrm>
          <a:custGeom>
            <a:avLst/>
            <a:gdLst/>
            <a:ahLst/>
            <a:cxnLst/>
            <a:rect l="l" t="t" r="r" b="b"/>
            <a:pathLst>
              <a:path w="190500" h="9525">
                <a:moveTo>
                  <a:pt x="0" y="0"/>
                </a:moveTo>
                <a:lnTo>
                  <a:pt x="190500" y="0"/>
                </a:lnTo>
              </a:path>
            </a:pathLst>
          </a:custGeom>
          <a:noFill/>
          <a:ln w="9525">
            <a:solidFill>
              <a:srgbClr val="8B5CF6"/>
            </a:solidFill>
          </a:ln>
        </p:spPr>
      </p:sp>
      <p:sp>
        <p:nvSpPr>
          <p:cNvPr id="84" name="TextBox 84"/>
          <p:cNvSpPr txBox="1"/>
          <p:nvPr/>
        </p:nvSpPr>
        <p:spPr>
          <a:xfrm>
            <a:off x="10466070" y="5046345"/>
            <a:ext cx="239744" cy="182880"/>
          </a:xfrm>
          <a:prstGeom prst="rect">
            <a:avLst/>
          </a:prstGeom>
          <a:noFill/>
          <a:ln>
            <a:noFill/>
          </a:ln>
        </p:spPr>
        <p:txBody>
          <a:bodyPr wrap="none" lIns="0" tIns="0" rIns="0" bIns="0" anchor="t" anchorCtr="0">
            <a:spAutoFit/>
          </a:bodyPr>
          <a:lstStyle/>
          <a:p>
            <a:pPr algn="l"/>
            <a:r>
              <a:rPr lang="zh-CN" sz="900" dirty="0">
                <a:solidFill>
                  <a:srgbClr val="8B5CF6"/>
                </a:solidFill>
                <a:latin typeface="Consolas"/>
                <a:ea typeface="Microsoft YaHei"/>
                <a:cs typeface="Consolas"/>
              </a:rPr>
              <a:t>...</a:t>
            </a:r>
          </a:p>
        </p:txBody>
      </p:sp>
      <p:sp>
        <p:nvSpPr>
          <p:cNvPr id="85" name="TextBox 85"/>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07</a:t>
            </a:r>
          </a:p>
        </p:txBody>
      </p:sp>
      <p:pic>
        <p:nvPicPr>
          <p:cNvPr id="86" name="narration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48332">
    <p:fade/>
  </p:transition>
  <p:timing>
    <p:tnLst>
      <p:par>
        <p:cTn id="1" dur="indefinite" restart="never" nodeType="tmRoot">
          <p:childTnLst>
            <p:audio>
              <p:cMediaNode vol="80000">
                <p:cTn id="2" fill="hold" display="0">
                  <p:stCondLst>
                    <p:cond delay="0"/>
                  </p:stCondLst>
                </p:cTn>
                <p:tgtEl>
                  <p:spTgt spid="8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4232172"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Backpropagation Formula</a:t>
            </a:r>
          </a:p>
        </p:txBody>
      </p:sp>
      <p:sp>
        <p:nvSpPr>
          <p:cNvPr id="5" name="Rectangle 5"/>
          <p:cNvSpPr/>
          <p:nvPr/>
        </p:nvSpPr>
        <p:spPr>
          <a:xfrm>
            <a:off x="571500" y="1143000"/>
            <a:ext cx="6667500" cy="2857500"/>
          </a:xfrm>
          <a:prstGeom prst="roundRect">
            <a:avLst>
              <a:gd name="adj" fmla="val 4000"/>
            </a:avLst>
          </a:prstGeom>
          <a:solidFill>
            <a:srgbClr val="1E293B"/>
          </a:solidFill>
          <a:ln w="9525">
            <a:solidFill>
              <a:srgbClr val="334155"/>
            </a:solidFill>
          </a:ln>
        </p:spPr>
      </p:sp>
      <p:sp>
        <p:nvSpPr>
          <p:cNvPr id="6" name="TextBox 6"/>
          <p:cNvSpPr txBox="1"/>
          <p:nvPr/>
        </p:nvSpPr>
        <p:spPr>
          <a:xfrm>
            <a:off x="933450" y="1343025"/>
            <a:ext cx="2694932"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Georgia"/>
                <a:ea typeface="Microsoft YaHei"/>
                <a:cs typeface="Georgia"/>
              </a:rPr>
              <a:t>Layer Output Equations</a:t>
            </a:r>
          </a:p>
        </p:txBody>
      </p:sp>
      <p:sp>
        <p:nvSpPr>
          <p:cNvPr id="7" name="Rectangle 7"/>
          <p:cNvSpPr/>
          <p:nvPr/>
        </p:nvSpPr>
        <p:spPr>
          <a:xfrm>
            <a:off x="952500" y="1695450"/>
            <a:ext cx="5905500" cy="495300"/>
          </a:xfrm>
          <a:prstGeom prst="roundRect">
            <a:avLst>
              <a:gd name="adj" fmla="val 15385"/>
            </a:avLst>
          </a:prstGeom>
          <a:solidFill>
            <a:srgbClr val="0F172A"/>
          </a:solidFill>
          <a:ln w="9525">
            <a:solidFill>
              <a:srgbClr val="334155"/>
            </a:solidFill>
          </a:ln>
        </p:spPr>
      </p:sp>
      <p:sp>
        <p:nvSpPr>
          <p:cNvPr id="8" name="TextBox 8"/>
          <p:cNvSpPr txBox="1"/>
          <p:nvPr/>
        </p:nvSpPr>
        <p:spPr>
          <a:xfrm>
            <a:off x="1225868" y="1761649"/>
            <a:ext cx="580120" cy="198120"/>
          </a:xfrm>
          <a:prstGeom prst="rect">
            <a:avLst/>
          </a:prstGeom>
          <a:noFill/>
          <a:ln>
            <a:noFill/>
          </a:ln>
        </p:spPr>
        <p:txBody>
          <a:bodyPr wrap="none" lIns="0" tIns="0" rIns="0" bIns="0" anchor="t" anchorCtr="0">
            <a:spAutoFit/>
          </a:bodyPr>
          <a:lstStyle/>
          <a:p>
            <a:pPr algn="l"/>
            <a:r>
              <a:rPr lang="zh-CN" sz="975" dirty="0">
                <a:solidFill>
                  <a:srgbClr val="22D3EE"/>
                </a:solidFill>
                <a:latin typeface="Consolas"/>
                <a:ea typeface="Microsoft YaHei"/>
                <a:cs typeface="Consolas"/>
              </a:rPr>
              <a:t>Layer 1:</a:t>
            </a:r>
          </a:p>
        </p:txBody>
      </p:sp>
      <p:sp>
        <p:nvSpPr>
          <p:cNvPr id="9" name="TextBox 9"/>
          <p:cNvSpPr txBox="1"/>
          <p:nvPr/>
        </p:nvSpPr>
        <p:spPr>
          <a:xfrm>
            <a:off x="2079308"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h</a:t>
            </a:r>
          </a:p>
        </p:txBody>
      </p:sp>
      <p:sp>
        <p:nvSpPr>
          <p:cNvPr id="10" name="TextBox 10"/>
          <p:cNvSpPr txBox="1"/>
          <p:nvPr/>
        </p:nvSpPr>
        <p:spPr>
          <a:xfrm>
            <a:off x="2180272" y="183499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1</a:t>
            </a:r>
          </a:p>
        </p:txBody>
      </p:sp>
      <p:sp>
        <p:nvSpPr>
          <p:cNvPr id="11" name="TextBox 11"/>
          <p:cNvSpPr txBox="1"/>
          <p:nvPr/>
        </p:nvSpPr>
        <p:spPr>
          <a:xfrm>
            <a:off x="2307908"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12" name="TextBox 12"/>
          <p:cNvSpPr txBox="1"/>
          <p:nvPr/>
        </p:nvSpPr>
        <p:spPr>
          <a:xfrm>
            <a:off x="2555558" y="1729264"/>
            <a:ext cx="134803" cy="259080"/>
          </a:xfrm>
          <a:prstGeom prst="rect">
            <a:avLst/>
          </a:prstGeom>
          <a:noFill/>
          <a:ln>
            <a:noFill/>
          </a:ln>
        </p:spPr>
        <p:txBody>
          <a:bodyPr wrap="none" lIns="0" tIns="0" rIns="0" bIns="0" anchor="t" anchorCtr="0">
            <a:spAutoFit/>
          </a:bodyPr>
          <a:lstStyle/>
          <a:p>
            <a:pPr algn="l"/>
            <a:r>
              <a:rPr lang="zh-CN" sz="1275" dirty="0">
                <a:solidFill>
                  <a:srgbClr val="8B5CF6"/>
                </a:solidFill>
                <a:latin typeface="Georgia"/>
                <a:ea typeface="Microsoft YaHei"/>
                <a:cs typeface="Georgia"/>
              </a:rPr>
              <a:t>f</a:t>
            </a:r>
          </a:p>
        </p:txBody>
      </p:sp>
      <p:sp>
        <p:nvSpPr>
          <p:cNvPr id="13" name="TextBox 13"/>
          <p:cNvSpPr txBox="1"/>
          <p:nvPr/>
        </p:nvSpPr>
        <p:spPr>
          <a:xfrm>
            <a:off x="2656522" y="183499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1</a:t>
            </a:r>
          </a:p>
        </p:txBody>
      </p:sp>
      <p:sp>
        <p:nvSpPr>
          <p:cNvPr id="14" name="TextBox 14"/>
          <p:cNvSpPr txBox="1"/>
          <p:nvPr/>
        </p:nvSpPr>
        <p:spPr>
          <a:xfrm>
            <a:off x="2746058"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15" name="TextBox 15"/>
          <p:cNvSpPr txBox="1"/>
          <p:nvPr/>
        </p:nvSpPr>
        <p:spPr>
          <a:xfrm>
            <a:off x="2879408" y="1729264"/>
            <a:ext cx="172045" cy="259080"/>
          </a:xfrm>
          <a:prstGeom prst="rect">
            <a:avLst/>
          </a:prstGeom>
          <a:noFill/>
          <a:ln>
            <a:noFill/>
          </a:ln>
        </p:spPr>
        <p:txBody>
          <a:bodyPr wrap="none" lIns="0" tIns="0" rIns="0" bIns="0" anchor="t" anchorCtr="0">
            <a:spAutoFit/>
          </a:bodyPr>
          <a:lstStyle/>
          <a:p>
            <a:pPr algn="l"/>
            <a:r>
              <a:rPr lang="zh-CN" sz="1275" dirty="0">
                <a:solidFill>
                  <a:srgbClr val="3B82F6"/>
                </a:solidFill>
                <a:latin typeface="Georgia"/>
                <a:ea typeface="Microsoft YaHei"/>
                <a:cs typeface="Georgia"/>
              </a:rPr>
              <a:t>W</a:t>
            </a:r>
          </a:p>
        </p:txBody>
      </p:sp>
      <p:sp>
        <p:nvSpPr>
          <p:cNvPr id="16" name="TextBox 16"/>
          <p:cNvSpPr txBox="1"/>
          <p:nvPr/>
        </p:nvSpPr>
        <p:spPr>
          <a:xfrm>
            <a:off x="3037522" y="183499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1</a:t>
            </a:r>
          </a:p>
        </p:txBody>
      </p:sp>
      <p:sp>
        <p:nvSpPr>
          <p:cNvPr id="17" name="TextBox 17"/>
          <p:cNvSpPr txBox="1"/>
          <p:nvPr/>
        </p:nvSpPr>
        <p:spPr>
          <a:xfrm>
            <a:off x="3174682"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18" name="TextBox 18"/>
          <p:cNvSpPr txBox="1"/>
          <p:nvPr/>
        </p:nvSpPr>
        <p:spPr>
          <a:xfrm>
            <a:off x="3336608" y="1729264"/>
            <a:ext cx="134803" cy="259080"/>
          </a:xfrm>
          <a:prstGeom prst="rect">
            <a:avLst/>
          </a:prstGeom>
          <a:noFill/>
          <a:ln>
            <a:noFill/>
          </a:ln>
        </p:spPr>
        <p:txBody>
          <a:bodyPr wrap="none" lIns="0" tIns="0" rIns="0" bIns="0" anchor="t" anchorCtr="0">
            <a:spAutoFit/>
          </a:bodyPr>
          <a:lstStyle/>
          <a:p>
            <a:pPr algn="l"/>
            <a:r>
              <a:rPr lang="zh-CN" sz="1275" dirty="0">
                <a:solidFill>
                  <a:srgbClr val="22D3EE"/>
                </a:solidFill>
                <a:latin typeface="Georgia"/>
                <a:ea typeface="Microsoft YaHei"/>
                <a:cs typeface="Georgia"/>
              </a:rPr>
              <a:t>x</a:t>
            </a:r>
          </a:p>
        </p:txBody>
      </p:sp>
      <p:sp>
        <p:nvSpPr>
          <p:cNvPr id="19" name="TextBox 19"/>
          <p:cNvSpPr txBox="1"/>
          <p:nvPr/>
        </p:nvSpPr>
        <p:spPr>
          <a:xfrm>
            <a:off x="3489008"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20" name="TextBox 20"/>
          <p:cNvSpPr txBox="1"/>
          <p:nvPr/>
        </p:nvSpPr>
        <p:spPr>
          <a:xfrm>
            <a:off x="3717608" y="1729264"/>
            <a:ext cx="134803" cy="259080"/>
          </a:xfrm>
          <a:prstGeom prst="rect">
            <a:avLst/>
          </a:prstGeom>
          <a:noFill/>
          <a:ln>
            <a:noFill/>
          </a:ln>
        </p:spPr>
        <p:txBody>
          <a:bodyPr wrap="none" lIns="0" tIns="0" rIns="0" bIns="0" anchor="t" anchorCtr="0">
            <a:spAutoFit/>
          </a:bodyPr>
          <a:lstStyle/>
          <a:p>
            <a:pPr algn="l"/>
            <a:r>
              <a:rPr lang="zh-CN" sz="1275" dirty="0">
                <a:solidFill>
                  <a:srgbClr val="F59E0B"/>
                </a:solidFill>
                <a:latin typeface="Georgia"/>
                <a:ea typeface="Microsoft YaHei"/>
                <a:cs typeface="Georgia"/>
              </a:rPr>
              <a:t>b</a:t>
            </a:r>
          </a:p>
        </p:txBody>
      </p:sp>
      <p:sp>
        <p:nvSpPr>
          <p:cNvPr id="21" name="TextBox 21"/>
          <p:cNvSpPr txBox="1"/>
          <p:nvPr/>
        </p:nvSpPr>
        <p:spPr>
          <a:xfrm>
            <a:off x="3837622" y="183499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1</a:t>
            </a:r>
          </a:p>
        </p:txBody>
      </p:sp>
      <p:sp>
        <p:nvSpPr>
          <p:cNvPr id="22" name="TextBox 22"/>
          <p:cNvSpPr txBox="1"/>
          <p:nvPr/>
        </p:nvSpPr>
        <p:spPr>
          <a:xfrm>
            <a:off x="3927158" y="17292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23" name="Rectangle 23"/>
          <p:cNvSpPr/>
          <p:nvPr/>
        </p:nvSpPr>
        <p:spPr>
          <a:xfrm>
            <a:off x="952500" y="2324100"/>
            <a:ext cx="5905500" cy="495300"/>
          </a:xfrm>
          <a:prstGeom prst="roundRect">
            <a:avLst>
              <a:gd name="adj" fmla="val 15385"/>
            </a:avLst>
          </a:prstGeom>
          <a:solidFill>
            <a:srgbClr val="0F172A"/>
          </a:solidFill>
          <a:ln w="9525">
            <a:solidFill>
              <a:srgbClr val="334155"/>
            </a:solidFill>
          </a:ln>
        </p:spPr>
      </p:sp>
      <p:sp>
        <p:nvSpPr>
          <p:cNvPr id="24" name="TextBox 24"/>
          <p:cNvSpPr txBox="1"/>
          <p:nvPr/>
        </p:nvSpPr>
        <p:spPr>
          <a:xfrm>
            <a:off x="1225868" y="2390299"/>
            <a:ext cx="615720" cy="198120"/>
          </a:xfrm>
          <a:prstGeom prst="rect">
            <a:avLst/>
          </a:prstGeom>
          <a:noFill/>
          <a:ln>
            <a:noFill/>
          </a:ln>
        </p:spPr>
        <p:txBody>
          <a:bodyPr wrap="none" lIns="0" tIns="0" rIns="0" bIns="0" anchor="t" anchorCtr="0">
            <a:spAutoFit/>
          </a:bodyPr>
          <a:lstStyle/>
          <a:p>
            <a:pPr algn="l"/>
            <a:r>
              <a:rPr lang="zh-CN" sz="975" dirty="0">
                <a:solidFill>
                  <a:srgbClr val="22D3EE"/>
                </a:solidFill>
                <a:latin typeface="Consolas"/>
                <a:ea typeface="Microsoft YaHei"/>
                <a:cs typeface="Consolas"/>
              </a:rPr>
              <a:t>Layer 2:</a:t>
            </a:r>
          </a:p>
        </p:txBody>
      </p:sp>
      <p:sp>
        <p:nvSpPr>
          <p:cNvPr id="25" name="TextBox 25"/>
          <p:cNvSpPr txBox="1"/>
          <p:nvPr/>
        </p:nvSpPr>
        <p:spPr>
          <a:xfrm>
            <a:off x="2079308"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h</a:t>
            </a:r>
          </a:p>
        </p:txBody>
      </p:sp>
      <p:sp>
        <p:nvSpPr>
          <p:cNvPr id="26" name="TextBox 26"/>
          <p:cNvSpPr txBox="1"/>
          <p:nvPr/>
        </p:nvSpPr>
        <p:spPr>
          <a:xfrm>
            <a:off x="2180272" y="246364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2</a:t>
            </a:r>
          </a:p>
        </p:txBody>
      </p:sp>
      <p:sp>
        <p:nvSpPr>
          <p:cNvPr id="27" name="TextBox 27"/>
          <p:cNvSpPr txBox="1"/>
          <p:nvPr/>
        </p:nvSpPr>
        <p:spPr>
          <a:xfrm>
            <a:off x="2307908"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28" name="TextBox 28"/>
          <p:cNvSpPr txBox="1"/>
          <p:nvPr/>
        </p:nvSpPr>
        <p:spPr>
          <a:xfrm>
            <a:off x="2555558" y="2357914"/>
            <a:ext cx="134803" cy="259080"/>
          </a:xfrm>
          <a:prstGeom prst="rect">
            <a:avLst/>
          </a:prstGeom>
          <a:noFill/>
          <a:ln>
            <a:noFill/>
          </a:ln>
        </p:spPr>
        <p:txBody>
          <a:bodyPr wrap="none" lIns="0" tIns="0" rIns="0" bIns="0" anchor="t" anchorCtr="0">
            <a:spAutoFit/>
          </a:bodyPr>
          <a:lstStyle/>
          <a:p>
            <a:pPr algn="l"/>
            <a:r>
              <a:rPr lang="zh-CN" sz="1275" dirty="0">
                <a:solidFill>
                  <a:srgbClr val="8B5CF6"/>
                </a:solidFill>
                <a:latin typeface="Georgia"/>
                <a:ea typeface="Microsoft YaHei"/>
                <a:cs typeface="Georgia"/>
              </a:rPr>
              <a:t>f</a:t>
            </a:r>
          </a:p>
        </p:txBody>
      </p:sp>
      <p:sp>
        <p:nvSpPr>
          <p:cNvPr id="29" name="TextBox 29"/>
          <p:cNvSpPr txBox="1"/>
          <p:nvPr/>
        </p:nvSpPr>
        <p:spPr>
          <a:xfrm>
            <a:off x="2656522" y="246364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2</a:t>
            </a:r>
          </a:p>
        </p:txBody>
      </p:sp>
      <p:sp>
        <p:nvSpPr>
          <p:cNvPr id="30" name="TextBox 30"/>
          <p:cNvSpPr txBox="1"/>
          <p:nvPr/>
        </p:nvSpPr>
        <p:spPr>
          <a:xfrm>
            <a:off x="2746058"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31" name="TextBox 31"/>
          <p:cNvSpPr txBox="1"/>
          <p:nvPr/>
        </p:nvSpPr>
        <p:spPr>
          <a:xfrm>
            <a:off x="2879408" y="2357914"/>
            <a:ext cx="172045" cy="259080"/>
          </a:xfrm>
          <a:prstGeom prst="rect">
            <a:avLst/>
          </a:prstGeom>
          <a:noFill/>
          <a:ln>
            <a:noFill/>
          </a:ln>
        </p:spPr>
        <p:txBody>
          <a:bodyPr wrap="none" lIns="0" tIns="0" rIns="0" bIns="0" anchor="t" anchorCtr="0">
            <a:spAutoFit/>
          </a:bodyPr>
          <a:lstStyle/>
          <a:p>
            <a:pPr algn="l"/>
            <a:r>
              <a:rPr lang="zh-CN" sz="1275" dirty="0">
                <a:solidFill>
                  <a:srgbClr val="3B82F6"/>
                </a:solidFill>
                <a:latin typeface="Georgia"/>
                <a:ea typeface="Microsoft YaHei"/>
                <a:cs typeface="Georgia"/>
              </a:rPr>
              <a:t>W</a:t>
            </a:r>
          </a:p>
        </p:txBody>
      </p:sp>
      <p:sp>
        <p:nvSpPr>
          <p:cNvPr id="32" name="TextBox 32"/>
          <p:cNvSpPr txBox="1"/>
          <p:nvPr/>
        </p:nvSpPr>
        <p:spPr>
          <a:xfrm>
            <a:off x="3037522" y="246364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2</a:t>
            </a:r>
          </a:p>
        </p:txBody>
      </p:sp>
      <p:sp>
        <p:nvSpPr>
          <p:cNvPr id="33" name="TextBox 33"/>
          <p:cNvSpPr txBox="1"/>
          <p:nvPr/>
        </p:nvSpPr>
        <p:spPr>
          <a:xfrm>
            <a:off x="3174682"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34" name="TextBox 34"/>
          <p:cNvSpPr txBox="1"/>
          <p:nvPr/>
        </p:nvSpPr>
        <p:spPr>
          <a:xfrm>
            <a:off x="3336608" y="2357914"/>
            <a:ext cx="134803" cy="259080"/>
          </a:xfrm>
          <a:prstGeom prst="rect">
            <a:avLst/>
          </a:prstGeom>
          <a:noFill/>
          <a:ln>
            <a:noFill/>
          </a:ln>
        </p:spPr>
        <p:txBody>
          <a:bodyPr wrap="none" lIns="0" tIns="0" rIns="0" bIns="0" anchor="t" anchorCtr="0">
            <a:spAutoFit/>
          </a:bodyPr>
          <a:lstStyle/>
          <a:p>
            <a:pPr algn="l"/>
            <a:r>
              <a:rPr lang="zh-CN" sz="1275" dirty="0">
                <a:solidFill>
                  <a:srgbClr val="22D3EE"/>
                </a:solidFill>
                <a:latin typeface="Georgia"/>
                <a:ea typeface="Microsoft YaHei"/>
                <a:cs typeface="Georgia"/>
              </a:rPr>
              <a:t>h</a:t>
            </a:r>
          </a:p>
        </p:txBody>
      </p:sp>
      <p:sp>
        <p:nvSpPr>
          <p:cNvPr id="35" name="TextBox 35"/>
          <p:cNvSpPr txBox="1"/>
          <p:nvPr/>
        </p:nvSpPr>
        <p:spPr>
          <a:xfrm>
            <a:off x="3437572" y="246364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1</a:t>
            </a:r>
          </a:p>
        </p:txBody>
      </p:sp>
      <p:sp>
        <p:nvSpPr>
          <p:cNvPr id="36" name="TextBox 36"/>
          <p:cNvSpPr txBox="1"/>
          <p:nvPr/>
        </p:nvSpPr>
        <p:spPr>
          <a:xfrm>
            <a:off x="3584258"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37" name="TextBox 37"/>
          <p:cNvSpPr txBox="1"/>
          <p:nvPr/>
        </p:nvSpPr>
        <p:spPr>
          <a:xfrm>
            <a:off x="3812858" y="2357914"/>
            <a:ext cx="134803" cy="259080"/>
          </a:xfrm>
          <a:prstGeom prst="rect">
            <a:avLst/>
          </a:prstGeom>
          <a:noFill/>
          <a:ln>
            <a:noFill/>
          </a:ln>
        </p:spPr>
        <p:txBody>
          <a:bodyPr wrap="none" lIns="0" tIns="0" rIns="0" bIns="0" anchor="t" anchorCtr="0">
            <a:spAutoFit/>
          </a:bodyPr>
          <a:lstStyle/>
          <a:p>
            <a:pPr algn="l"/>
            <a:r>
              <a:rPr lang="zh-CN" sz="1275" dirty="0">
                <a:solidFill>
                  <a:srgbClr val="F59E0B"/>
                </a:solidFill>
                <a:latin typeface="Georgia"/>
                <a:ea typeface="Microsoft YaHei"/>
                <a:cs typeface="Georgia"/>
              </a:rPr>
              <a:t>b</a:t>
            </a:r>
          </a:p>
        </p:txBody>
      </p:sp>
      <p:sp>
        <p:nvSpPr>
          <p:cNvPr id="38" name="TextBox 38"/>
          <p:cNvSpPr txBox="1"/>
          <p:nvPr/>
        </p:nvSpPr>
        <p:spPr>
          <a:xfrm>
            <a:off x="3932872" y="246364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2</a:t>
            </a:r>
          </a:p>
        </p:txBody>
      </p:sp>
      <p:sp>
        <p:nvSpPr>
          <p:cNvPr id="39" name="TextBox 39"/>
          <p:cNvSpPr txBox="1"/>
          <p:nvPr/>
        </p:nvSpPr>
        <p:spPr>
          <a:xfrm>
            <a:off x="4022408" y="235791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40" name="Rectangle 40"/>
          <p:cNvSpPr/>
          <p:nvPr/>
        </p:nvSpPr>
        <p:spPr>
          <a:xfrm>
            <a:off x="952500" y="2952750"/>
            <a:ext cx="5905500" cy="495300"/>
          </a:xfrm>
          <a:prstGeom prst="roundRect">
            <a:avLst>
              <a:gd name="adj" fmla="val 15385"/>
            </a:avLst>
          </a:prstGeom>
          <a:solidFill>
            <a:srgbClr val="0F172A"/>
          </a:solidFill>
          <a:ln w="9525">
            <a:solidFill>
              <a:srgbClr val="334155"/>
            </a:solidFill>
          </a:ln>
        </p:spPr>
      </p:sp>
      <p:sp>
        <p:nvSpPr>
          <p:cNvPr id="41" name="TextBox 41"/>
          <p:cNvSpPr txBox="1"/>
          <p:nvPr/>
        </p:nvSpPr>
        <p:spPr>
          <a:xfrm>
            <a:off x="1225868" y="3018949"/>
            <a:ext cx="615720" cy="198120"/>
          </a:xfrm>
          <a:prstGeom prst="rect">
            <a:avLst/>
          </a:prstGeom>
          <a:noFill/>
          <a:ln>
            <a:noFill/>
          </a:ln>
        </p:spPr>
        <p:txBody>
          <a:bodyPr wrap="none" lIns="0" tIns="0" rIns="0" bIns="0" anchor="t" anchorCtr="0">
            <a:spAutoFit/>
          </a:bodyPr>
          <a:lstStyle/>
          <a:p>
            <a:pPr algn="l"/>
            <a:r>
              <a:rPr lang="zh-CN" sz="975" dirty="0">
                <a:solidFill>
                  <a:srgbClr val="22D3EE"/>
                </a:solidFill>
                <a:latin typeface="Consolas"/>
                <a:ea typeface="Microsoft YaHei"/>
                <a:cs typeface="Consolas"/>
              </a:rPr>
              <a:t>Layer N:</a:t>
            </a:r>
          </a:p>
        </p:txBody>
      </p:sp>
      <p:sp>
        <p:nvSpPr>
          <p:cNvPr id="42" name="TextBox 42"/>
          <p:cNvSpPr txBox="1"/>
          <p:nvPr/>
        </p:nvSpPr>
        <p:spPr>
          <a:xfrm>
            <a:off x="2079308"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h</a:t>
            </a:r>
          </a:p>
        </p:txBody>
      </p:sp>
      <p:sp>
        <p:nvSpPr>
          <p:cNvPr id="43" name="TextBox 43"/>
          <p:cNvSpPr txBox="1"/>
          <p:nvPr/>
        </p:nvSpPr>
        <p:spPr>
          <a:xfrm>
            <a:off x="2180272" y="309229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N</a:t>
            </a:r>
          </a:p>
        </p:txBody>
      </p:sp>
      <p:sp>
        <p:nvSpPr>
          <p:cNvPr id="44" name="TextBox 44"/>
          <p:cNvSpPr txBox="1"/>
          <p:nvPr/>
        </p:nvSpPr>
        <p:spPr>
          <a:xfrm>
            <a:off x="2307908"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45" name="TextBox 45"/>
          <p:cNvSpPr txBox="1"/>
          <p:nvPr/>
        </p:nvSpPr>
        <p:spPr>
          <a:xfrm>
            <a:off x="2555558" y="2986564"/>
            <a:ext cx="134803" cy="259080"/>
          </a:xfrm>
          <a:prstGeom prst="rect">
            <a:avLst/>
          </a:prstGeom>
          <a:noFill/>
          <a:ln>
            <a:noFill/>
          </a:ln>
        </p:spPr>
        <p:txBody>
          <a:bodyPr wrap="none" lIns="0" tIns="0" rIns="0" bIns="0" anchor="t" anchorCtr="0">
            <a:spAutoFit/>
          </a:bodyPr>
          <a:lstStyle/>
          <a:p>
            <a:pPr algn="l"/>
            <a:r>
              <a:rPr lang="zh-CN" sz="1275" dirty="0">
                <a:solidFill>
                  <a:srgbClr val="8B5CF6"/>
                </a:solidFill>
                <a:latin typeface="Georgia"/>
                <a:ea typeface="Microsoft YaHei"/>
                <a:cs typeface="Georgia"/>
              </a:rPr>
              <a:t>f</a:t>
            </a:r>
          </a:p>
        </p:txBody>
      </p:sp>
      <p:sp>
        <p:nvSpPr>
          <p:cNvPr id="46" name="TextBox 46"/>
          <p:cNvSpPr txBox="1"/>
          <p:nvPr/>
        </p:nvSpPr>
        <p:spPr>
          <a:xfrm>
            <a:off x="2656522" y="309229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N</a:t>
            </a:r>
          </a:p>
        </p:txBody>
      </p:sp>
      <p:sp>
        <p:nvSpPr>
          <p:cNvPr id="47" name="TextBox 47"/>
          <p:cNvSpPr txBox="1"/>
          <p:nvPr/>
        </p:nvSpPr>
        <p:spPr>
          <a:xfrm>
            <a:off x="2746058"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48" name="TextBox 48"/>
          <p:cNvSpPr txBox="1"/>
          <p:nvPr/>
        </p:nvSpPr>
        <p:spPr>
          <a:xfrm>
            <a:off x="2879408" y="2986564"/>
            <a:ext cx="172045" cy="259080"/>
          </a:xfrm>
          <a:prstGeom prst="rect">
            <a:avLst/>
          </a:prstGeom>
          <a:noFill/>
          <a:ln>
            <a:noFill/>
          </a:ln>
        </p:spPr>
        <p:txBody>
          <a:bodyPr wrap="none" lIns="0" tIns="0" rIns="0" bIns="0" anchor="t" anchorCtr="0">
            <a:spAutoFit/>
          </a:bodyPr>
          <a:lstStyle/>
          <a:p>
            <a:pPr algn="l"/>
            <a:r>
              <a:rPr lang="zh-CN" sz="1275" dirty="0">
                <a:solidFill>
                  <a:srgbClr val="3B82F6"/>
                </a:solidFill>
                <a:latin typeface="Georgia"/>
                <a:ea typeface="Microsoft YaHei"/>
                <a:cs typeface="Georgia"/>
              </a:rPr>
              <a:t>W</a:t>
            </a:r>
          </a:p>
        </p:txBody>
      </p:sp>
      <p:sp>
        <p:nvSpPr>
          <p:cNvPr id="49" name="TextBox 49"/>
          <p:cNvSpPr txBox="1"/>
          <p:nvPr/>
        </p:nvSpPr>
        <p:spPr>
          <a:xfrm>
            <a:off x="3037522" y="309229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N</a:t>
            </a:r>
          </a:p>
        </p:txBody>
      </p:sp>
      <p:sp>
        <p:nvSpPr>
          <p:cNvPr id="50" name="TextBox 50"/>
          <p:cNvSpPr txBox="1"/>
          <p:nvPr/>
        </p:nvSpPr>
        <p:spPr>
          <a:xfrm>
            <a:off x="3174682"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51" name="TextBox 51"/>
          <p:cNvSpPr txBox="1"/>
          <p:nvPr/>
        </p:nvSpPr>
        <p:spPr>
          <a:xfrm>
            <a:off x="3336608" y="2986564"/>
            <a:ext cx="134803" cy="259080"/>
          </a:xfrm>
          <a:prstGeom prst="rect">
            <a:avLst/>
          </a:prstGeom>
          <a:noFill/>
          <a:ln>
            <a:noFill/>
          </a:ln>
        </p:spPr>
        <p:txBody>
          <a:bodyPr wrap="none" lIns="0" tIns="0" rIns="0" bIns="0" anchor="t" anchorCtr="0">
            <a:spAutoFit/>
          </a:bodyPr>
          <a:lstStyle/>
          <a:p>
            <a:pPr algn="l"/>
            <a:r>
              <a:rPr lang="zh-CN" sz="1275" dirty="0">
                <a:solidFill>
                  <a:srgbClr val="22D3EE"/>
                </a:solidFill>
                <a:latin typeface="Georgia"/>
                <a:ea typeface="Microsoft YaHei"/>
                <a:cs typeface="Georgia"/>
              </a:rPr>
              <a:t>h</a:t>
            </a:r>
          </a:p>
        </p:txBody>
      </p:sp>
      <p:sp>
        <p:nvSpPr>
          <p:cNvPr id="52" name="TextBox 52"/>
          <p:cNvSpPr txBox="1"/>
          <p:nvPr/>
        </p:nvSpPr>
        <p:spPr>
          <a:xfrm>
            <a:off x="3437572" y="3092291"/>
            <a:ext cx="189643"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N-1</a:t>
            </a:r>
          </a:p>
        </p:txBody>
      </p:sp>
      <p:sp>
        <p:nvSpPr>
          <p:cNvPr id="53" name="TextBox 53"/>
          <p:cNvSpPr txBox="1"/>
          <p:nvPr/>
        </p:nvSpPr>
        <p:spPr>
          <a:xfrm>
            <a:off x="3717608"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54" name="TextBox 54"/>
          <p:cNvSpPr txBox="1"/>
          <p:nvPr/>
        </p:nvSpPr>
        <p:spPr>
          <a:xfrm>
            <a:off x="3946208" y="2986564"/>
            <a:ext cx="134803" cy="259080"/>
          </a:xfrm>
          <a:prstGeom prst="rect">
            <a:avLst/>
          </a:prstGeom>
          <a:noFill/>
          <a:ln>
            <a:noFill/>
          </a:ln>
        </p:spPr>
        <p:txBody>
          <a:bodyPr wrap="none" lIns="0" tIns="0" rIns="0" bIns="0" anchor="t" anchorCtr="0">
            <a:spAutoFit/>
          </a:bodyPr>
          <a:lstStyle/>
          <a:p>
            <a:pPr algn="l"/>
            <a:r>
              <a:rPr lang="zh-CN" sz="1275" dirty="0">
                <a:solidFill>
                  <a:srgbClr val="F59E0B"/>
                </a:solidFill>
                <a:latin typeface="Georgia"/>
                <a:ea typeface="Microsoft YaHei"/>
                <a:cs typeface="Georgia"/>
              </a:rPr>
              <a:t>b</a:t>
            </a:r>
          </a:p>
        </p:txBody>
      </p:sp>
      <p:sp>
        <p:nvSpPr>
          <p:cNvPr id="55" name="TextBox 55"/>
          <p:cNvSpPr txBox="1"/>
          <p:nvPr/>
        </p:nvSpPr>
        <p:spPr>
          <a:xfrm>
            <a:off x="4066222" y="3092291"/>
            <a:ext cx="87225"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N</a:t>
            </a:r>
          </a:p>
        </p:txBody>
      </p:sp>
      <p:sp>
        <p:nvSpPr>
          <p:cNvPr id="56" name="TextBox 56"/>
          <p:cNvSpPr txBox="1"/>
          <p:nvPr/>
        </p:nvSpPr>
        <p:spPr>
          <a:xfrm>
            <a:off x="4155758" y="2986564"/>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a:t>
            </a:r>
          </a:p>
        </p:txBody>
      </p:sp>
      <p:sp>
        <p:nvSpPr>
          <p:cNvPr id="57" name="Rectangle 57"/>
          <p:cNvSpPr/>
          <p:nvPr/>
        </p:nvSpPr>
        <p:spPr>
          <a:xfrm>
            <a:off x="7524750" y="1143000"/>
            <a:ext cx="4095750" cy="2857500"/>
          </a:xfrm>
          <a:prstGeom prst="roundRect">
            <a:avLst>
              <a:gd name="adj" fmla="val 4000"/>
            </a:avLst>
          </a:prstGeom>
          <a:solidFill>
            <a:srgbClr val="1E293B"/>
          </a:solidFill>
          <a:ln w="9525">
            <a:solidFill>
              <a:srgbClr val="334155"/>
            </a:solidFill>
          </a:ln>
        </p:spPr>
      </p:sp>
      <p:sp>
        <p:nvSpPr>
          <p:cNvPr id="58" name="TextBox 58"/>
          <p:cNvSpPr txBox="1"/>
          <p:nvPr/>
        </p:nvSpPr>
        <p:spPr>
          <a:xfrm>
            <a:off x="7886700" y="1343025"/>
            <a:ext cx="1993344" cy="304800"/>
          </a:xfrm>
          <a:prstGeom prst="rect">
            <a:avLst/>
          </a:prstGeom>
          <a:noFill/>
          <a:ln>
            <a:noFill/>
          </a:ln>
        </p:spPr>
        <p:txBody>
          <a:bodyPr wrap="none" lIns="0" tIns="0" rIns="0" bIns="0" anchor="t" anchorCtr="0">
            <a:spAutoFit/>
          </a:bodyPr>
          <a:lstStyle/>
          <a:p>
            <a:pPr algn="l"/>
            <a:r>
              <a:rPr lang="zh-CN" sz="1500" b="1" dirty="0">
                <a:solidFill>
                  <a:srgbClr val="22D3EE"/>
                </a:solidFill>
                <a:latin typeface="Georgia"/>
                <a:ea typeface="Microsoft YaHei"/>
                <a:cs typeface="Georgia"/>
              </a:rPr>
              <a:t>Symbol Reference</a:t>
            </a:r>
          </a:p>
        </p:txBody>
      </p:sp>
      <p:sp>
        <p:nvSpPr>
          <p:cNvPr id="59" name="TextBox 59"/>
          <p:cNvSpPr txBox="1"/>
          <p:nvPr/>
        </p:nvSpPr>
        <p:spPr>
          <a:xfrm>
            <a:off x="7889558" y="1719739"/>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h</a:t>
            </a:r>
          </a:p>
        </p:txBody>
      </p:sp>
      <p:sp>
        <p:nvSpPr>
          <p:cNvPr id="60" name="TextBox 60"/>
          <p:cNvSpPr txBox="1"/>
          <p:nvPr/>
        </p:nvSpPr>
        <p:spPr>
          <a:xfrm>
            <a:off x="7990522" y="1825466"/>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i</a:t>
            </a:r>
          </a:p>
        </p:txBody>
      </p:sp>
      <p:sp>
        <p:nvSpPr>
          <p:cNvPr id="61" name="TextBox 61"/>
          <p:cNvSpPr txBox="1"/>
          <p:nvPr/>
        </p:nvSpPr>
        <p:spPr>
          <a:xfrm>
            <a:off x="8272462" y="1735931"/>
            <a:ext cx="194274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Output of hidden layer i</a:t>
            </a:r>
          </a:p>
        </p:txBody>
      </p:sp>
      <p:sp>
        <p:nvSpPr>
          <p:cNvPr id="62" name="TextBox 62"/>
          <p:cNvSpPr txBox="1"/>
          <p:nvPr/>
        </p:nvSpPr>
        <p:spPr>
          <a:xfrm>
            <a:off x="7889558" y="2053114"/>
            <a:ext cx="134803" cy="259080"/>
          </a:xfrm>
          <a:prstGeom prst="rect">
            <a:avLst/>
          </a:prstGeom>
          <a:noFill/>
          <a:ln>
            <a:noFill/>
          </a:ln>
        </p:spPr>
        <p:txBody>
          <a:bodyPr wrap="none" lIns="0" tIns="0" rIns="0" bIns="0" anchor="t" anchorCtr="0">
            <a:spAutoFit/>
          </a:bodyPr>
          <a:lstStyle/>
          <a:p>
            <a:pPr algn="l"/>
            <a:r>
              <a:rPr lang="zh-CN" sz="1275" dirty="0">
                <a:solidFill>
                  <a:srgbClr val="8B5CF6"/>
                </a:solidFill>
                <a:latin typeface="Georgia"/>
                <a:ea typeface="Microsoft YaHei"/>
                <a:cs typeface="Georgia"/>
              </a:rPr>
              <a:t>f</a:t>
            </a:r>
          </a:p>
        </p:txBody>
      </p:sp>
      <p:sp>
        <p:nvSpPr>
          <p:cNvPr id="63" name="TextBox 63"/>
          <p:cNvSpPr txBox="1"/>
          <p:nvPr/>
        </p:nvSpPr>
        <p:spPr>
          <a:xfrm>
            <a:off x="7971472" y="215884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i</a:t>
            </a:r>
          </a:p>
        </p:txBody>
      </p:sp>
      <p:sp>
        <p:nvSpPr>
          <p:cNvPr id="64" name="TextBox 64"/>
          <p:cNvSpPr txBox="1"/>
          <p:nvPr/>
        </p:nvSpPr>
        <p:spPr>
          <a:xfrm>
            <a:off x="8272462" y="2069306"/>
            <a:ext cx="339685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Activation function (sigmoid, ReLU, tanh)</a:t>
            </a:r>
          </a:p>
        </p:txBody>
      </p:sp>
      <p:sp>
        <p:nvSpPr>
          <p:cNvPr id="65" name="TextBox 65"/>
          <p:cNvSpPr txBox="1"/>
          <p:nvPr/>
        </p:nvSpPr>
        <p:spPr>
          <a:xfrm>
            <a:off x="7889558" y="2386489"/>
            <a:ext cx="172045" cy="259080"/>
          </a:xfrm>
          <a:prstGeom prst="rect">
            <a:avLst/>
          </a:prstGeom>
          <a:noFill/>
          <a:ln>
            <a:noFill/>
          </a:ln>
        </p:spPr>
        <p:txBody>
          <a:bodyPr wrap="none" lIns="0" tIns="0" rIns="0" bIns="0" anchor="t" anchorCtr="0">
            <a:spAutoFit/>
          </a:bodyPr>
          <a:lstStyle/>
          <a:p>
            <a:pPr algn="l"/>
            <a:r>
              <a:rPr lang="zh-CN" sz="1275" dirty="0">
                <a:solidFill>
                  <a:srgbClr val="3B82F6"/>
                </a:solidFill>
                <a:latin typeface="Georgia"/>
                <a:ea typeface="Microsoft YaHei"/>
                <a:cs typeface="Georgia"/>
              </a:rPr>
              <a:t>W</a:t>
            </a:r>
          </a:p>
        </p:txBody>
      </p:sp>
      <p:sp>
        <p:nvSpPr>
          <p:cNvPr id="66" name="TextBox 66"/>
          <p:cNvSpPr txBox="1"/>
          <p:nvPr/>
        </p:nvSpPr>
        <p:spPr>
          <a:xfrm>
            <a:off x="8066722" y="2492216"/>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i</a:t>
            </a:r>
          </a:p>
        </p:txBody>
      </p:sp>
      <p:sp>
        <p:nvSpPr>
          <p:cNvPr id="67" name="TextBox 67"/>
          <p:cNvSpPr txBox="1"/>
          <p:nvPr/>
        </p:nvSpPr>
        <p:spPr>
          <a:xfrm>
            <a:off x="8272462" y="2402681"/>
            <a:ext cx="253424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Hidden weights matrix in layer i</a:t>
            </a:r>
          </a:p>
        </p:txBody>
      </p:sp>
      <p:sp>
        <p:nvSpPr>
          <p:cNvPr id="68" name="TextBox 68"/>
          <p:cNvSpPr txBox="1"/>
          <p:nvPr/>
        </p:nvSpPr>
        <p:spPr>
          <a:xfrm>
            <a:off x="7889558" y="2719864"/>
            <a:ext cx="134803" cy="259080"/>
          </a:xfrm>
          <a:prstGeom prst="rect">
            <a:avLst/>
          </a:prstGeom>
          <a:noFill/>
          <a:ln>
            <a:noFill/>
          </a:ln>
        </p:spPr>
        <p:txBody>
          <a:bodyPr wrap="none" lIns="0" tIns="0" rIns="0" bIns="0" anchor="t" anchorCtr="0">
            <a:spAutoFit/>
          </a:bodyPr>
          <a:lstStyle/>
          <a:p>
            <a:pPr algn="l"/>
            <a:r>
              <a:rPr lang="zh-CN" sz="1275" dirty="0">
                <a:solidFill>
                  <a:srgbClr val="22D3EE"/>
                </a:solidFill>
                <a:latin typeface="Georgia"/>
                <a:ea typeface="Microsoft YaHei"/>
                <a:cs typeface="Georgia"/>
              </a:rPr>
              <a:t>x</a:t>
            </a:r>
          </a:p>
        </p:txBody>
      </p:sp>
      <p:sp>
        <p:nvSpPr>
          <p:cNvPr id="69" name="TextBox 69"/>
          <p:cNvSpPr txBox="1"/>
          <p:nvPr/>
        </p:nvSpPr>
        <p:spPr>
          <a:xfrm>
            <a:off x="8272462" y="2736056"/>
            <a:ext cx="284642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Input vector to the neural network</a:t>
            </a:r>
          </a:p>
        </p:txBody>
      </p:sp>
      <p:sp>
        <p:nvSpPr>
          <p:cNvPr id="70" name="TextBox 70"/>
          <p:cNvSpPr txBox="1"/>
          <p:nvPr/>
        </p:nvSpPr>
        <p:spPr>
          <a:xfrm>
            <a:off x="7889558" y="3053239"/>
            <a:ext cx="134803" cy="259080"/>
          </a:xfrm>
          <a:prstGeom prst="rect">
            <a:avLst/>
          </a:prstGeom>
          <a:noFill/>
          <a:ln>
            <a:noFill/>
          </a:ln>
        </p:spPr>
        <p:txBody>
          <a:bodyPr wrap="none" lIns="0" tIns="0" rIns="0" bIns="0" anchor="t" anchorCtr="0">
            <a:spAutoFit/>
          </a:bodyPr>
          <a:lstStyle/>
          <a:p>
            <a:pPr algn="l"/>
            <a:r>
              <a:rPr lang="zh-CN" sz="1275" dirty="0">
                <a:solidFill>
                  <a:srgbClr val="F1F5F9"/>
                </a:solidFill>
                <a:latin typeface="Georgia"/>
                <a:ea typeface="Microsoft YaHei"/>
                <a:cs typeface="Georgia"/>
              </a:rPr>
              <a:t>N</a:t>
            </a:r>
          </a:p>
        </p:txBody>
      </p:sp>
      <p:sp>
        <p:nvSpPr>
          <p:cNvPr id="71" name="TextBox 71"/>
          <p:cNvSpPr txBox="1"/>
          <p:nvPr/>
        </p:nvSpPr>
        <p:spPr>
          <a:xfrm>
            <a:off x="8272462" y="3069431"/>
            <a:ext cx="260818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Number of layers in the network</a:t>
            </a:r>
          </a:p>
        </p:txBody>
      </p:sp>
      <p:sp>
        <p:nvSpPr>
          <p:cNvPr id="72" name="TextBox 72"/>
          <p:cNvSpPr txBox="1"/>
          <p:nvPr/>
        </p:nvSpPr>
        <p:spPr>
          <a:xfrm>
            <a:off x="7889558" y="3386614"/>
            <a:ext cx="134803" cy="259080"/>
          </a:xfrm>
          <a:prstGeom prst="rect">
            <a:avLst/>
          </a:prstGeom>
          <a:noFill/>
          <a:ln>
            <a:noFill/>
          </a:ln>
        </p:spPr>
        <p:txBody>
          <a:bodyPr wrap="none" lIns="0" tIns="0" rIns="0" bIns="0" anchor="t" anchorCtr="0">
            <a:spAutoFit/>
          </a:bodyPr>
          <a:lstStyle/>
          <a:p>
            <a:pPr algn="l"/>
            <a:r>
              <a:rPr lang="zh-CN" sz="1275" dirty="0">
                <a:solidFill>
                  <a:srgbClr val="F59E0B"/>
                </a:solidFill>
                <a:latin typeface="Georgia"/>
                <a:ea typeface="Microsoft YaHei"/>
                <a:cs typeface="Georgia"/>
              </a:rPr>
              <a:t>b</a:t>
            </a:r>
          </a:p>
        </p:txBody>
      </p:sp>
      <p:sp>
        <p:nvSpPr>
          <p:cNvPr id="73" name="TextBox 73"/>
          <p:cNvSpPr txBox="1"/>
          <p:nvPr/>
        </p:nvSpPr>
        <p:spPr>
          <a:xfrm>
            <a:off x="7990522" y="3492341"/>
            <a:ext cx="5710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Georgia"/>
                <a:ea typeface="Microsoft YaHei"/>
                <a:cs typeface="Georgia"/>
              </a:rPr>
              <a:t>i</a:t>
            </a:r>
          </a:p>
        </p:txBody>
      </p:sp>
      <p:sp>
        <p:nvSpPr>
          <p:cNvPr id="74" name="TextBox 74"/>
          <p:cNvSpPr txBox="1"/>
          <p:nvPr/>
        </p:nvSpPr>
        <p:spPr>
          <a:xfrm>
            <a:off x="8272462" y="3402806"/>
            <a:ext cx="167985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Bias matrix in layer i</a:t>
            </a:r>
          </a:p>
        </p:txBody>
      </p:sp>
      <p:sp>
        <p:nvSpPr>
          <p:cNvPr id="75" name="Rectangle 75"/>
          <p:cNvSpPr/>
          <p:nvPr/>
        </p:nvSpPr>
        <p:spPr>
          <a:xfrm>
            <a:off x="571500" y="4286250"/>
            <a:ext cx="11049000" cy="2000250"/>
          </a:xfrm>
          <a:prstGeom prst="roundRect">
            <a:avLst>
              <a:gd name="adj" fmla="val 5714"/>
            </a:avLst>
          </a:prstGeom>
          <a:solidFill>
            <a:srgbClr val="1E293B"/>
          </a:solidFill>
          <a:ln w="9525">
            <a:solidFill>
              <a:srgbClr val="334155"/>
            </a:solidFill>
          </a:ln>
        </p:spPr>
      </p:sp>
      <p:sp>
        <p:nvSpPr>
          <p:cNvPr id="76" name="Freeform 76"/>
          <p:cNvSpPr/>
          <p:nvPr/>
        </p:nvSpPr>
        <p:spPr>
          <a:xfrm>
            <a:off x="995362" y="4600575"/>
            <a:ext cx="257175" cy="285750"/>
          </a:xfrm>
          <a:custGeom>
            <a:avLst/>
            <a:gdLst/>
            <a:ahLst/>
            <a:cxnLst/>
            <a:rect l="l" t="t" r="r" b="b"/>
            <a:pathLst>
              <a:path w="257175" h="285750">
                <a:moveTo>
                  <a:pt x="214312" y="0"/>
                </a:moveTo>
                <a:cubicBezTo>
                  <a:pt x="237985" y="0"/>
                  <a:pt x="257175" y="19190"/>
                  <a:pt x="257175" y="42862"/>
                </a:cubicBezTo>
                <a:lnTo>
                  <a:pt x="257175" y="242888"/>
                </a:lnTo>
                <a:cubicBezTo>
                  <a:pt x="257175" y="266560"/>
                  <a:pt x="237985" y="285750"/>
                  <a:pt x="214312" y="285750"/>
                </a:cubicBezTo>
                <a:lnTo>
                  <a:pt x="42862" y="285750"/>
                </a:lnTo>
                <a:cubicBezTo>
                  <a:pt x="19190" y="285750"/>
                  <a:pt x="0" y="266560"/>
                  <a:pt x="0" y="242888"/>
                </a:cubicBezTo>
                <a:lnTo>
                  <a:pt x="0" y="42862"/>
                </a:lnTo>
                <a:cubicBezTo>
                  <a:pt x="0" y="19190"/>
                  <a:pt x="19190" y="0"/>
                  <a:pt x="42862" y="0"/>
                </a:cubicBezTo>
                <a:close/>
                <a:moveTo>
                  <a:pt x="71438" y="214312"/>
                </a:moveTo>
                <a:cubicBezTo>
                  <a:pt x="63547" y="214312"/>
                  <a:pt x="57150" y="220709"/>
                  <a:pt x="57150" y="228600"/>
                </a:cubicBezTo>
                <a:lnTo>
                  <a:pt x="57250" y="230415"/>
                </a:lnTo>
                <a:cubicBezTo>
                  <a:pt x="58143" y="237921"/>
                  <a:pt x="64728" y="243433"/>
                  <a:pt x="72275" y="242990"/>
                </a:cubicBezTo>
                <a:cubicBezTo>
                  <a:pt x="79821" y="242547"/>
                  <a:pt x="85717" y="236302"/>
                  <a:pt x="85725" y="228743"/>
                </a:cubicBezTo>
                <a:lnTo>
                  <a:pt x="85625" y="226928"/>
                </a:lnTo>
                <a:cubicBezTo>
                  <a:pt x="84778" y="219735"/>
                  <a:pt x="78681" y="214313"/>
                  <a:pt x="71438" y="214312"/>
                </a:cubicBezTo>
                <a:close/>
                <a:moveTo>
                  <a:pt x="128588" y="214312"/>
                </a:moveTo>
                <a:cubicBezTo>
                  <a:pt x="120697" y="214312"/>
                  <a:pt x="114300" y="220709"/>
                  <a:pt x="114300" y="228600"/>
                </a:cubicBezTo>
                <a:lnTo>
                  <a:pt x="114400" y="230415"/>
                </a:lnTo>
                <a:cubicBezTo>
                  <a:pt x="115293" y="237921"/>
                  <a:pt x="121878" y="243433"/>
                  <a:pt x="129425" y="242990"/>
                </a:cubicBezTo>
                <a:cubicBezTo>
                  <a:pt x="136971" y="242547"/>
                  <a:pt x="142867" y="236302"/>
                  <a:pt x="142875" y="228743"/>
                </a:cubicBezTo>
                <a:lnTo>
                  <a:pt x="142775" y="226928"/>
                </a:lnTo>
                <a:cubicBezTo>
                  <a:pt x="141928" y="219735"/>
                  <a:pt x="135831" y="214313"/>
                  <a:pt x="128588" y="214312"/>
                </a:cubicBezTo>
                <a:close/>
                <a:moveTo>
                  <a:pt x="185738" y="214312"/>
                </a:moveTo>
                <a:cubicBezTo>
                  <a:pt x="177847" y="214312"/>
                  <a:pt x="171450" y="220709"/>
                  <a:pt x="171450" y="228600"/>
                </a:cubicBezTo>
                <a:lnTo>
                  <a:pt x="171550" y="230415"/>
                </a:lnTo>
                <a:cubicBezTo>
                  <a:pt x="172443" y="237921"/>
                  <a:pt x="179028" y="243433"/>
                  <a:pt x="186575" y="242990"/>
                </a:cubicBezTo>
                <a:cubicBezTo>
                  <a:pt x="194121" y="242547"/>
                  <a:pt x="200017" y="236302"/>
                  <a:pt x="200025" y="228743"/>
                </a:cubicBezTo>
                <a:lnTo>
                  <a:pt x="199925" y="226928"/>
                </a:lnTo>
                <a:cubicBezTo>
                  <a:pt x="199078" y="219735"/>
                  <a:pt x="192981" y="214313"/>
                  <a:pt x="185738" y="214312"/>
                </a:cubicBezTo>
                <a:close/>
                <a:moveTo>
                  <a:pt x="71438" y="157162"/>
                </a:moveTo>
                <a:cubicBezTo>
                  <a:pt x="63547" y="157162"/>
                  <a:pt x="57150" y="163559"/>
                  <a:pt x="57150" y="171450"/>
                </a:cubicBezTo>
                <a:lnTo>
                  <a:pt x="57250" y="173265"/>
                </a:lnTo>
                <a:cubicBezTo>
                  <a:pt x="58143" y="180771"/>
                  <a:pt x="64728" y="186283"/>
                  <a:pt x="72275" y="185840"/>
                </a:cubicBezTo>
                <a:cubicBezTo>
                  <a:pt x="79821" y="185397"/>
                  <a:pt x="85717" y="179152"/>
                  <a:pt x="85725" y="171593"/>
                </a:cubicBezTo>
                <a:lnTo>
                  <a:pt x="85625" y="169778"/>
                </a:lnTo>
                <a:cubicBezTo>
                  <a:pt x="84778" y="162585"/>
                  <a:pt x="78681" y="157163"/>
                  <a:pt x="71438" y="157162"/>
                </a:cubicBezTo>
                <a:close/>
                <a:moveTo>
                  <a:pt x="128588" y="157162"/>
                </a:moveTo>
                <a:cubicBezTo>
                  <a:pt x="120697" y="157162"/>
                  <a:pt x="114300" y="163559"/>
                  <a:pt x="114300" y="171450"/>
                </a:cubicBezTo>
                <a:lnTo>
                  <a:pt x="114400" y="173265"/>
                </a:lnTo>
                <a:cubicBezTo>
                  <a:pt x="115293" y="180771"/>
                  <a:pt x="121878" y="186283"/>
                  <a:pt x="129425" y="185840"/>
                </a:cubicBezTo>
                <a:cubicBezTo>
                  <a:pt x="136971" y="185397"/>
                  <a:pt x="142867" y="179152"/>
                  <a:pt x="142875" y="171593"/>
                </a:cubicBezTo>
                <a:lnTo>
                  <a:pt x="142775" y="169778"/>
                </a:lnTo>
                <a:cubicBezTo>
                  <a:pt x="141928" y="162585"/>
                  <a:pt x="135831" y="157163"/>
                  <a:pt x="128588" y="157162"/>
                </a:cubicBezTo>
                <a:close/>
                <a:moveTo>
                  <a:pt x="185738" y="157162"/>
                </a:moveTo>
                <a:cubicBezTo>
                  <a:pt x="177847" y="157162"/>
                  <a:pt x="171450" y="163559"/>
                  <a:pt x="171450" y="171450"/>
                </a:cubicBezTo>
                <a:lnTo>
                  <a:pt x="171550" y="173265"/>
                </a:lnTo>
                <a:cubicBezTo>
                  <a:pt x="172443" y="180771"/>
                  <a:pt x="179028" y="186283"/>
                  <a:pt x="186575" y="185840"/>
                </a:cubicBezTo>
                <a:cubicBezTo>
                  <a:pt x="194121" y="185397"/>
                  <a:pt x="200017" y="179152"/>
                  <a:pt x="200025" y="171593"/>
                </a:cubicBezTo>
                <a:lnTo>
                  <a:pt x="199925" y="169778"/>
                </a:lnTo>
                <a:cubicBezTo>
                  <a:pt x="199078" y="162585"/>
                  <a:pt x="192981" y="157163"/>
                  <a:pt x="185738" y="157162"/>
                </a:cubicBezTo>
                <a:close/>
                <a:moveTo>
                  <a:pt x="171450" y="57150"/>
                </a:moveTo>
                <a:lnTo>
                  <a:pt x="85725" y="57150"/>
                </a:lnTo>
                <a:cubicBezTo>
                  <a:pt x="69943" y="57150"/>
                  <a:pt x="57150" y="69943"/>
                  <a:pt x="57150" y="85725"/>
                </a:cubicBezTo>
                <a:lnTo>
                  <a:pt x="57150" y="100012"/>
                </a:lnTo>
                <a:cubicBezTo>
                  <a:pt x="57150" y="115794"/>
                  <a:pt x="69943" y="128588"/>
                  <a:pt x="85725" y="128588"/>
                </a:cubicBezTo>
                <a:lnTo>
                  <a:pt x="171450" y="128588"/>
                </a:lnTo>
                <a:cubicBezTo>
                  <a:pt x="187232" y="128588"/>
                  <a:pt x="200025" y="115794"/>
                  <a:pt x="200025" y="100012"/>
                </a:cubicBezTo>
                <a:lnTo>
                  <a:pt x="200025" y="85725"/>
                </a:lnTo>
                <a:cubicBezTo>
                  <a:pt x="200025" y="69943"/>
                  <a:pt x="187232" y="57150"/>
                  <a:pt x="171450" y="57150"/>
                </a:cubicBezTo>
                <a:close/>
              </a:path>
            </a:pathLst>
          </a:custGeom>
          <a:solidFill>
            <a:srgbClr val="3B82F6"/>
          </a:solidFill>
          <a:ln>
            <a:noFill/>
          </a:ln>
        </p:spPr>
      </p:sp>
      <p:sp>
        <p:nvSpPr>
          <p:cNvPr id="77" name="TextBox 77"/>
          <p:cNvSpPr txBox="1"/>
          <p:nvPr/>
        </p:nvSpPr>
        <p:spPr>
          <a:xfrm>
            <a:off x="1409700" y="4648200"/>
            <a:ext cx="2142863"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How It All Connects</a:t>
            </a:r>
          </a:p>
        </p:txBody>
      </p:sp>
      <p:sp>
        <p:nvSpPr>
          <p:cNvPr id="78" name="TextBox 78"/>
          <p:cNvSpPr txBox="1"/>
          <p:nvPr/>
        </p:nvSpPr>
        <p:spPr>
          <a:xfrm>
            <a:off x="937260" y="5061585"/>
            <a:ext cx="805738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Each layer receives the previous layer's output as input. The entire network is a composition</a:t>
            </a:r>
          </a:p>
        </p:txBody>
      </p:sp>
      <p:sp>
        <p:nvSpPr>
          <p:cNvPr id="79" name="TextBox 79"/>
          <p:cNvSpPr txBox="1"/>
          <p:nvPr/>
        </p:nvSpPr>
        <p:spPr>
          <a:xfrm>
            <a:off x="937260" y="5309235"/>
            <a:ext cx="7820787"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of functions: the output of each layer feeds into the next. This chained structure is what</a:t>
            </a:r>
          </a:p>
        </p:txBody>
      </p:sp>
      <p:sp>
        <p:nvSpPr>
          <p:cNvPr id="80" name="TextBox 80"/>
          <p:cNvSpPr txBox="1"/>
          <p:nvPr/>
        </p:nvSpPr>
        <p:spPr>
          <a:xfrm>
            <a:off x="937260" y="5556885"/>
            <a:ext cx="7224903"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makes backpropagation possible — the chain rule can be applied to compute gradients</a:t>
            </a:r>
          </a:p>
        </p:txBody>
      </p:sp>
      <p:sp>
        <p:nvSpPr>
          <p:cNvPr id="81" name="TextBox 81"/>
          <p:cNvSpPr txBox="1"/>
          <p:nvPr/>
        </p:nvSpPr>
        <p:spPr>
          <a:xfrm>
            <a:off x="937260" y="5804535"/>
            <a:ext cx="543725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efficiently, layer by layer, from the output back to the input.</a:t>
            </a:r>
          </a:p>
        </p:txBody>
      </p:sp>
      <p:sp>
        <p:nvSpPr>
          <p:cNvPr id="82" name="TextBox 82"/>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08</a:t>
            </a:r>
          </a:p>
        </p:txBody>
      </p:sp>
      <p:pic>
        <p:nvPicPr>
          <p:cNvPr id="83" name="narration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8220">
    <p:fade/>
  </p:transition>
  <p:timing>
    <p:tnLst>
      <p:par>
        <p:cTn id="1" dur="indefinite" restart="never" nodeType="tmRoot">
          <p:childTnLst>
            <p:audio>
              <p:cMediaNode vol="80000">
                <p:cTn id="2" fill="hold" display="0">
                  <p:stCondLst>
                    <p:cond delay="0"/>
                  </p:stCondLst>
                </p:cTn>
                <p:tgtEl>
                  <p:spTgt spid="8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5888379"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Loss Function for Backpropagation</a:t>
            </a:r>
          </a:p>
        </p:txBody>
      </p:sp>
      <p:sp>
        <p:nvSpPr>
          <p:cNvPr id="5" name="Rectangle 5"/>
          <p:cNvSpPr/>
          <p:nvPr/>
        </p:nvSpPr>
        <p:spPr>
          <a:xfrm>
            <a:off x="571500" y="1238250"/>
            <a:ext cx="5429250" cy="5048250"/>
          </a:xfrm>
          <a:prstGeom prst="roundRect">
            <a:avLst>
              <a:gd name="adj" fmla="val 2264"/>
            </a:avLst>
          </a:prstGeom>
          <a:solidFill>
            <a:srgbClr val="1E293B"/>
          </a:solidFill>
          <a:ln w="9525">
            <a:solidFill>
              <a:srgbClr val="334155"/>
            </a:solidFill>
          </a:ln>
        </p:spPr>
      </p:sp>
      <p:sp>
        <p:nvSpPr>
          <p:cNvPr id="6" name="Rectangle 6"/>
          <p:cNvSpPr/>
          <p:nvPr/>
        </p:nvSpPr>
        <p:spPr>
          <a:xfrm>
            <a:off x="571500" y="1238250"/>
            <a:ext cx="5429250" cy="57150"/>
          </a:xfrm>
          <a:prstGeom prst="roundRect">
            <a:avLst>
              <a:gd name="adj" fmla="val 50000"/>
            </a:avLst>
          </a:prstGeom>
          <a:solidFill>
            <a:srgbClr val="10B981"/>
          </a:solidFill>
          <a:ln>
            <a:noFill/>
          </a:ln>
        </p:spPr>
      </p:sp>
      <p:sp>
        <p:nvSpPr>
          <p:cNvPr id="7" name="Freeform 7"/>
          <p:cNvSpPr/>
          <p:nvPr/>
        </p:nvSpPr>
        <p:spPr>
          <a:xfrm>
            <a:off x="977900" y="1612981"/>
            <a:ext cx="251216" cy="222078"/>
          </a:xfrm>
          <a:custGeom>
            <a:avLst/>
            <a:gdLst/>
            <a:ahLst/>
            <a:cxnLst/>
            <a:rect l="l" t="t" r="r" b="b"/>
            <a:pathLst>
              <a:path w="251216" h="222078">
                <a:moveTo>
                  <a:pt x="128130" y="4796"/>
                </a:moveTo>
                <a:cubicBezTo>
                  <a:pt x="119643" y="9139"/>
                  <a:pt x="114302" y="17868"/>
                  <a:pt x="114300" y="27402"/>
                </a:cubicBezTo>
                <a:lnTo>
                  <a:pt x="114287" y="60244"/>
                </a:lnTo>
                <a:lnTo>
                  <a:pt x="25400" y="60244"/>
                </a:lnTo>
                <a:cubicBezTo>
                  <a:pt x="11372" y="60244"/>
                  <a:pt x="0" y="71616"/>
                  <a:pt x="0" y="85644"/>
                </a:cubicBezTo>
                <a:lnTo>
                  <a:pt x="0" y="136444"/>
                </a:lnTo>
                <a:lnTo>
                  <a:pt x="63" y="138349"/>
                </a:lnTo>
                <a:cubicBezTo>
                  <a:pt x="1060" y="151604"/>
                  <a:pt x="12108" y="161848"/>
                  <a:pt x="25400" y="161844"/>
                </a:cubicBezTo>
                <a:lnTo>
                  <a:pt x="114287" y="161831"/>
                </a:lnTo>
                <a:lnTo>
                  <a:pt x="114300" y="194686"/>
                </a:lnTo>
                <a:cubicBezTo>
                  <a:pt x="114302" y="204958"/>
                  <a:pt x="120491" y="214217"/>
                  <a:pt x="129981" y="218148"/>
                </a:cubicBezTo>
                <a:cubicBezTo>
                  <a:pt x="139470" y="222078"/>
                  <a:pt x="150394" y="219906"/>
                  <a:pt x="157658" y="212644"/>
                </a:cubicBezTo>
                <a:lnTo>
                  <a:pt x="241300" y="129002"/>
                </a:lnTo>
                <a:cubicBezTo>
                  <a:pt x="251216" y="119083"/>
                  <a:pt x="251216" y="103005"/>
                  <a:pt x="241300" y="93086"/>
                </a:cubicBezTo>
                <a:lnTo>
                  <a:pt x="157658" y="9444"/>
                </a:lnTo>
                <a:cubicBezTo>
                  <a:pt x="150394" y="2176"/>
                  <a:pt x="139466" y="0"/>
                  <a:pt x="129972" y="3932"/>
                </a:cubicBezTo>
                <a:lnTo>
                  <a:pt x="128130" y="4796"/>
                </a:lnTo>
                <a:close/>
              </a:path>
            </a:pathLst>
          </a:custGeom>
          <a:solidFill>
            <a:srgbClr val="10B981"/>
          </a:solidFill>
          <a:ln>
            <a:noFill/>
          </a:ln>
        </p:spPr>
      </p:sp>
      <p:sp>
        <p:nvSpPr>
          <p:cNvPr id="8" name="TextBox 8"/>
          <p:cNvSpPr txBox="1"/>
          <p:nvPr/>
        </p:nvSpPr>
        <p:spPr>
          <a:xfrm>
            <a:off x="1350645" y="1631632"/>
            <a:ext cx="2610181"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Forward Propagation</a:t>
            </a:r>
          </a:p>
        </p:txBody>
      </p:sp>
      <p:sp>
        <p:nvSpPr>
          <p:cNvPr id="9" name="TextBox 9"/>
          <p:cNvSpPr txBox="1"/>
          <p:nvPr/>
        </p:nvSpPr>
        <p:spPr>
          <a:xfrm>
            <a:off x="937260" y="2061210"/>
            <a:ext cx="353568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Input x passes through layers to produce</a:t>
            </a:r>
          </a:p>
        </p:txBody>
      </p:sp>
      <p:sp>
        <p:nvSpPr>
          <p:cNvPr id="10" name="TextBox 10"/>
          <p:cNvSpPr txBox="1"/>
          <p:nvPr/>
        </p:nvSpPr>
        <p:spPr>
          <a:xfrm>
            <a:off x="937260" y="2289810"/>
            <a:ext cx="315010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output. Information flows forward.</a:t>
            </a:r>
          </a:p>
        </p:txBody>
      </p:sp>
      <p:sp>
        <p:nvSpPr>
          <p:cNvPr id="11" name="Rectangle 11"/>
          <p:cNvSpPr/>
          <p:nvPr/>
        </p:nvSpPr>
        <p:spPr>
          <a:xfrm>
            <a:off x="1143000" y="2667000"/>
            <a:ext cx="762000" cy="419100"/>
          </a:xfrm>
          <a:prstGeom prst="roundRect">
            <a:avLst>
              <a:gd name="adj" fmla="val 18182"/>
            </a:avLst>
          </a:prstGeom>
          <a:solidFill>
            <a:srgbClr val="3B82F6">
              <a:alpha val="20000"/>
            </a:srgbClr>
          </a:solidFill>
          <a:ln w="14288">
            <a:solidFill>
              <a:srgbClr val="3B82F6"/>
            </a:solidFill>
          </a:ln>
        </p:spPr>
      </p:sp>
      <p:sp>
        <p:nvSpPr>
          <p:cNvPr id="12" name="TextBox 12"/>
          <p:cNvSpPr txBox="1"/>
          <p:nvPr/>
        </p:nvSpPr>
        <p:spPr>
          <a:xfrm>
            <a:off x="1468493" y="2810828"/>
            <a:ext cx="111014" cy="213360"/>
          </a:xfrm>
          <a:prstGeom prst="rect">
            <a:avLst/>
          </a:prstGeom>
          <a:noFill/>
          <a:ln>
            <a:noFill/>
          </a:ln>
        </p:spPr>
        <p:txBody>
          <a:bodyPr wrap="none" lIns="0" tIns="0" rIns="0" bIns="0" anchor="t" anchorCtr="0">
            <a:spAutoFit/>
          </a:bodyPr>
          <a:lstStyle/>
          <a:p>
            <a:pPr algn="ctr"/>
            <a:r>
              <a:rPr lang="zh-CN" sz="1050" dirty="0">
                <a:solidFill>
                  <a:srgbClr val="3B82F6"/>
                </a:solidFill>
                <a:latin typeface="Consolas"/>
                <a:ea typeface="Microsoft YaHei"/>
                <a:cs typeface="Consolas"/>
              </a:rPr>
              <a:t>x</a:t>
            </a:r>
          </a:p>
        </p:txBody>
      </p:sp>
      <p:sp>
        <p:nvSpPr>
          <p:cNvPr id="13" name="Line 13"/>
          <p:cNvSpPr/>
          <p:nvPr/>
        </p:nvSpPr>
        <p:spPr>
          <a:xfrm>
            <a:off x="1905000" y="2876550"/>
            <a:ext cx="476250" cy="9525"/>
          </a:xfrm>
          <a:custGeom>
            <a:avLst/>
            <a:gdLst/>
            <a:ahLst/>
            <a:cxnLst/>
            <a:rect l="l" t="t" r="r" b="b"/>
            <a:pathLst>
              <a:path w="476250" h="9525">
                <a:moveTo>
                  <a:pt x="0" y="0"/>
                </a:moveTo>
                <a:lnTo>
                  <a:pt x="476250" y="0"/>
                </a:lnTo>
              </a:path>
            </a:pathLst>
          </a:custGeom>
          <a:noFill/>
          <a:ln w="19050">
            <a:solidFill>
              <a:srgbClr val="10B981"/>
            </a:solidFill>
          </a:ln>
        </p:spPr>
      </p:sp>
      <p:sp>
        <p:nvSpPr>
          <p:cNvPr id="14" name="Polygon 14"/>
          <p:cNvSpPr/>
          <p:nvPr/>
        </p:nvSpPr>
        <p:spPr>
          <a:xfrm>
            <a:off x="2381250" y="2828925"/>
            <a:ext cx="95250" cy="95250"/>
          </a:xfrm>
          <a:custGeom>
            <a:avLst/>
            <a:gdLst/>
            <a:ahLst/>
            <a:cxnLst/>
            <a:rect l="l" t="t" r="r" b="b"/>
            <a:pathLst>
              <a:path w="95250" h="95250">
                <a:moveTo>
                  <a:pt x="0" y="0"/>
                </a:moveTo>
                <a:lnTo>
                  <a:pt x="95250" y="47625"/>
                </a:lnTo>
                <a:lnTo>
                  <a:pt x="0" y="95250"/>
                </a:lnTo>
                <a:close/>
              </a:path>
            </a:pathLst>
          </a:custGeom>
          <a:solidFill>
            <a:srgbClr val="10B981"/>
          </a:solidFill>
          <a:ln>
            <a:noFill/>
          </a:ln>
        </p:spPr>
      </p:sp>
      <p:sp>
        <p:nvSpPr>
          <p:cNvPr id="15" name="Rectangle 15"/>
          <p:cNvSpPr/>
          <p:nvPr/>
        </p:nvSpPr>
        <p:spPr>
          <a:xfrm>
            <a:off x="2476500" y="2667000"/>
            <a:ext cx="952500" cy="419100"/>
          </a:xfrm>
          <a:prstGeom prst="roundRect">
            <a:avLst>
              <a:gd name="adj" fmla="val 18182"/>
            </a:avLst>
          </a:prstGeom>
          <a:solidFill>
            <a:srgbClr val="8B5CF6">
              <a:alpha val="20000"/>
            </a:srgbClr>
          </a:solidFill>
          <a:ln w="14288">
            <a:solidFill>
              <a:srgbClr val="8B5CF6"/>
            </a:solidFill>
          </a:ln>
        </p:spPr>
      </p:sp>
      <p:sp>
        <p:nvSpPr>
          <p:cNvPr id="16" name="TextBox 16"/>
          <p:cNvSpPr txBox="1"/>
          <p:nvPr/>
        </p:nvSpPr>
        <p:spPr>
          <a:xfrm>
            <a:off x="2628876" y="2810828"/>
            <a:ext cx="647748" cy="213360"/>
          </a:xfrm>
          <a:prstGeom prst="rect">
            <a:avLst/>
          </a:prstGeom>
          <a:noFill/>
          <a:ln>
            <a:noFill/>
          </a:ln>
        </p:spPr>
        <p:txBody>
          <a:bodyPr wrap="none" lIns="0" tIns="0" rIns="0" bIns="0" anchor="t" anchorCtr="0">
            <a:spAutoFit/>
          </a:bodyPr>
          <a:lstStyle/>
          <a:p>
            <a:pPr algn="ctr"/>
            <a:r>
              <a:rPr lang="zh-CN" sz="1050" dirty="0">
                <a:solidFill>
                  <a:srgbClr val="8B5CF6"/>
                </a:solidFill>
                <a:latin typeface="Consolas"/>
                <a:ea typeface="Microsoft YaHei"/>
                <a:cs typeface="Consolas"/>
              </a:rPr>
              <a:t>Network</a:t>
            </a:r>
          </a:p>
        </p:txBody>
      </p:sp>
      <p:sp>
        <p:nvSpPr>
          <p:cNvPr id="17" name="Line 17"/>
          <p:cNvSpPr/>
          <p:nvPr/>
        </p:nvSpPr>
        <p:spPr>
          <a:xfrm>
            <a:off x="3429000" y="2876550"/>
            <a:ext cx="476250" cy="9525"/>
          </a:xfrm>
          <a:custGeom>
            <a:avLst/>
            <a:gdLst/>
            <a:ahLst/>
            <a:cxnLst/>
            <a:rect l="l" t="t" r="r" b="b"/>
            <a:pathLst>
              <a:path w="476250" h="9525">
                <a:moveTo>
                  <a:pt x="0" y="0"/>
                </a:moveTo>
                <a:lnTo>
                  <a:pt x="476250" y="0"/>
                </a:lnTo>
              </a:path>
            </a:pathLst>
          </a:custGeom>
          <a:noFill/>
          <a:ln w="19050">
            <a:solidFill>
              <a:srgbClr val="10B981"/>
            </a:solidFill>
          </a:ln>
        </p:spPr>
      </p:sp>
      <p:sp>
        <p:nvSpPr>
          <p:cNvPr id="18" name="Polygon 18"/>
          <p:cNvSpPr/>
          <p:nvPr/>
        </p:nvSpPr>
        <p:spPr>
          <a:xfrm>
            <a:off x="3905250" y="2828925"/>
            <a:ext cx="95250" cy="95250"/>
          </a:xfrm>
          <a:custGeom>
            <a:avLst/>
            <a:gdLst/>
            <a:ahLst/>
            <a:cxnLst/>
            <a:rect l="l" t="t" r="r" b="b"/>
            <a:pathLst>
              <a:path w="95250" h="95250">
                <a:moveTo>
                  <a:pt x="0" y="0"/>
                </a:moveTo>
                <a:lnTo>
                  <a:pt x="95250" y="47625"/>
                </a:lnTo>
                <a:lnTo>
                  <a:pt x="0" y="95250"/>
                </a:lnTo>
                <a:close/>
              </a:path>
            </a:pathLst>
          </a:custGeom>
          <a:solidFill>
            <a:srgbClr val="10B981"/>
          </a:solidFill>
          <a:ln>
            <a:noFill/>
          </a:ln>
        </p:spPr>
      </p:sp>
      <p:sp>
        <p:nvSpPr>
          <p:cNvPr id="19" name="Rectangle 19"/>
          <p:cNvSpPr/>
          <p:nvPr/>
        </p:nvSpPr>
        <p:spPr>
          <a:xfrm>
            <a:off x="4000500" y="2667000"/>
            <a:ext cx="762000" cy="419100"/>
          </a:xfrm>
          <a:prstGeom prst="roundRect">
            <a:avLst>
              <a:gd name="adj" fmla="val 18182"/>
            </a:avLst>
          </a:prstGeom>
          <a:solidFill>
            <a:srgbClr val="22D3EE">
              <a:alpha val="20000"/>
            </a:srgbClr>
          </a:solidFill>
          <a:ln w="14288">
            <a:solidFill>
              <a:srgbClr val="22D3EE"/>
            </a:solidFill>
          </a:ln>
        </p:spPr>
      </p:sp>
      <p:sp>
        <p:nvSpPr>
          <p:cNvPr id="20" name="TextBox 20"/>
          <p:cNvSpPr txBox="1"/>
          <p:nvPr/>
        </p:nvSpPr>
        <p:spPr>
          <a:xfrm>
            <a:off x="4115133" y="2810828"/>
            <a:ext cx="532733" cy="213360"/>
          </a:xfrm>
          <a:prstGeom prst="rect">
            <a:avLst/>
          </a:prstGeom>
          <a:noFill/>
          <a:ln>
            <a:noFill/>
          </a:ln>
        </p:spPr>
        <p:txBody>
          <a:bodyPr wrap="none" lIns="0" tIns="0" rIns="0" bIns="0" anchor="t" anchorCtr="0">
            <a:spAutoFit/>
          </a:bodyPr>
          <a:lstStyle/>
          <a:p>
            <a:pPr algn="ctr"/>
            <a:r>
              <a:rPr lang="zh-CN" sz="1050" dirty="0">
                <a:solidFill>
                  <a:srgbClr val="22D3EE"/>
                </a:solidFill>
                <a:latin typeface="Consolas"/>
                <a:ea typeface="Microsoft YaHei"/>
                <a:cs typeface="Consolas"/>
              </a:rPr>
              <a:t>output</a:t>
            </a:r>
          </a:p>
        </p:txBody>
      </p:sp>
      <p:sp>
        <p:nvSpPr>
          <p:cNvPr id="21" name="Line 21"/>
          <p:cNvSpPr/>
          <p:nvPr/>
        </p:nvSpPr>
        <p:spPr>
          <a:xfrm>
            <a:off x="952500" y="3381375"/>
            <a:ext cx="4572000" cy="9525"/>
          </a:xfrm>
          <a:custGeom>
            <a:avLst/>
            <a:gdLst/>
            <a:ahLst/>
            <a:cxnLst/>
            <a:rect l="l" t="t" r="r" b="b"/>
            <a:pathLst>
              <a:path w="4572000" h="9525">
                <a:moveTo>
                  <a:pt x="0" y="0"/>
                </a:moveTo>
                <a:lnTo>
                  <a:pt x="4572000" y="0"/>
                </a:lnTo>
              </a:path>
            </a:pathLst>
          </a:custGeom>
          <a:noFill/>
          <a:ln w="9525">
            <a:solidFill>
              <a:srgbClr val="334155"/>
            </a:solidFill>
          </a:ln>
        </p:spPr>
      </p:sp>
      <p:grpSp>
        <p:nvGrpSpPr>
          <p:cNvPr id="24" name="Group 24"/>
          <p:cNvGrpSpPr/>
          <p:nvPr/>
        </p:nvGrpSpPr>
        <p:grpSpPr>
          <a:xfrm>
            <a:off x="985524" y="3626054"/>
            <a:ext cx="200651" cy="168071"/>
            <a:chOff x="985524" y="3626054"/>
            <a:chExt cx="200651" cy="168071"/>
          </a:xfrm>
        </p:grpSpPr>
        <p:sp>
          <p:nvSpPr>
            <p:cNvPr id="22" name="Freeform 22"/>
            <p:cNvSpPr/>
            <p:nvPr/>
          </p:nvSpPr>
          <p:spPr>
            <a:xfrm>
              <a:off x="985524" y="3771900"/>
              <a:ext cx="200651" cy="22225"/>
            </a:xfrm>
            <a:custGeom>
              <a:avLst/>
              <a:gdLst/>
              <a:ahLst/>
              <a:cxnLst/>
              <a:rect l="l" t="t" r="r" b="b"/>
              <a:pathLst>
                <a:path w="200651" h="22225">
                  <a:moveTo>
                    <a:pt x="189226" y="0"/>
                  </a:moveTo>
                  <a:cubicBezTo>
                    <a:pt x="195105" y="7"/>
                    <a:pt x="199962" y="4592"/>
                    <a:pt x="200307" y="10461"/>
                  </a:cubicBezTo>
                  <a:cubicBezTo>
                    <a:pt x="200651" y="16331"/>
                    <a:pt x="196364" y="21453"/>
                    <a:pt x="190526" y="22147"/>
                  </a:cubicBezTo>
                  <a:lnTo>
                    <a:pt x="189226" y="22225"/>
                  </a:lnTo>
                  <a:lnTo>
                    <a:pt x="11426" y="22225"/>
                  </a:lnTo>
                  <a:cubicBezTo>
                    <a:pt x="5546" y="22218"/>
                    <a:pt x="689" y="17633"/>
                    <a:pt x="345" y="11764"/>
                  </a:cubicBezTo>
                  <a:cubicBezTo>
                    <a:pt x="0" y="5894"/>
                    <a:pt x="4287" y="772"/>
                    <a:pt x="10125" y="78"/>
                  </a:cubicBezTo>
                  <a:lnTo>
                    <a:pt x="11426" y="0"/>
                  </a:lnTo>
                  <a:lnTo>
                    <a:pt x="189226" y="0"/>
                  </a:lnTo>
                  <a:close/>
                </a:path>
              </a:pathLst>
            </a:custGeom>
            <a:solidFill>
              <a:srgbClr val="F59E0B"/>
            </a:solidFill>
            <a:ln>
              <a:noFill/>
            </a:ln>
          </p:spPr>
        </p:sp>
        <p:sp>
          <p:nvSpPr>
            <p:cNvPr id="23" name="Freeform 23"/>
            <p:cNvSpPr/>
            <p:nvPr/>
          </p:nvSpPr>
          <p:spPr>
            <a:xfrm>
              <a:off x="985838" y="3626054"/>
              <a:ext cx="200025" cy="123621"/>
            </a:xfrm>
            <a:custGeom>
              <a:avLst/>
              <a:gdLst/>
              <a:ahLst/>
              <a:cxnLst/>
              <a:rect l="l" t="t" r="r" b="b"/>
              <a:pathLst>
                <a:path w="200025" h="123621">
                  <a:moveTo>
                    <a:pt x="135795" y="5551"/>
                  </a:moveTo>
                  <a:cubicBezTo>
                    <a:pt x="139589" y="816"/>
                    <a:pt x="146479" y="0"/>
                    <a:pt x="151274" y="3717"/>
                  </a:cubicBezTo>
                  <a:lnTo>
                    <a:pt x="152319" y="4639"/>
                  </a:lnTo>
                  <a:lnTo>
                    <a:pt x="196769" y="49089"/>
                  </a:lnTo>
                  <a:cubicBezTo>
                    <a:pt x="198496" y="50818"/>
                    <a:pt x="199605" y="53068"/>
                    <a:pt x="199925" y="55490"/>
                  </a:cubicBezTo>
                  <a:lnTo>
                    <a:pt x="200025" y="56946"/>
                  </a:lnTo>
                  <a:lnTo>
                    <a:pt x="200025" y="112509"/>
                  </a:lnTo>
                  <a:cubicBezTo>
                    <a:pt x="200024" y="118142"/>
                    <a:pt x="195808" y="122884"/>
                    <a:pt x="190213" y="123543"/>
                  </a:cubicBezTo>
                  <a:lnTo>
                    <a:pt x="188913" y="123621"/>
                  </a:lnTo>
                  <a:lnTo>
                    <a:pt x="10868" y="123621"/>
                  </a:lnTo>
                  <a:lnTo>
                    <a:pt x="9646" y="123521"/>
                  </a:lnTo>
                  <a:lnTo>
                    <a:pt x="8423" y="123299"/>
                  </a:lnTo>
                  <a:lnTo>
                    <a:pt x="7234" y="122921"/>
                  </a:lnTo>
                  <a:lnTo>
                    <a:pt x="6067" y="122410"/>
                  </a:lnTo>
                  <a:lnTo>
                    <a:pt x="4956" y="121754"/>
                  </a:lnTo>
                  <a:lnTo>
                    <a:pt x="3912" y="120976"/>
                  </a:lnTo>
                  <a:lnTo>
                    <a:pt x="3245" y="120365"/>
                  </a:lnTo>
                  <a:lnTo>
                    <a:pt x="2445" y="119454"/>
                  </a:lnTo>
                  <a:lnTo>
                    <a:pt x="1734" y="118465"/>
                  </a:lnTo>
                  <a:lnTo>
                    <a:pt x="1133" y="117398"/>
                  </a:lnTo>
                  <a:lnTo>
                    <a:pt x="956" y="117009"/>
                  </a:lnTo>
                  <a:lnTo>
                    <a:pt x="511" y="115864"/>
                  </a:lnTo>
                  <a:lnTo>
                    <a:pt x="211" y="114687"/>
                  </a:lnTo>
                  <a:lnTo>
                    <a:pt x="44" y="113486"/>
                  </a:lnTo>
                  <a:lnTo>
                    <a:pt x="0" y="112264"/>
                  </a:lnTo>
                  <a:lnTo>
                    <a:pt x="100" y="111042"/>
                  </a:lnTo>
                  <a:lnTo>
                    <a:pt x="311" y="109875"/>
                  </a:lnTo>
                  <a:cubicBezTo>
                    <a:pt x="422" y="109430"/>
                    <a:pt x="556" y="109019"/>
                    <a:pt x="700" y="108630"/>
                  </a:cubicBezTo>
                  <a:lnTo>
                    <a:pt x="1211" y="107463"/>
                  </a:lnTo>
                  <a:lnTo>
                    <a:pt x="1867" y="106352"/>
                  </a:lnTo>
                  <a:lnTo>
                    <a:pt x="46317" y="39677"/>
                  </a:lnTo>
                  <a:cubicBezTo>
                    <a:pt x="49132" y="35440"/>
                    <a:pt x="54464" y="33654"/>
                    <a:pt x="59263" y="35343"/>
                  </a:cubicBezTo>
                  <a:lnTo>
                    <a:pt x="60530" y="35899"/>
                  </a:lnTo>
                  <a:lnTo>
                    <a:pt x="96945" y="54101"/>
                  </a:lnTo>
                  <a:lnTo>
                    <a:pt x="135784" y="5551"/>
                  </a:lnTo>
                  <a:close/>
                </a:path>
              </a:pathLst>
            </a:custGeom>
            <a:solidFill>
              <a:srgbClr val="F59E0B"/>
            </a:solidFill>
            <a:ln>
              <a:noFill/>
            </a:ln>
          </p:spPr>
        </p:sp>
      </p:grpSp>
      <p:sp>
        <p:nvSpPr>
          <p:cNvPr id="25" name="TextBox 25"/>
          <p:cNvSpPr txBox="1"/>
          <p:nvPr/>
        </p:nvSpPr>
        <p:spPr>
          <a:xfrm>
            <a:off x="1316355" y="3645218"/>
            <a:ext cx="1586984"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Loss Function C</a:t>
            </a:r>
          </a:p>
        </p:txBody>
      </p:sp>
      <p:sp>
        <p:nvSpPr>
          <p:cNvPr id="26" name="TextBox 26"/>
          <p:cNvSpPr txBox="1"/>
          <p:nvPr/>
        </p:nvSpPr>
        <p:spPr>
          <a:xfrm>
            <a:off x="937260" y="4013835"/>
            <a:ext cx="292227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Measures how far predictions are</a:t>
            </a:r>
          </a:p>
        </p:txBody>
      </p:sp>
      <p:sp>
        <p:nvSpPr>
          <p:cNvPr id="27" name="TextBox 27"/>
          <p:cNvSpPr txBox="1"/>
          <p:nvPr/>
        </p:nvSpPr>
        <p:spPr>
          <a:xfrm>
            <a:off x="937260" y="4242435"/>
            <a:ext cx="1528953"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from true labels:</a:t>
            </a:r>
          </a:p>
        </p:txBody>
      </p:sp>
      <p:sp>
        <p:nvSpPr>
          <p:cNvPr id="28" name="Rectangle 28"/>
          <p:cNvSpPr/>
          <p:nvPr/>
        </p:nvSpPr>
        <p:spPr>
          <a:xfrm>
            <a:off x="1143000" y="4667250"/>
            <a:ext cx="4572000" cy="419100"/>
          </a:xfrm>
          <a:prstGeom prst="roundRect">
            <a:avLst>
              <a:gd name="adj" fmla="val 18182"/>
            </a:avLst>
          </a:prstGeom>
          <a:solidFill>
            <a:srgbClr val="0F172A"/>
          </a:solidFill>
          <a:ln w="9525">
            <a:solidFill>
              <a:srgbClr val="334155"/>
            </a:solidFill>
          </a:ln>
        </p:spPr>
      </p:sp>
      <p:sp>
        <p:nvSpPr>
          <p:cNvPr id="29" name="TextBox 29"/>
          <p:cNvSpPr txBox="1"/>
          <p:nvPr/>
        </p:nvSpPr>
        <p:spPr>
          <a:xfrm>
            <a:off x="2267593" y="4796314"/>
            <a:ext cx="2322814" cy="259080"/>
          </a:xfrm>
          <a:prstGeom prst="rect">
            <a:avLst/>
          </a:prstGeom>
          <a:noFill/>
          <a:ln>
            <a:noFill/>
          </a:ln>
        </p:spPr>
        <p:txBody>
          <a:bodyPr wrap="none" lIns="0" tIns="0" rIns="0" bIns="0" anchor="t" anchorCtr="0">
            <a:spAutoFit/>
          </a:bodyPr>
          <a:lstStyle/>
          <a:p>
            <a:pPr algn="ctr"/>
            <a:r>
              <a:rPr lang="zh-CN" sz="1275" dirty="0">
                <a:solidFill>
                  <a:srgbClr val="F1F5F9"/>
                </a:solidFill>
                <a:latin typeface="Georgia"/>
                <a:ea typeface="Microsoft YaHei"/>
                <a:cs typeface="Georgia"/>
              </a:rPr>
              <a:t>C = Loss( output , label )</a:t>
            </a:r>
          </a:p>
        </p:txBody>
      </p:sp>
      <p:sp>
        <p:nvSpPr>
          <p:cNvPr id="30" name="TextBox 30"/>
          <p:cNvSpPr txBox="1"/>
          <p:nvPr/>
        </p:nvSpPr>
        <p:spPr>
          <a:xfrm>
            <a:off x="939165" y="5268278"/>
            <a:ext cx="176722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Low C = good prediction</a:t>
            </a:r>
          </a:p>
        </p:txBody>
      </p:sp>
      <p:sp>
        <p:nvSpPr>
          <p:cNvPr id="31" name="TextBox 31"/>
          <p:cNvSpPr txBox="1"/>
          <p:nvPr/>
        </p:nvSpPr>
        <p:spPr>
          <a:xfrm>
            <a:off x="939165" y="5458778"/>
            <a:ext cx="178255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High C = poor prediction</a:t>
            </a:r>
          </a:p>
        </p:txBody>
      </p:sp>
      <p:sp>
        <p:nvSpPr>
          <p:cNvPr id="32" name="Rectangle 32"/>
          <p:cNvSpPr/>
          <p:nvPr/>
        </p:nvSpPr>
        <p:spPr>
          <a:xfrm>
            <a:off x="6286500" y="1238250"/>
            <a:ext cx="5334000" cy="2476500"/>
          </a:xfrm>
          <a:prstGeom prst="roundRect">
            <a:avLst>
              <a:gd name="adj" fmla="val 4615"/>
            </a:avLst>
          </a:prstGeom>
          <a:solidFill>
            <a:srgbClr val="1E293B"/>
          </a:solidFill>
          <a:ln w="9525">
            <a:solidFill>
              <a:srgbClr val="334155"/>
            </a:solidFill>
          </a:ln>
        </p:spPr>
      </p:sp>
      <p:sp>
        <p:nvSpPr>
          <p:cNvPr id="33" name="Rectangle 33"/>
          <p:cNvSpPr/>
          <p:nvPr/>
        </p:nvSpPr>
        <p:spPr>
          <a:xfrm>
            <a:off x="6286500" y="1238250"/>
            <a:ext cx="5334000" cy="57150"/>
          </a:xfrm>
          <a:prstGeom prst="roundRect">
            <a:avLst>
              <a:gd name="adj" fmla="val 50000"/>
            </a:avLst>
          </a:prstGeom>
          <a:solidFill>
            <a:srgbClr val="F59E0B"/>
          </a:solidFill>
          <a:ln>
            <a:noFill/>
          </a:ln>
        </p:spPr>
      </p:sp>
      <p:sp>
        <p:nvSpPr>
          <p:cNvPr id="34" name="TextBox 34"/>
          <p:cNvSpPr txBox="1"/>
          <p:nvPr/>
        </p:nvSpPr>
        <p:spPr>
          <a:xfrm>
            <a:off x="6648450" y="1457325"/>
            <a:ext cx="1958840"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Training Behavior</a:t>
            </a:r>
          </a:p>
        </p:txBody>
      </p:sp>
      <p:sp>
        <p:nvSpPr>
          <p:cNvPr id="35" name="Line 35"/>
          <p:cNvSpPr/>
          <p:nvPr/>
        </p:nvSpPr>
        <p:spPr>
          <a:xfrm>
            <a:off x="6858000" y="2000250"/>
            <a:ext cx="9525" cy="1333500"/>
          </a:xfrm>
          <a:custGeom>
            <a:avLst/>
            <a:gdLst/>
            <a:ahLst/>
            <a:cxnLst/>
            <a:rect l="l" t="t" r="r" b="b"/>
            <a:pathLst>
              <a:path w="9525" h="1333500">
                <a:moveTo>
                  <a:pt x="0" y="0"/>
                </a:moveTo>
                <a:lnTo>
                  <a:pt x="0" y="1333500"/>
                </a:lnTo>
              </a:path>
            </a:pathLst>
          </a:custGeom>
          <a:noFill/>
          <a:ln w="14288">
            <a:solidFill>
              <a:srgbClr val="334155"/>
            </a:solidFill>
          </a:ln>
        </p:spPr>
      </p:sp>
      <p:sp>
        <p:nvSpPr>
          <p:cNvPr id="36" name="Line 36"/>
          <p:cNvSpPr/>
          <p:nvPr/>
        </p:nvSpPr>
        <p:spPr>
          <a:xfrm>
            <a:off x="6858000" y="3333750"/>
            <a:ext cx="4286250" cy="9525"/>
          </a:xfrm>
          <a:custGeom>
            <a:avLst/>
            <a:gdLst/>
            <a:ahLst/>
            <a:cxnLst/>
            <a:rect l="l" t="t" r="r" b="b"/>
            <a:pathLst>
              <a:path w="4286250" h="9525">
                <a:moveTo>
                  <a:pt x="0" y="0"/>
                </a:moveTo>
                <a:lnTo>
                  <a:pt x="4286250" y="0"/>
                </a:lnTo>
              </a:path>
            </a:pathLst>
          </a:custGeom>
          <a:noFill/>
          <a:ln w="14288">
            <a:solidFill>
              <a:srgbClr val="334155"/>
            </a:solidFill>
          </a:ln>
        </p:spPr>
      </p:sp>
      <p:sp>
        <p:nvSpPr>
          <p:cNvPr id="37" name="TextBox 37"/>
          <p:cNvSpPr txBox="1"/>
          <p:nvPr/>
        </p:nvSpPr>
        <p:spPr>
          <a:xfrm>
            <a:off x="6391942" y="1911191"/>
            <a:ext cx="286036" cy="167640"/>
          </a:xfrm>
          <a:prstGeom prst="rect">
            <a:avLst/>
          </a:prstGeom>
          <a:noFill/>
          <a:ln>
            <a:noFill/>
          </a:ln>
        </p:spPr>
        <p:txBody>
          <a:bodyPr wrap="none" lIns="0" tIns="0" rIns="0" bIns="0" anchor="t" anchorCtr="0">
            <a:spAutoFit/>
          </a:bodyPr>
          <a:lstStyle/>
          <a:p>
            <a:pPr algn="r"/>
            <a:r>
              <a:rPr lang="zh-CN" sz="825" dirty="0">
                <a:solidFill>
                  <a:srgbClr val="64748B"/>
                </a:solidFill>
                <a:latin typeface="Arial"/>
                <a:ea typeface="Microsoft YaHei"/>
                <a:cs typeface="Arial"/>
              </a:rPr>
              <a:t>Loss</a:t>
            </a:r>
          </a:p>
        </p:txBody>
      </p:sp>
      <p:sp>
        <p:nvSpPr>
          <p:cNvPr id="38" name="TextBox 38"/>
          <p:cNvSpPr txBox="1"/>
          <p:nvPr/>
        </p:nvSpPr>
        <p:spPr>
          <a:xfrm>
            <a:off x="10025253" y="3435191"/>
            <a:ext cx="1129474" cy="167640"/>
          </a:xfrm>
          <a:prstGeom prst="rect">
            <a:avLst/>
          </a:prstGeom>
          <a:noFill/>
          <a:ln>
            <a:noFill/>
          </a:ln>
        </p:spPr>
        <p:txBody>
          <a:bodyPr wrap="none" lIns="0" tIns="0" rIns="0" bIns="0" anchor="t" anchorCtr="0">
            <a:spAutoFit/>
          </a:bodyPr>
          <a:lstStyle/>
          <a:p>
            <a:pPr algn="r"/>
            <a:r>
              <a:rPr lang="zh-CN" sz="825" dirty="0">
                <a:solidFill>
                  <a:srgbClr val="64748B"/>
                </a:solidFill>
                <a:latin typeface="Arial"/>
                <a:ea typeface="Microsoft YaHei"/>
                <a:cs typeface="Arial"/>
              </a:rPr>
              <a:t>Training iterations</a:t>
            </a:r>
          </a:p>
        </p:txBody>
      </p:sp>
      <p:sp>
        <p:nvSpPr>
          <p:cNvPr id="39" name="Freeform 39"/>
          <p:cNvSpPr/>
          <p:nvPr/>
        </p:nvSpPr>
        <p:spPr>
          <a:xfrm>
            <a:off x="6953250" y="2095500"/>
            <a:ext cx="4095750" cy="1162050"/>
          </a:xfrm>
          <a:custGeom>
            <a:avLst/>
            <a:gdLst/>
            <a:ahLst/>
            <a:cxnLst/>
            <a:rect l="l" t="t" r="r" b="b"/>
            <a:pathLst>
              <a:path w="4095750" h="1162050">
                <a:moveTo>
                  <a:pt x="0" y="0"/>
                </a:moveTo>
                <a:cubicBezTo>
                  <a:pt x="444500" y="31750"/>
                  <a:pt x="825500" y="158750"/>
                  <a:pt x="1143000" y="381000"/>
                </a:cubicBezTo>
                <a:cubicBezTo>
                  <a:pt x="1587500" y="635000"/>
                  <a:pt x="2063750" y="841375"/>
                  <a:pt x="2571750" y="1000125"/>
                </a:cubicBezTo>
                <a:cubicBezTo>
                  <a:pt x="2952750" y="1082675"/>
                  <a:pt x="3460750" y="1136650"/>
                  <a:pt x="4095750" y="1162050"/>
                </a:cubicBezTo>
              </a:path>
            </a:pathLst>
          </a:custGeom>
          <a:noFill/>
          <a:ln w="23812">
            <a:solidFill>
              <a:srgbClr val="F59E0B"/>
            </a:solidFill>
          </a:ln>
        </p:spPr>
      </p:sp>
      <p:sp>
        <p:nvSpPr>
          <p:cNvPr id="40" name="Ellipse 40"/>
          <p:cNvSpPr/>
          <p:nvPr/>
        </p:nvSpPr>
        <p:spPr>
          <a:xfrm>
            <a:off x="6915150" y="2057400"/>
            <a:ext cx="76200" cy="76200"/>
          </a:xfrm>
          <a:prstGeom prst="ellipse">
            <a:avLst/>
          </a:prstGeom>
          <a:solidFill>
            <a:srgbClr val="F59E0B"/>
          </a:solidFill>
          <a:ln>
            <a:noFill/>
          </a:ln>
        </p:spPr>
      </p:sp>
      <p:sp>
        <p:nvSpPr>
          <p:cNvPr id="41" name="TextBox 41"/>
          <p:cNvSpPr txBox="1"/>
          <p:nvPr/>
        </p:nvSpPr>
        <p:spPr>
          <a:xfrm>
            <a:off x="7085648" y="1987391"/>
            <a:ext cx="960787" cy="167640"/>
          </a:xfrm>
          <a:prstGeom prst="rect">
            <a:avLst/>
          </a:prstGeom>
          <a:noFill/>
          <a:ln>
            <a:noFill/>
          </a:ln>
        </p:spPr>
        <p:txBody>
          <a:bodyPr wrap="none" lIns="0" tIns="0" rIns="0" bIns="0" anchor="t" anchorCtr="0">
            <a:spAutoFit/>
          </a:bodyPr>
          <a:lstStyle/>
          <a:p>
            <a:pPr algn="l"/>
            <a:r>
              <a:rPr lang="zh-CN" sz="825" dirty="0">
                <a:solidFill>
                  <a:srgbClr val="F59E0B"/>
                </a:solidFill>
                <a:latin typeface="Arial"/>
                <a:ea typeface="Microsoft YaHei"/>
                <a:cs typeface="Arial"/>
              </a:rPr>
              <a:t>Start: high loss</a:t>
            </a:r>
          </a:p>
        </p:txBody>
      </p:sp>
      <p:sp>
        <p:nvSpPr>
          <p:cNvPr id="42" name="Ellipse 42"/>
          <p:cNvSpPr/>
          <p:nvPr/>
        </p:nvSpPr>
        <p:spPr>
          <a:xfrm>
            <a:off x="11010900" y="3219450"/>
            <a:ext cx="76200" cy="76200"/>
          </a:xfrm>
          <a:prstGeom prst="ellipse">
            <a:avLst/>
          </a:prstGeom>
          <a:solidFill>
            <a:srgbClr val="10B981"/>
          </a:solidFill>
          <a:ln>
            <a:noFill/>
          </a:ln>
        </p:spPr>
      </p:sp>
      <p:sp>
        <p:nvSpPr>
          <p:cNvPr id="43" name="TextBox 43"/>
          <p:cNvSpPr txBox="1"/>
          <p:nvPr/>
        </p:nvSpPr>
        <p:spPr>
          <a:xfrm>
            <a:off x="10467022" y="3101816"/>
            <a:ext cx="1021032" cy="167640"/>
          </a:xfrm>
          <a:prstGeom prst="rect">
            <a:avLst/>
          </a:prstGeom>
          <a:noFill/>
          <a:ln>
            <a:noFill/>
          </a:ln>
        </p:spPr>
        <p:txBody>
          <a:bodyPr wrap="none" lIns="0" tIns="0" rIns="0" bIns="0" anchor="t" anchorCtr="0">
            <a:spAutoFit/>
          </a:bodyPr>
          <a:lstStyle/>
          <a:p>
            <a:pPr algn="l"/>
            <a:r>
              <a:rPr lang="zh-CN" sz="825" dirty="0">
                <a:solidFill>
                  <a:srgbClr val="10B981"/>
                </a:solidFill>
                <a:latin typeface="Arial"/>
                <a:ea typeface="Microsoft YaHei"/>
                <a:cs typeface="Arial"/>
              </a:rPr>
              <a:t>Trained: low loss</a:t>
            </a:r>
          </a:p>
        </p:txBody>
      </p:sp>
      <p:sp>
        <p:nvSpPr>
          <p:cNvPr id="44" name="Rectangle 44"/>
          <p:cNvSpPr/>
          <p:nvPr/>
        </p:nvSpPr>
        <p:spPr>
          <a:xfrm>
            <a:off x="6286500" y="4000500"/>
            <a:ext cx="5334000" cy="2286000"/>
          </a:xfrm>
          <a:prstGeom prst="roundRect">
            <a:avLst>
              <a:gd name="adj" fmla="val 5000"/>
            </a:avLst>
          </a:prstGeom>
          <a:solidFill>
            <a:srgbClr val="1E293B"/>
          </a:solidFill>
          <a:ln w="9525">
            <a:solidFill>
              <a:srgbClr val="334155"/>
            </a:solidFill>
          </a:ln>
        </p:spPr>
      </p:sp>
      <p:sp>
        <p:nvSpPr>
          <p:cNvPr id="45" name="TextBox 45"/>
          <p:cNvSpPr txBox="1"/>
          <p:nvPr/>
        </p:nvSpPr>
        <p:spPr>
          <a:xfrm>
            <a:off x="6648450" y="4200525"/>
            <a:ext cx="2614422" cy="304800"/>
          </a:xfrm>
          <a:prstGeom prst="rect">
            <a:avLst/>
          </a:prstGeom>
          <a:noFill/>
          <a:ln>
            <a:noFill/>
          </a:ln>
        </p:spPr>
        <p:txBody>
          <a:bodyPr wrap="none" lIns="0" tIns="0" rIns="0" bIns="0" anchor="t" anchorCtr="0">
            <a:spAutoFit/>
          </a:bodyPr>
          <a:lstStyle/>
          <a:p>
            <a:pPr algn="l"/>
            <a:r>
              <a:rPr lang="zh-CN" sz="1500" b="1" dirty="0">
                <a:solidFill>
                  <a:srgbClr val="22D3EE"/>
                </a:solidFill>
                <a:latin typeface="Georgia"/>
                <a:ea typeface="Microsoft YaHei"/>
                <a:cs typeface="Georgia"/>
              </a:rPr>
              <a:t>Common Loss Functions</a:t>
            </a:r>
          </a:p>
        </p:txBody>
      </p:sp>
      <p:sp>
        <p:nvSpPr>
          <p:cNvPr id="46" name="Rectangle 46"/>
          <p:cNvSpPr/>
          <p:nvPr/>
        </p:nvSpPr>
        <p:spPr>
          <a:xfrm>
            <a:off x="6667500" y="4572000"/>
            <a:ext cx="2000250" cy="476250"/>
          </a:xfrm>
          <a:prstGeom prst="roundRect">
            <a:avLst>
              <a:gd name="adj" fmla="val 16000"/>
            </a:avLst>
          </a:prstGeom>
          <a:solidFill>
            <a:srgbClr val="3B82F6">
              <a:alpha val="10000"/>
            </a:srgbClr>
          </a:solidFill>
          <a:ln w="9525">
            <a:solidFill>
              <a:srgbClr val="3B82F6">
                <a:alpha val="30000"/>
              </a:srgbClr>
            </a:solidFill>
          </a:ln>
        </p:spPr>
      </p:sp>
      <p:sp>
        <p:nvSpPr>
          <p:cNvPr id="47" name="TextBox 47"/>
          <p:cNvSpPr txBox="1"/>
          <p:nvPr/>
        </p:nvSpPr>
        <p:spPr>
          <a:xfrm>
            <a:off x="7106055" y="4744402"/>
            <a:ext cx="1123140" cy="213360"/>
          </a:xfrm>
          <a:prstGeom prst="rect">
            <a:avLst/>
          </a:prstGeom>
          <a:noFill/>
          <a:ln>
            <a:noFill/>
          </a:ln>
        </p:spPr>
        <p:txBody>
          <a:bodyPr wrap="none" lIns="0" tIns="0" rIns="0" bIns="0" anchor="t" anchorCtr="0">
            <a:spAutoFit/>
          </a:bodyPr>
          <a:lstStyle/>
          <a:p>
            <a:pPr algn="ctr"/>
            <a:r>
              <a:rPr lang="zh-CN" sz="1050" dirty="0">
                <a:solidFill>
                  <a:srgbClr val="3B82F6"/>
                </a:solidFill>
                <a:latin typeface="Consolas"/>
                <a:ea typeface="Microsoft YaHei"/>
                <a:cs typeface="Consolas"/>
              </a:rPr>
              <a:t>Cross-Entropy</a:t>
            </a:r>
          </a:p>
        </p:txBody>
      </p:sp>
      <p:sp>
        <p:nvSpPr>
          <p:cNvPr id="48" name="Rectangle 48"/>
          <p:cNvSpPr/>
          <p:nvPr/>
        </p:nvSpPr>
        <p:spPr>
          <a:xfrm>
            <a:off x="8858250" y="4572000"/>
            <a:ext cx="2381250" cy="476250"/>
          </a:xfrm>
          <a:prstGeom prst="roundRect">
            <a:avLst>
              <a:gd name="adj" fmla="val 16000"/>
            </a:avLst>
          </a:prstGeom>
          <a:solidFill>
            <a:srgbClr val="22D3EE">
              <a:alpha val="10000"/>
            </a:srgbClr>
          </a:solidFill>
          <a:ln w="9525">
            <a:solidFill>
              <a:srgbClr val="22D3EE">
                <a:alpha val="30000"/>
              </a:srgbClr>
            </a:solidFill>
          </a:ln>
        </p:spPr>
      </p:sp>
      <p:sp>
        <p:nvSpPr>
          <p:cNvPr id="49" name="TextBox 49"/>
          <p:cNvSpPr txBox="1"/>
          <p:nvPr/>
        </p:nvSpPr>
        <p:spPr>
          <a:xfrm>
            <a:off x="9418296" y="4744402"/>
            <a:ext cx="1261158" cy="213360"/>
          </a:xfrm>
          <a:prstGeom prst="rect">
            <a:avLst/>
          </a:prstGeom>
          <a:noFill/>
          <a:ln>
            <a:noFill/>
          </a:ln>
        </p:spPr>
        <p:txBody>
          <a:bodyPr wrap="none" lIns="0" tIns="0" rIns="0" bIns="0" anchor="t" anchorCtr="0">
            <a:spAutoFit/>
          </a:bodyPr>
          <a:lstStyle/>
          <a:p>
            <a:pPr algn="ctr"/>
            <a:r>
              <a:rPr lang="zh-CN" sz="1050" dirty="0">
                <a:solidFill>
                  <a:srgbClr val="22D3EE"/>
                </a:solidFill>
                <a:latin typeface="Consolas"/>
                <a:ea typeface="Microsoft YaHei"/>
                <a:cs typeface="Consolas"/>
              </a:rPr>
              <a:t>Cosine Similarity</a:t>
            </a:r>
          </a:p>
        </p:txBody>
      </p:sp>
      <p:sp>
        <p:nvSpPr>
          <p:cNvPr id="50" name="Rectangle 50"/>
          <p:cNvSpPr/>
          <p:nvPr/>
        </p:nvSpPr>
        <p:spPr>
          <a:xfrm>
            <a:off x="6667500" y="5191125"/>
            <a:ext cx="2000250" cy="476250"/>
          </a:xfrm>
          <a:prstGeom prst="roundRect">
            <a:avLst>
              <a:gd name="adj" fmla="val 16000"/>
            </a:avLst>
          </a:prstGeom>
          <a:solidFill>
            <a:srgbClr val="8B5CF6">
              <a:alpha val="10000"/>
            </a:srgbClr>
          </a:solidFill>
          <a:ln w="9525">
            <a:solidFill>
              <a:srgbClr val="8B5CF6">
                <a:alpha val="30000"/>
              </a:srgbClr>
            </a:solidFill>
          </a:ln>
        </p:spPr>
      </p:sp>
      <p:sp>
        <p:nvSpPr>
          <p:cNvPr id="51" name="TextBox 51"/>
          <p:cNvSpPr txBox="1"/>
          <p:nvPr/>
        </p:nvSpPr>
        <p:spPr>
          <a:xfrm>
            <a:off x="7270909" y="5363528"/>
            <a:ext cx="793433" cy="213360"/>
          </a:xfrm>
          <a:prstGeom prst="rect">
            <a:avLst/>
          </a:prstGeom>
          <a:noFill/>
          <a:ln>
            <a:noFill/>
          </a:ln>
        </p:spPr>
        <p:txBody>
          <a:bodyPr wrap="none" lIns="0" tIns="0" rIns="0" bIns="0" anchor="t" anchorCtr="0">
            <a:spAutoFit/>
          </a:bodyPr>
          <a:lstStyle/>
          <a:p>
            <a:pPr algn="ctr"/>
            <a:r>
              <a:rPr lang="zh-CN" sz="1050" dirty="0">
                <a:solidFill>
                  <a:srgbClr val="8B5CF6"/>
                </a:solidFill>
                <a:latin typeface="Consolas"/>
                <a:ea typeface="Microsoft YaHei"/>
                <a:cs typeface="Consolas"/>
              </a:rPr>
              <a:t>Hinge Loss</a:t>
            </a:r>
          </a:p>
        </p:txBody>
      </p:sp>
      <p:sp>
        <p:nvSpPr>
          <p:cNvPr id="52" name="Rectangle 52"/>
          <p:cNvSpPr/>
          <p:nvPr/>
        </p:nvSpPr>
        <p:spPr>
          <a:xfrm>
            <a:off x="8858250" y="5191125"/>
            <a:ext cx="2381250" cy="476250"/>
          </a:xfrm>
          <a:prstGeom prst="roundRect">
            <a:avLst>
              <a:gd name="adj" fmla="val 16000"/>
            </a:avLst>
          </a:prstGeom>
          <a:solidFill>
            <a:srgbClr val="F59E0B">
              <a:alpha val="10000"/>
            </a:srgbClr>
          </a:solidFill>
          <a:ln w="9525">
            <a:solidFill>
              <a:srgbClr val="F59E0B">
                <a:alpha val="30000"/>
              </a:srgbClr>
            </a:solidFill>
          </a:ln>
        </p:spPr>
      </p:sp>
      <p:sp>
        <p:nvSpPr>
          <p:cNvPr id="53" name="TextBox 53"/>
          <p:cNvSpPr txBox="1"/>
          <p:nvPr/>
        </p:nvSpPr>
        <p:spPr>
          <a:xfrm>
            <a:off x="9299448" y="5363528"/>
            <a:ext cx="1498854" cy="213360"/>
          </a:xfrm>
          <a:prstGeom prst="rect">
            <a:avLst/>
          </a:prstGeom>
          <a:noFill/>
          <a:ln>
            <a:noFill/>
          </a:ln>
        </p:spPr>
        <p:txBody>
          <a:bodyPr wrap="none" lIns="0" tIns="0" rIns="0" bIns="0" anchor="t" anchorCtr="0">
            <a:spAutoFit/>
          </a:bodyPr>
          <a:lstStyle/>
          <a:p>
            <a:pPr algn="ctr"/>
            <a:r>
              <a:rPr lang="zh-CN" sz="1050" dirty="0">
                <a:solidFill>
                  <a:srgbClr val="F59E0B"/>
                </a:solidFill>
                <a:latin typeface="Consolas"/>
                <a:ea typeface="Microsoft YaHei"/>
                <a:cs typeface="Consolas"/>
              </a:rPr>
              <a:t>Mean Squared Error</a:t>
            </a:r>
          </a:p>
        </p:txBody>
      </p:sp>
      <p:sp>
        <p:nvSpPr>
          <p:cNvPr id="54" name="TextBox 54"/>
          <p:cNvSpPr txBox="1"/>
          <p:nvPr/>
        </p:nvSpPr>
        <p:spPr>
          <a:xfrm>
            <a:off x="6654165" y="5925502"/>
            <a:ext cx="3745468" cy="213360"/>
          </a:xfrm>
          <a:prstGeom prst="rect">
            <a:avLst/>
          </a:prstGeom>
          <a:noFill/>
          <a:ln>
            <a:noFill/>
          </a:ln>
        </p:spPr>
        <p:txBody>
          <a:bodyPr wrap="none" lIns="0" tIns="0" rIns="0" bIns="0" anchor="t" anchorCtr="0">
            <a:spAutoFit/>
          </a:bodyPr>
          <a:lstStyle/>
          <a:p>
            <a:pPr algn="l"/>
            <a:r>
              <a:rPr lang="zh-CN" sz="1050" i="1" dirty="0">
                <a:solidFill>
                  <a:srgbClr val="94A3B8"/>
                </a:solidFill>
                <a:latin typeface="Arial"/>
                <a:ea typeface="Microsoft YaHei"/>
                <a:cs typeface="Arial"/>
              </a:rPr>
              <a:t>Objective: reduce C by adjusting network weights</a:t>
            </a:r>
          </a:p>
        </p:txBody>
      </p:sp>
      <p:sp>
        <p:nvSpPr>
          <p:cNvPr id="55" name="TextBox 55"/>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09</a:t>
            </a:r>
          </a:p>
        </p:txBody>
      </p:sp>
      <p:pic>
        <p:nvPicPr>
          <p:cNvPr id="56" name="narration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47540">
    <p:fade/>
  </p:transition>
  <p:timing>
    <p:tnLst>
      <p:par>
        <p:cTn id="1" dur="indefinite" restart="never" nodeType="tmRoot">
          <p:childTnLst>
            <p:audio>
              <p:cMediaNode vol="80000">
                <p:cTn id="2" fill="hold" display="0">
                  <p:stCondLst>
                    <p:cond delay="0"/>
                  </p:stCondLst>
                </p:cTn>
                <p:tgtEl>
                  <p:spTgt spid="5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0" y="0"/>
            <a:ext cx="12192000" cy="6858000"/>
          </a:xfrm>
          <a:prstGeom prst="rect">
            <a:avLst/>
          </a:prstGeom>
          <a:gradFill>
            <a:gsLst>
              <a:gs pos="0">
                <a:srgbClr val="3B82F6">
                  <a:alpha val="8000"/>
                </a:srgbClr>
              </a:gs>
              <a:gs pos="100000">
                <a:srgbClr val="3B82F6">
                  <a:alpha val="0"/>
                </a:srgbClr>
              </a:gs>
            </a:gsLst>
            <a:path path="circle">
              <a:fillToRect l="50000" t="50000" r="50000" b="50000"/>
            </a:path>
          </a:gradFill>
          <a:ln>
            <a:noFill/>
          </a:ln>
        </p:spPr>
      </p:sp>
      <p:sp>
        <p:nvSpPr>
          <p:cNvPr id="4" name="Rectangle 4"/>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5" name="TextBox 5"/>
          <p:cNvSpPr txBox="1"/>
          <p:nvPr/>
        </p:nvSpPr>
        <p:spPr>
          <a:xfrm>
            <a:off x="542925" y="614362"/>
            <a:ext cx="4818745"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Computing the Loss Gradient</a:t>
            </a:r>
          </a:p>
        </p:txBody>
      </p:sp>
      <p:sp>
        <p:nvSpPr>
          <p:cNvPr id="6" name="Rectangle 6"/>
          <p:cNvSpPr/>
          <p:nvPr/>
        </p:nvSpPr>
        <p:spPr>
          <a:xfrm>
            <a:off x="3238500" y="1524000"/>
            <a:ext cx="5715000" cy="952500"/>
          </a:xfrm>
          <a:prstGeom prst="roundRect">
            <a:avLst>
              <a:gd name="adj" fmla="val 16000"/>
            </a:avLst>
          </a:prstGeom>
          <a:solidFill>
            <a:srgbClr val="1E293B"/>
          </a:solidFill>
          <a:ln w="19050">
            <a:solidFill>
              <a:srgbClr val="3B82F6"/>
            </a:solidFill>
          </a:ln>
        </p:spPr>
      </p:sp>
      <p:sp>
        <p:nvSpPr>
          <p:cNvPr id="7" name="TextBox 7"/>
          <p:cNvSpPr txBox="1"/>
          <p:nvPr/>
        </p:nvSpPr>
        <p:spPr>
          <a:xfrm>
            <a:off x="3465004" y="1775460"/>
            <a:ext cx="5261991" cy="243840"/>
          </a:xfrm>
          <a:prstGeom prst="rect">
            <a:avLst/>
          </a:prstGeom>
          <a:noFill/>
          <a:ln>
            <a:noFill/>
          </a:ln>
        </p:spPr>
        <p:txBody>
          <a:bodyPr wrap="none" lIns="0" tIns="0" rIns="0" bIns="0" anchor="t" anchorCtr="0">
            <a:spAutoFit/>
          </a:bodyPr>
          <a:lstStyle/>
          <a:p>
            <a:pPr algn="ctr"/>
            <a:r>
              <a:rPr lang="zh-CN" sz="1200" dirty="0">
                <a:solidFill>
                  <a:srgbClr val="94A3B8"/>
                </a:solidFill>
                <a:latin typeface="Georgia"/>
                <a:ea typeface="Microsoft YaHei"/>
                <a:cs typeface="Georgia"/>
              </a:rPr>
              <a:t>Must calculate derivative of C with respect to every weight:</a:t>
            </a:r>
          </a:p>
        </p:txBody>
      </p:sp>
      <p:sp>
        <p:nvSpPr>
          <p:cNvPr id="8" name="TextBox 8"/>
          <p:cNvSpPr txBox="1"/>
          <p:nvPr/>
        </p:nvSpPr>
        <p:spPr>
          <a:xfrm>
            <a:off x="5606510" y="2063115"/>
            <a:ext cx="978979" cy="365760"/>
          </a:xfrm>
          <a:prstGeom prst="rect">
            <a:avLst/>
          </a:prstGeom>
          <a:noFill/>
          <a:ln>
            <a:noFill/>
          </a:ln>
        </p:spPr>
        <p:txBody>
          <a:bodyPr wrap="none" lIns="0" tIns="0" rIns="0" bIns="0" anchor="t" anchorCtr="0">
            <a:spAutoFit/>
          </a:bodyPr>
          <a:lstStyle/>
          <a:p>
            <a:pPr algn="ctr"/>
            <a:r>
              <a:rPr lang="zh-CN" sz="1800" dirty="0">
                <a:solidFill>
                  <a:srgbClr val="F1F5F9"/>
                </a:solidFill>
                <a:latin typeface="Georgia"/>
                <a:ea typeface="Microsoft YaHei"/>
                <a:cs typeface="Georgia"/>
              </a:rPr>
              <a:t>∂C / ∂w</a:t>
            </a:r>
          </a:p>
        </p:txBody>
      </p:sp>
      <p:sp>
        <p:nvSpPr>
          <p:cNvPr id="9" name="TextBox 9"/>
          <p:cNvSpPr txBox="1"/>
          <p:nvPr/>
        </p:nvSpPr>
        <p:spPr>
          <a:xfrm>
            <a:off x="6768465" y="2210752"/>
            <a:ext cx="371713" cy="213360"/>
          </a:xfrm>
          <a:prstGeom prst="rect">
            <a:avLst/>
          </a:prstGeom>
          <a:noFill/>
          <a:ln>
            <a:noFill/>
          </a:ln>
        </p:spPr>
        <p:txBody>
          <a:bodyPr wrap="none" lIns="0" tIns="0" rIns="0" bIns="0" anchor="t" anchorCtr="0">
            <a:spAutoFit/>
          </a:bodyPr>
          <a:lstStyle/>
          <a:p>
            <a:pPr algn="l"/>
            <a:r>
              <a:rPr lang="zh-CN" sz="1050" dirty="0">
                <a:solidFill>
                  <a:srgbClr val="22D3EE"/>
                </a:solidFill>
                <a:latin typeface="Georgia"/>
                <a:ea typeface="Microsoft YaHei"/>
                <a:cs typeface="Georgia"/>
              </a:rPr>
              <a:t>i,j,k</a:t>
            </a:r>
          </a:p>
        </p:txBody>
      </p:sp>
      <p:sp>
        <p:nvSpPr>
          <p:cNvPr id="10" name="Line 10"/>
          <p:cNvSpPr/>
          <p:nvPr/>
        </p:nvSpPr>
        <p:spPr>
          <a:xfrm>
            <a:off x="2381250" y="2476500"/>
            <a:ext cx="2000250" cy="762000"/>
          </a:xfrm>
          <a:custGeom>
            <a:avLst/>
            <a:gdLst/>
            <a:ahLst/>
            <a:cxnLst/>
            <a:rect l="l" t="t" r="r" b="b"/>
            <a:pathLst>
              <a:path w="2000250" h="762000">
                <a:moveTo>
                  <a:pt x="2000250" y="0"/>
                </a:moveTo>
                <a:lnTo>
                  <a:pt x="0" y="762000"/>
                </a:lnTo>
              </a:path>
            </a:pathLst>
          </a:custGeom>
          <a:noFill/>
          <a:ln w="14288">
            <a:solidFill>
              <a:srgbClr val="F59E0B">
                <a:alpha val="50000"/>
              </a:srgbClr>
            </a:solidFill>
          </a:ln>
        </p:spPr>
      </p:sp>
      <p:sp>
        <p:nvSpPr>
          <p:cNvPr id="11" name="Ellipse 11"/>
          <p:cNvSpPr/>
          <p:nvPr/>
        </p:nvSpPr>
        <p:spPr>
          <a:xfrm>
            <a:off x="1476375" y="2905125"/>
            <a:ext cx="1047750" cy="1047750"/>
          </a:xfrm>
          <a:prstGeom prst="ellipse">
            <a:avLst/>
          </a:prstGeom>
          <a:solidFill>
            <a:srgbClr val="1E293B"/>
          </a:solidFill>
          <a:ln w="14288">
            <a:solidFill>
              <a:srgbClr val="F59E0B"/>
            </a:solidFill>
          </a:ln>
        </p:spPr>
      </p:sp>
      <p:sp>
        <p:nvSpPr>
          <p:cNvPr id="12" name="TextBox 12"/>
          <p:cNvSpPr txBox="1"/>
          <p:nvPr/>
        </p:nvSpPr>
        <p:spPr>
          <a:xfrm>
            <a:off x="1901481" y="3139440"/>
            <a:ext cx="197539" cy="365760"/>
          </a:xfrm>
          <a:prstGeom prst="rect">
            <a:avLst/>
          </a:prstGeom>
          <a:noFill/>
          <a:ln>
            <a:noFill/>
          </a:ln>
        </p:spPr>
        <p:txBody>
          <a:bodyPr wrap="none" lIns="0" tIns="0" rIns="0" bIns="0" anchor="t" anchorCtr="0">
            <a:spAutoFit/>
          </a:bodyPr>
          <a:lstStyle/>
          <a:p>
            <a:pPr algn="ctr"/>
            <a:r>
              <a:rPr lang="zh-CN" sz="1800" b="1" dirty="0">
                <a:solidFill>
                  <a:srgbClr val="F59E0B"/>
                </a:solidFill>
                <a:latin typeface="Georgia"/>
                <a:ea typeface="Microsoft YaHei"/>
                <a:cs typeface="Georgia"/>
              </a:rPr>
              <a:t>C</a:t>
            </a:r>
          </a:p>
        </p:txBody>
      </p:sp>
      <p:sp>
        <p:nvSpPr>
          <p:cNvPr id="13" name="TextBox 13"/>
          <p:cNvSpPr txBox="1"/>
          <p:nvPr/>
        </p:nvSpPr>
        <p:spPr>
          <a:xfrm>
            <a:off x="1551765" y="3474720"/>
            <a:ext cx="896969"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Loss Function</a:t>
            </a:r>
          </a:p>
        </p:txBody>
      </p:sp>
      <p:sp>
        <p:nvSpPr>
          <p:cNvPr id="14" name="Line 14"/>
          <p:cNvSpPr/>
          <p:nvPr/>
        </p:nvSpPr>
        <p:spPr>
          <a:xfrm>
            <a:off x="7810500" y="2476500"/>
            <a:ext cx="2000250" cy="762000"/>
          </a:xfrm>
          <a:custGeom>
            <a:avLst/>
            <a:gdLst/>
            <a:ahLst/>
            <a:cxnLst/>
            <a:rect l="l" t="t" r="r" b="b"/>
            <a:pathLst>
              <a:path w="2000250" h="762000">
                <a:moveTo>
                  <a:pt x="0" y="0"/>
                </a:moveTo>
                <a:lnTo>
                  <a:pt x="2000250" y="762000"/>
                </a:lnTo>
              </a:path>
            </a:pathLst>
          </a:custGeom>
          <a:noFill/>
          <a:ln w="14288">
            <a:solidFill>
              <a:srgbClr val="3B82F6">
                <a:alpha val="50000"/>
              </a:srgbClr>
            </a:solidFill>
          </a:ln>
        </p:spPr>
      </p:sp>
      <p:sp>
        <p:nvSpPr>
          <p:cNvPr id="15" name="Ellipse 15"/>
          <p:cNvSpPr/>
          <p:nvPr/>
        </p:nvSpPr>
        <p:spPr>
          <a:xfrm>
            <a:off x="9667875" y="2905125"/>
            <a:ext cx="1047750" cy="1047750"/>
          </a:xfrm>
          <a:prstGeom prst="ellipse">
            <a:avLst/>
          </a:prstGeom>
          <a:solidFill>
            <a:srgbClr val="1E293B"/>
          </a:solidFill>
          <a:ln w="14288">
            <a:solidFill>
              <a:srgbClr val="3B82F6"/>
            </a:solidFill>
          </a:ln>
        </p:spPr>
      </p:sp>
      <p:sp>
        <p:nvSpPr>
          <p:cNvPr id="16" name="TextBox 16"/>
          <p:cNvSpPr txBox="1"/>
          <p:nvPr/>
        </p:nvSpPr>
        <p:spPr>
          <a:xfrm>
            <a:off x="10086439" y="3171825"/>
            <a:ext cx="210622" cy="304800"/>
          </a:xfrm>
          <a:prstGeom prst="rect">
            <a:avLst/>
          </a:prstGeom>
          <a:noFill/>
          <a:ln>
            <a:noFill/>
          </a:ln>
        </p:spPr>
        <p:txBody>
          <a:bodyPr wrap="none" lIns="0" tIns="0" rIns="0" bIns="0" anchor="t" anchorCtr="0">
            <a:spAutoFit/>
          </a:bodyPr>
          <a:lstStyle/>
          <a:p>
            <a:pPr algn="ctr"/>
            <a:r>
              <a:rPr lang="zh-CN" sz="1500" b="1" dirty="0">
                <a:solidFill>
                  <a:srgbClr val="3B82F6"/>
                </a:solidFill>
                <a:latin typeface="Georgia"/>
                <a:ea typeface="Microsoft YaHei"/>
                <a:cs typeface="Georgia"/>
              </a:rPr>
              <a:t>w</a:t>
            </a:r>
          </a:p>
        </p:txBody>
      </p:sp>
      <p:sp>
        <p:nvSpPr>
          <p:cNvPr id="17" name="TextBox 17"/>
          <p:cNvSpPr txBox="1"/>
          <p:nvPr/>
        </p:nvSpPr>
        <p:spPr>
          <a:xfrm>
            <a:off x="10351770" y="3312795"/>
            <a:ext cx="318611" cy="182880"/>
          </a:xfrm>
          <a:prstGeom prst="rect">
            <a:avLst/>
          </a:prstGeom>
          <a:noFill/>
          <a:ln>
            <a:noFill/>
          </a:ln>
        </p:spPr>
        <p:txBody>
          <a:bodyPr wrap="none" lIns="0" tIns="0" rIns="0" bIns="0" anchor="t" anchorCtr="0">
            <a:spAutoFit/>
          </a:bodyPr>
          <a:lstStyle/>
          <a:p>
            <a:pPr algn="l"/>
            <a:r>
              <a:rPr lang="zh-CN" sz="900" dirty="0">
                <a:solidFill>
                  <a:srgbClr val="94A3B8"/>
                </a:solidFill>
                <a:latin typeface="Georgia"/>
                <a:ea typeface="Microsoft YaHei"/>
                <a:cs typeface="Georgia"/>
              </a:rPr>
              <a:t>i,j,k</a:t>
            </a:r>
          </a:p>
        </p:txBody>
      </p:sp>
      <p:sp>
        <p:nvSpPr>
          <p:cNvPr id="18" name="TextBox 18"/>
          <p:cNvSpPr txBox="1"/>
          <p:nvPr/>
        </p:nvSpPr>
        <p:spPr>
          <a:xfrm>
            <a:off x="9680829" y="3522345"/>
            <a:ext cx="1021842"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Network Weight</a:t>
            </a:r>
          </a:p>
        </p:txBody>
      </p:sp>
      <p:sp>
        <p:nvSpPr>
          <p:cNvPr id="19" name="Line 19"/>
          <p:cNvSpPr/>
          <p:nvPr/>
        </p:nvSpPr>
        <p:spPr>
          <a:xfrm>
            <a:off x="6096000" y="2476500"/>
            <a:ext cx="9525" cy="1714500"/>
          </a:xfrm>
          <a:custGeom>
            <a:avLst/>
            <a:gdLst/>
            <a:ahLst/>
            <a:cxnLst/>
            <a:rect l="l" t="t" r="r" b="b"/>
            <a:pathLst>
              <a:path w="9525" h="1714500">
                <a:moveTo>
                  <a:pt x="0" y="0"/>
                </a:moveTo>
                <a:lnTo>
                  <a:pt x="0" y="1714500"/>
                </a:lnTo>
              </a:path>
            </a:pathLst>
          </a:custGeom>
          <a:noFill/>
          <a:ln w="14288">
            <a:solidFill>
              <a:srgbClr val="10B981">
                <a:alpha val="50000"/>
              </a:srgbClr>
            </a:solidFill>
          </a:ln>
        </p:spPr>
      </p:sp>
      <p:sp>
        <p:nvSpPr>
          <p:cNvPr id="20" name="Ellipse 20"/>
          <p:cNvSpPr/>
          <p:nvPr/>
        </p:nvSpPr>
        <p:spPr>
          <a:xfrm>
            <a:off x="5572125" y="4048125"/>
            <a:ext cx="1047750" cy="1047750"/>
          </a:xfrm>
          <a:prstGeom prst="ellipse">
            <a:avLst/>
          </a:prstGeom>
          <a:solidFill>
            <a:srgbClr val="1E293B"/>
          </a:solidFill>
          <a:ln w="14288">
            <a:solidFill>
              <a:srgbClr val="10B981"/>
            </a:solidFill>
          </a:ln>
        </p:spPr>
      </p:sp>
      <p:grpSp>
        <p:nvGrpSpPr>
          <p:cNvPr id="23" name="Group 23"/>
          <p:cNvGrpSpPr/>
          <p:nvPr/>
        </p:nvGrpSpPr>
        <p:grpSpPr>
          <a:xfrm>
            <a:off x="5952678" y="4458899"/>
            <a:ext cx="286645" cy="240101"/>
            <a:chOff x="5952678" y="4458899"/>
            <a:chExt cx="286645" cy="240101"/>
          </a:xfrm>
        </p:grpSpPr>
        <p:sp>
          <p:nvSpPr>
            <p:cNvPr id="21" name="Freeform 21"/>
            <p:cNvSpPr/>
            <p:nvPr/>
          </p:nvSpPr>
          <p:spPr>
            <a:xfrm>
              <a:off x="5952678" y="4667250"/>
              <a:ext cx="286645" cy="31750"/>
            </a:xfrm>
            <a:custGeom>
              <a:avLst/>
              <a:gdLst/>
              <a:ahLst/>
              <a:cxnLst/>
              <a:rect l="l" t="t" r="r" b="b"/>
              <a:pathLst>
                <a:path w="286645" h="31750">
                  <a:moveTo>
                    <a:pt x="270322" y="0"/>
                  </a:moveTo>
                  <a:cubicBezTo>
                    <a:pt x="278722" y="9"/>
                    <a:pt x="285660" y="6560"/>
                    <a:pt x="286152" y="14945"/>
                  </a:cubicBezTo>
                  <a:cubicBezTo>
                    <a:pt x="286645" y="23330"/>
                    <a:pt x="280520" y="30647"/>
                    <a:pt x="272180" y="31639"/>
                  </a:cubicBezTo>
                  <a:lnTo>
                    <a:pt x="270322" y="31750"/>
                  </a:lnTo>
                  <a:lnTo>
                    <a:pt x="16322" y="31750"/>
                  </a:lnTo>
                  <a:cubicBezTo>
                    <a:pt x="7923" y="31741"/>
                    <a:pt x="984" y="25190"/>
                    <a:pt x="492" y="16805"/>
                  </a:cubicBezTo>
                  <a:cubicBezTo>
                    <a:pt x="0" y="8420"/>
                    <a:pt x="6124" y="1103"/>
                    <a:pt x="14465" y="111"/>
                  </a:cubicBezTo>
                  <a:lnTo>
                    <a:pt x="16322" y="0"/>
                  </a:lnTo>
                  <a:lnTo>
                    <a:pt x="270322" y="0"/>
                  </a:lnTo>
                  <a:close/>
                </a:path>
              </a:pathLst>
            </a:custGeom>
            <a:solidFill>
              <a:srgbClr val="10B981"/>
            </a:solidFill>
            <a:ln>
              <a:noFill/>
            </a:ln>
          </p:spPr>
        </p:sp>
        <p:sp>
          <p:nvSpPr>
            <p:cNvPr id="22" name="Freeform 22"/>
            <p:cNvSpPr/>
            <p:nvPr/>
          </p:nvSpPr>
          <p:spPr>
            <a:xfrm>
              <a:off x="5953125" y="4458899"/>
              <a:ext cx="285750" cy="176601"/>
            </a:xfrm>
            <a:custGeom>
              <a:avLst/>
              <a:gdLst/>
              <a:ahLst/>
              <a:cxnLst/>
              <a:rect l="l" t="t" r="r" b="b"/>
              <a:pathLst>
                <a:path w="285750" h="176601">
                  <a:moveTo>
                    <a:pt x="193993" y="7930"/>
                  </a:moveTo>
                  <a:cubicBezTo>
                    <a:pt x="199413" y="1166"/>
                    <a:pt x="209256" y="0"/>
                    <a:pt x="216106" y="5310"/>
                  </a:cubicBezTo>
                  <a:lnTo>
                    <a:pt x="217599" y="6628"/>
                  </a:lnTo>
                  <a:lnTo>
                    <a:pt x="281099" y="70128"/>
                  </a:lnTo>
                  <a:cubicBezTo>
                    <a:pt x="283566" y="72597"/>
                    <a:pt x="285151" y="75811"/>
                    <a:pt x="285607" y="79272"/>
                  </a:cubicBezTo>
                  <a:lnTo>
                    <a:pt x="285750" y="81351"/>
                  </a:lnTo>
                  <a:lnTo>
                    <a:pt x="285750" y="160726"/>
                  </a:lnTo>
                  <a:cubicBezTo>
                    <a:pt x="285749" y="168775"/>
                    <a:pt x="279725" y="175549"/>
                    <a:pt x="271732" y="176490"/>
                  </a:cubicBezTo>
                  <a:lnTo>
                    <a:pt x="269875" y="176601"/>
                  </a:lnTo>
                  <a:lnTo>
                    <a:pt x="15526" y="176601"/>
                  </a:lnTo>
                  <a:lnTo>
                    <a:pt x="13780" y="176459"/>
                  </a:lnTo>
                  <a:lnTo>
                    <a:pt x="12033" y="176141"/>
                  </a:lnTo>
                  <a:lnTo>
                    <a:pt x="10335" y="175601"/>
                  </a:lnTo>
                  <a:lnTo>
                    <a:pt x="8668" y="174871"/>
                  </a:lnTo>
                  <a:lnTo>
                    <a:pt x="7080" y="173934"/>
                  </a:lnTo>
                  <a:lnTo>
                    <a:pt x="5588" y="172823"/>
                  </a:lnTo>
                  <a:lnTo>
                    <a:pt x="4636" y="171950"/>
                  </a:lnTo>
                  <a:lnTo>
                    <a:pt x="3493" y="170648"/>
                  </a:lnTo>
                  <a:lnTo>
                    <a:pt x="2476" y="169235"/>
                  </a:lnTo>
                  <a:lnTo>
                    <a:pt x="1619" y="167711"/>
                  </a:lnTo>
                  <a:lnTo>
                    <a:pt x="1365" y="167156"/>
                  </a:lnTo>
                  <a:lnTo>
                    <a:pt x="730" y="165521"/>
                  </a:lnTo>
                  <a:lnTo>
                    <a:pt x="302" y="163838"/>
                  </a:lnTo>
                  <a:lnTo>
                    <a:pt x="63" y="162123"/>
                  </a:lnTo>
                  <a:lnTo>
                    <a:pt x="0" y="160377"/>
                  </a:lnTo>
                  <a:lnTo>
                    <a:pt x="143" y="158631"/>
                  </a:lnTo>
                  <a:lnTo>
                    <a:pt x="444" y="156964"/>
                  </a:lnTo>
                  <a:cubicBezTo>
                    <a:pt x="603" y="156329"/>
                    <a:pt x="794" y="155742"/>
                    <a:pt x="1000" y="155186"/>
                  </a:cubicBezTo>
                  <a:lnTo>
                    <a:pt x="1730" y="153519"/>
                  </a:lnTo>
                  <a:lnTo>
                    <a:pt x="2667" y="151932"/>
                  </a:lnTo>
                  <a:lnTo>
                    <a:pt x="66167" y="56682"/>
                  </a:lnTo>
                  <a:cubicBezTo>
                    <a:pt x="70188" y="50628"/>
                    <a:pt x="77806" y="48078"/>
                    <a:pt x="84661" y="50490"/>
                  </a:cubicBezTo>
                  <a:lnTo>
                    <a:pt x="86471" y="51284"/>
                  </a:lnTo>
                  <a:lnTo>
                    <a:pt x="138493" y="77287"/>
                  </a:lnTo>
                  <a:lnTo>
                    <a:pt x="193977" y="7930"/>
                  </a:lnTo>
                  <a:close/>
                </a:path>
              </a:pathLst>
            </a:custGeom>
            <a:solidFill>
              <a:srgbClr val="10B981"/>
            </a:solidFill>
            <a:ln>
              <a:noFill/>
            </a:ln>
          </p:spPr>
        </p:sp>
      </p:grpSp>
      <p:sp>
        <p:nvSpPr>
          <p:cNvPr id="24" name="TextBox 24"/>
          <p:cNvSpPr txBox="1"/>
          <p:nvPr/>
        </p:nvSpPr>
        <p:spPr>
          <a:xfrm>
            <a:off x="5762530" y="4808220"/>
            <a:ext cx="666941"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Minimize C</a:t>
            </a:r>
          </a:p>
        </p:txBody>
      </p:sp>
      <p:sp>
        <p:nvSpPr>
          <p:cNvPr id="25" name="Rectangle 25"/>
          <p:cNvSpPr/>
          <p:nvPr/>
        </p:nvSpPr>
        <p:spPr>
          <a:xfrm>
            <a:off x="1143000" y="5429250"/>
            <a:ext cx="9906000" cy="952500"/>
          </a:xfrm>
          <a:prstGeom prst="roundRect">
            <a:avLst>
              <a:gd name="adj" fmla="val 12000"/>
            </a:avLst>
          </a:prstGeom>
          <a:solidFill>
            <a:srgbClr val="1E293B"/>
          </a:solidFill>
          <a:ln w="9525">
            <a:solidFill>
              <a:srgbClr val="334155"/>
            </a:solidFill>
          </a:ln>
        </p:spPr>
      </p:sp>
      <p:sp>
        <p:nvSpPr>
          <p:cNvPr id="26" name="TextBox 26"/>
          <p:cNvSpPr txBox="1"/>
          <p:nvPr/>
        </p:nvSpPr>
        <p:spPr>
          <a:xfrm>
            <a:off x="1506855" y="5616892"/>
            <a:ext cx="1628389" cy="274320"/>
          </a:xfrm>
          <a:prstGeom prst="rect">
            <a:avLst/>
          </a:prstGeom>
          <a:noFill/>
          <a:ln>
            <a:noFill/>
          </a:ln>
        </p:spPr>
        <p:txBody>
          <a:bodyPr wrap="none" lIns="0" tIns="0" rIns="0" bIns="0" anchor="t" anchorCtr="0">
            <a:spAutoFit/>
          </a:bodyPr>
          <a:lstStyle/>
          <a:p>
            <a:pPr algn="l"/>
            <a:r>
              <a:rPr lang="zh-CN" sz="1350" b="1" dirty="0">
                <a:solidFill>
                  <a:srgbClr val="22D3EE"/>
                </a:solidFill>
                <a:latin typeface="Georgia"/>
                <a:ea typeface="Microsoft YaHei"/>
                <a:cs typeface="Georgia"/>
              </a:rPr>
              <a:t>Weight Notation</a:t>
            </a:r>
          </a:p>
        </p:txBody>
      </p:sp>
      <p:sp>
        <p:nvSpPr>
          <p:cNvPr id="27" name="TextBox 27"/>
          <p:cNvSpPr txBox="1"/>
          <p:nvPr/>
        </p:nvSpPr>
        <p:spPr>
          <a:xfrm>
            <a:off x="1508760" y="5966460"/>
            <a:ext cx="16192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w</a:t>
            </a:r>
          </a:p>
        </p:txBody>
      </p:sp>
      <p:sp>
        <p:nvSpPr>
          <p:cNvPr id="28" name="TextBox 28"/>
          <p:cNvSpPr txBox="1"/>
          <p:nvPr/>
        </p:nvSpPr>
        <p:spPr>
          <a:xfrm>
            <a:off x="1627822" y="6064091"/>
            <a:ext cx="292060" cy="167640"/>
          </a:xfrm>
          <a:prstGeom prst="rect">
            <a:avLst/>
          </a:prstGeom>
          <a:noFill/>
          <a:ln>
            <a:noFill/>
          </a:ln>
        </p:spPr>
        <p:txBody>
          <a:bodyPr wrap="none" lIns="0" tIns="0" rIns="0" bIns="0" anchor="t" anchorCtr="0">
            <a:spAutoFit/>
          </a:bodyPr>
          <a:lstStyle/>
          <a:p>
            <a:pPr algn="l"/>
            <a:r>
              <a:rPr lang="zh-CN" sz="825" dirty="0">
                <a:solidFill>
                  <a:srgbClr val="22D3EE"/>
                </a:solidFill>
                <a:latin typeface="Arial"/>
                <a:ea typeface="Microsoft YaHei"/>
                <a:cs typeface="Arial"/>
              </a:rPr>
              <a:t>i,j,k</a:t>
            </a:r>
          </a:p>
        </p:txBody>
      </p:sp>
      <p:sp>
        <p:nvSpPr>
          <p:cNvPr id="29" name="TextBox 29"/>
          <p:cNvSpPr txBox="1"/>
          <p:nvPr/>
        </p:nvSpPr>
        <p:spPr>
          <a:xfrm>
            <a:off x="1889760" y="5966460"/>
            <a:ext cx="873213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 weight from node j in layer (i-1) to node k in layer i. Each weight is updated individually to reduce C.</a:t>
            </a:r>
          </a:p>
        </p:txBody>
      </p:sp>
      <p:sp>
        <p:nvSpPr>
          <p:cNvPr id="30" name="TextBox 30"/>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10</a:t>
            </a:r>
          </a:p>
        </p:txBody>
      </p:sp>
      <p:pic>
        <p:nvPicPr>
          <p:cNvPr id="31" name="narration1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1092">
    <p:fade/>
  </p:transition>
  <p:timing>
    <p:tnLst>
      <p:par>
        <p:cTn id="1" dur="indefinite" restart="never" nodeType="tmRoot">
          <p:childTnLst>
            <p:audio>
              <p:cMediaNode vol="80000">
                <p:cTn id="2" fill="hold" display="0">
                  <p:stCondLst>
                    <p:cond delay="0"/>
                  </p:stCondLst>
                </p:cTn>
                <p:tgtEl>
                  <p:spTgt spid="3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5836622"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Chain Rule for Gradient Calculation</a:t>
            </a:r>
          </a:p>
        </p:txBody>
      </p:sp>
      <p:sp>
        <p:nvSpPr>
          <p:cNvPr id="5" name="Rectangle 5"/>
          <p:cNvSpPr/>
          <p:nvPr/>
        </p:nvSpPr>
        <p:spPr>
          <a:xfrm>
            <a:off x="571500" y="1238250"/>
            <a:ext cx="5524500" cy="2095500"/>
          </a:xfrm>
          <a:prstGeom prst="roundRect">
            <a:avLst>
              <a:gd name="adj" fmla="val 5455"/>
            </a:avLst>
          </a:prstGeom>
          <a:solidFill>
            <a:srgbClr val="1E293B"/>
          </a:solidFill>
          <a:ln w="9525">
            <a:solidFill>
              <a:srgbClr val="334155"/>
            </a:solidFill>
          </a:ln>
        </p:spPr>
      </p:sp>
      <p:grpSp>
        <p:nvGrpSpPr>
          <p:cNvPr id="9" name="Group 9"/>
          <p:cNvGrpSpPr/>
          <p:nvPr/>
        </p:nvGrpSpPr>
        <p:grpSpPr>
          <a:xfrm>
            <a:off x="990596" y="1514457"/>
            <a:ext cx="236033" cy="236003"/>
            <a:chOff x="990596" y="1514457"/>
            <a:chExt cx="236033" cy="236003"/>
          </a:xfrm>
        </p:grpSpPr>
        <p:sp>
          <p:nvSpPr>
            <p:cNvPr id="6" name="Freeform 6"/>
            <p:cNvSpPr/>
            <p:nvPr/>
          </p:nvSpPr>
          <p:spPr>
            <a:xfrm>
              <a:off x="1053196" y="1576738"/>
              <a:ext cx="103741" cy="103741"/>
            </a:xfrm>
            <a:custGeom>
              <a:avLst/>
              <a:gdLst/>
              <a:ahLst/>
              <a:cxnLst/>
              <a:rect l="l" t="t" r="r" b="b"/>
              <a:pathLst>
                <a:path w="103741" h="103741">
                  <a:moveTo>
                    <a:pt x="98783" y="4958"/>
                  </a:moveTo>
                  <a:cubicBezTo>
                    <a:pt x="103741" y="9917"/>
                    <a:pt x="103741" y="17956"/>
                    <a:pt x="98783" y="22916"/>
                  </a:cubicBezTo>
                  <a:lnTo>
                    <a:pt x="22583" y="99116"/>
                  </a:lnTo>
                  <a:cubicBezTo>
                    <a:pt x="19395" y="102417"/>
                    <a:pt x="14673" y="103741"/>
                    <a:pt x="10232" y="102579"/>
                  </a:cubicBezTo>
                  <a:cubicBezTo>
                    <a:pt x="5792" y="101417"/>
                    <a:pt x="2324" y="97949"/>
                    <a:pt x="1162" y="93509"/>
                  </a:cubicBezTo>
                  <a:cubicBezTo>
                    <a:pt x="0" y="89068"/>
                    <a:pt x="1324" y="84346"/>
                    <a:pt x="4625" y="81158"/>
                  </a:cubicBezTo>
                  <a:lnTo>
                    <a:pt x="80825" y="4958"/>
                  </a:lnTo>
                  <a:cubicBezTo>
                    <a:pt x="85785" y="0"/>
                    <a:pt x="93824" y="0"/>
                    <a:pt x="98783" y="4958"/>
                  </a:cubicBezTo>
                </a:path>
              </a:pathLst>
            </a:custGeom>
            <a:solidFill>
              <a:srgbClr val="3B82F6"/>
            </a:solidFill>
            <a:ln>
              <a:noFill/>
            </a:ln>
          </p:spPr>
        </p:sp>
        <p:sp>
          <p:nvSpPr>
            <p:cNvPr id="7" name="Freeform 7"/>
            <p:cNvSpPr/>
            <p:nvPr/>
          </p:nvSpPr>
          <p:spPr>
            <a:xfrm>
              <a:off x="1078709" y="1514457"/>
              <a:ext cx="147920" cy="141208"/>
            </a:xfrm>
            <a:custGeom>
              <a:avLst/>
              <a:gdLst/>
              <a:ahLst/>
              <a:cxnLst/>
              <a:rect l="l" t="t" r="r" b="b"/>
              <a:pathLst>
                <a:path w="147920" h="141208">
                  <a:moveTo>
                    <a:pt x="118164" y="22332"/>
                  </a:moveTo>
                  <a:cubicBezTo>
                    <a:pt x="147920" y="52101"/>
                    <a:pt x="147908" y="100348"/>
                    <a:pt x="117504" y="130714"/>
                  </a:cubicBezTo>
                  <a:lnTo>
                    <a:pt x="110722" y="136606"/>
                  </a:lnTo>
                  <a:cubicBezTo>
                    <a:pt x="105426" y="141208"/>
                    <a:pt x="97404" y="140645"/>
                    <a:pt x="92802" y="135349"/>
                  </a:cubicBezTo>
                  <a:cubicBezTo>
                    <a:pt x="88201" y="130053"/>
                    <a:pt x="88764" y="122031"/>
                    <a:pt x="94060" y="117429"/>
                  </a:cubicBezTo>
                  <a:lnTo>
                    <a:pt x="100194" y="112146"/>
                  </a:lnTo>
                  <a:cubicBezTo>
                    <a:pt x="109721" y="102619"/>
                    <a:pt x="115074" y="89698"/>
                    <a:pt x="115074" y="76224"/>
                  </a:cubicBezTo>
                  <a:cubicBezTo>
                    <a:pt x="115074" y="62751"/>
                    <a:pt x="109721" y="49829"/>
                    <a:pt x="100194" y="40302"/>
                  </a:cubicBezTo>
                  <a:cubicBezTo>
                    <a:pt x="80356" y="20452"/>
                    <a:pt x="48187" y="20452"/>
                    <a:pt x="28985" y="39616"/>
                  </a:cubicBezTo>
                  <a:lnTo>
                    <a:pt x="23105" y="46424"/>
                  </a:lnTo>
                  <a:cubicBezTo>
                    <a:pt x="20137" y="49858"/>
                    <a:pt x="15563" y="51449"/>
                    <a:pt x="11105" y="50597"/>
                  </a:cubicBezTo>
                  <a:cubicBezTo>
                    <a:pt x="6647" y="49744"/>
                    <a:pt x="2982" y="46578"/>
                    <a:pt x="1491" y="42291"/>
                  </a:cubicBezTo>
                  <a:cubicBezTo>
                    <a:pt x="0" y="38004"/>
                    <a:pt x="910" y="33247"/>
                    <a:pt x="3877" y="29812"/>
                  </a:cubicBezTo>
                  <a:lnTo>
                    <a:pt x="10392" y="22319"/>
                  </a:lnTo>
                  <a:cubicBezTo>
                    <a:pt x="24684" y="8028"/>
                    <a:pt x="44069" y="0"/>
                    <a:pt x="64281" y="2"/>
                  </a:cubicBezTo>
                  <a:cubicBezTo>
                    <a:pt x="84493" y="5"/>
                    <a:pt x="103875" y="8037"/>
                    <a:pt x="118164" y="22332"/>
                  </a:cubicBezTo>
                </a:path>
              </a:pathLst>
            </a:custGeom>
            <a:solidFill>
              <a:srgbClr val="3B82F6"/>
            </a:solidFill>
            <a:ln>
              <a:noFill/>
            </a:ln>
          </p:spPr>
        </p:sp>
        <p:sp>
          <p:nvSpPr>
            <p:cNvPr id="8" name="Freeform 8"/>
            <p:cNvSpPr/>
            <p:nvPr/>
          </p:nvSpPr>
          <p:spPr>
            <a:xfrm>
              <a:off x="990596" y="1601922"/>
              <a:ext cx="140470" cy="148538"/>
            </a:xfrm>
            <a:custGeom>
              <a:avLst/>
              <a:gdLst/>
              <a:ahLst/>
              <a:cxnLst/>
              <a:rect l="l" t="t" r="r" b="b"/>
              <a:pathLst>
                <a:path w="140470" h="148538">
                  <a:moveTo>
                    <a:pt x="47629" y="5745"/>
                  </a:moveTo>
                  <a:cubicBezTo>
                    <a:pt x="52267" y="11003"/>
                    <a:pt x="51766" y="19024"/>
                    <a:pt x="46512" y="23665"/>
                  </a:cubicBezTo>
                  <a:lnTo>
                    <a:pt x="40378" y="29063"/>
                  </a:lnTo>
                  <a:cubicBezTo>
                    <a:pt x="30787" y="38535"/>
                    <a:pt x="25389" y="51454"/>
                    <a:pt x="25389" y="64934"/>
                  </a:cubicBezTo>
                  <a:cubicBezTo>
                    <a:pt x="25389" y="78414"/>
                    <a:pt x="30787" y="91332"/>
                    <a:pt x="40378" y="100805"/>
                  </a:cubicBezTo>
                  <a:cubicBezTo>
                    <a:pt x="60298" y="120516"/>
                    <a:pt x="92306" y="120730"/>
                    <a:pt x="112488" y="101288"/>
                  </a:cubicBezTo>
                  <a:lnTo>
                    <a:pt x="116806" y="95471"/>
                  </a:lnTo>
                  <a:cubicBezTo>
                    <a:pt x="119515" y="91828"/>
                    <a:pt x="123962" y="89906"/>
                    <a:pt x="128471" y="90430"/>
                  </a:cubicBezTo>
                  <a:cubicBezTo>
                    <a:pt x="132981" y="90954"/>
                    <a:pt x="136869" y="93844"/>
                    <a:pt x="138670" y="98012"/>
                  </a:cubicBezTo>
                  <a:cubicBezTo>
                    <a:pt x="140470" y="102180"/>
                    <a:pt x="139911" y="106991"/>
                    <a:pt x="137202" y="110635"/>
                  </a:cubicBezTo>
                  <a:lnTo>
                    <a:pt x="132161" y="117417"/>
                  </a:lnTo>
                  <a:lnTo>
                    <a:pt x="130891" y="118864"/>
                  </a:lnTo>
                  <a:cubicBezTo>
                    <a:pt x="100861" y="148538"/>
                    <a:pt x="52551" y="148538"/>
                    <a:pt x="22521" y="118864"/>
                  </a:cubicBezTo>
                  <a:cubicBezTo>
                    <a:pt x="8109" y="104617"/>
                    <a:pt x="0" y="85193"/>
                    <a:pt x="4" y="64927"/>
                  </a:cubicBezTo>
                  <a:cubicBezTo>
                    <a:pt x="4" y="44671"/>
                    <a:pt x="8107" y="25253"/>
                    <a:pt x="23042" y="10521"/>
                  </a:cubicBezTo>
                  <a:lnTo>
                    <a:pt x="29697" y="4641"/>
                  </a:lnTo>
                  <a:cubicBezTo>
                    <a:pt x="34951" y="0"/>
                    <a:pt x="42972" y="495"/>
                    <a:pt x="47617" y="5745"/>
                  </a:cubicBezTo>
                </a:path>
              </a:pathLst>
            </a:custGeom>
            <a:solidFill>
              <a:srgbClr val="3B82F6"/>
            </a:solidFill>
            <a:ln>
              <a:noFill/>
            </a:ln>
          </p:spPr>
        </p:sp>
      </p:grpSp>
      <p:sp>
        <p:nvSpPr>
          <p:cNvPr id="10" name="TextBox 10"/>
          <p:cNvSpPr txBox="1"/>
          <p:nvPr/>
        </p:nvSpPr>
        <p:spPr>
          <a:xfrm>
            <a:off x="1352550" y="1552575"/>
            <a:ext cx="1579293"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The Chain Rule</a:t>
            </a:r>
          </a:p>
        </p:txBody>
      </p:sp>
      <p:sp>
        <p:nvSpPr>
          <p:cNvPr id="11" name="TextBox 11"/>
          <p:cNvSpPr txBox="1"/>
          <p:nvPr/>
        </p:nvSpPr>
        <p:spPr>
          <a:xfrm>
            <a:off x="937260" y="1918335"/>
            <a:ext cx="349186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C depends on weight values via a chain of</a:t>
            </a:r>
          </a:p>
        </p:txBody>
      </p:sp>
      <p:sp>
        <p:nvSpPr>
          <p:cNvPr id="12" name="TextBox 12"/>
          <p:cNvSpPr txBox="1"/>
          <p:nvPr/>
        </p:nvSpPr>
        <p:spPr>
          <a:xfrm>
            <a:off x="937260" y="2146935"/>
            <a:ext cx="3281553"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many functions. For z depending on y,</a:t>
            </a:r>
          </a:p>
        </p:txBody>
      </p:sp>
      <p:sp>
        <p:nvSpPr>
          <p:cNvPr id="13" name="TextBox 13"/>
          <p:cNvSpPr txBox="1"/>
          <p:nvPr/>
        </p:nvSpPr>
        <p:spPr>
          <a:xfrm>
            <a:off x="937260" y="2375535"/>
            <a:ext cx="191452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where y depends on x:</a:t>
            </a:r>
          </a:p>
        </p:txBody>
      </p:sp>
      <p:sp>
        <p:nvSpPr>
          <p:cNvPr id="14" name="Rectangle 14"/>
          <p:cNvSpPr/>
          <p:nvPr/>
        </p:nvSpPr>
        <p:spPr>
          <a:xfrm>
            <a:off x="1143000" y="2762250"/>
            <a:ext cx="4572000" cy="419100"/>
          </a:xfrm>
          <a:prstGeom prst="roundRect">
            <a:avLst>
              <a:gd name="adj" fmla="val 18182"/>
            </a:avLst>
          </a:prstGeom>
          <a:solidFill>
            <a:srgbClr val="0F172A"/>
          </a:solidFill>
          <a:ln w="14288">
            <a:solidFill>
              <a:srgbClr val="3B82F6"/>
            </a:solidFill>
          </a:ln>
        </p:spPr>
      </p:sp>
      <p:sp>
        <p:nvSpPr>
          <p:cNvPr id="15" name="TextBox 15"/>
          <p:cNvSpPr txBox="1"/>
          <p:nvPr/>
        </p:nvSpPr>
        <p:spPr>
          <a:xfrm>
            <a:off x="1871782" y="2850832"/>
            <a:ext cx="3114437" cy="335280"/>
          </a:xfrm>
          <a:prstGeom prst="rect">
            <a:avLst/>
          </a:prstGeom>
          <a:noFill/>
          <a:ln>
            <a:noFill/>
          </a:ln>
        </p:spPr>
        <p:txBody>
          <a:bodyPr wrap="none" lIns="0" tIns="0" rIns="0" bIns="0" anchor="t" anchorCtr="0">
            <a:spAutoFit/>
          </a:bodyPr>
          <a:lstStyle/>
          <a:p>
            <a:pPr algn="ctr"/>
            <a:r>
              <a:rPr lang="zh-CN" sz="1650" dirty="0">
                <a:solidFill>
                  <a:srgbClr val="F1F5F9"/>
                </a:solidFill>
                <a:latin typeface="Georgia"/>
                <a:ea typeface="Microsoft YaHei"/>
                <a:cs typeface="Georgia"/>
              </a:rPr>
              <a:t>dz/dx = (dz/dy) · (dy/dx)</a:t>
            </a:r>
          </a:p>
        </p:txBody>
      </p:sp>
      <p:sp>
        <p:nvSpPr>
          <p:cNvPr id="16" name="Rectangle 16"/>
          <p:cNvSpPr/>
          <p:nvPr/>
        </p:nvSpPr>
        <p:spPr>
          <a:xfrm>
            <a:off x="6286500" y="1238250"/>
            <a:ext cx="5334000" cy="2095500"/>
          </a:xfrm>
          <a:prstGeom prst="roundRect">
            <a:avLst>
              <a:gd name="adj" fmla="val 5455"/>
            </a:avLst>
          </a:prstGeom>
          <a:solidFill>
            <a:srgbClr val="1E293B"/>
          </a:solidFill>
          <a:ln w="9525">
            <a:solidFill>
              <a:srgbClr val="334155"/>
            </a:solidFill>
          </a:ln>
        </p:spPr>
      </p:sp>
      <p:sp>
        <p:nvSpPr>
          <p:cNvPr id="17" name="Freeform 17"/>
          <p:cNvSpPr/>
          <p:nvPr/>
        </p:nvSpPr>
        <p:spPr>
          <a:xfrm>
            <a:off x="6717725" y="1501775"/>
            <a:ext cx="204350" cy="258712"/>
          </a:xfrm>
          <a:custGeom>
            <a:avLst/>
            <a:gdLst/>
            <a:ahLst/>
            <a:cxnLst/>
            <a:rect l="l" t="t" r="r" b="b"/>
            <a:pathLst>
              <a:path w="204350" h="258712">
                <a:moveTo>
                  <a:pt x="114875" y="0"/>
                </a:moveTo>
                <a:lnTo>
                  <a:pt x="115104" y="13"/>
                </a:lnTo>
                <a:lnTo>
                  <a:pt x="115307" y="25"/>
                </a:lnTo>
                <a:lnTo>
                  <a:pt x="116361" y="89"/>
                </a:lnTo>
                <a:lnTo>
                  <a:pt x="116501" y="114"/>
                </a:lnTo>
                <a:lnTo>
                  <a:pt x="116640" y="114"/>
                </a:lnTo>
                <a:lnTo>
                  <a:pt x="117123" y="229"/>
                </a:lnTo>
                <a:lnTo>
                  <a:pt x="117783" y="330"/>
                </a:lnTo>
                <a:lnTo>
                  <a:pt x="117987" y="406"/>
                </a:lnTo>
                <a:lnTo>
                  <a:pt x="118126" y="419"/>
                </a:lnTo>
                <a:lnTo>
                  <a:pt x="118495" y="559"/>
                </a:lnTo>
                <a:lnTo>
                  <a:pt x="119155" y="737"/>
                </a:lnTo>
                <a:lnTo>
                  <a:pt x="119396" y="851"/>
                </a:lnTo>
                <a:lnTo>
                  <a:pt x="119587" y="902"/>
                </a:lnTo>
                <a:lnTo>
                  <a:pt x="119942" y="1080"/>
                </a:lnTo>
                <a:lnTo>
                  <a:pt x="120450" y="1295"/>
                </a:lnTo>
                <a:lnTo>
                  <a:pt x="120717" y="1448"/>
                </a:lnTo>
                <a:lnTo>
                  <a:pt x="120996" y="1575"/>
                </a:lnTo>
                <a:lnTo>
                  <a:pt x="121289" y="1765"/>
                </a:lnTo>
                <a:lnTo>
                  <a:pt x="121682" y="1981"/>
                </a:lnTo>
                <a:lnTo>
                  <a:pt x="122114" y="2286"/>
                </a:lnTo>
                <a:lnTo>
                  <a:pt x="122343" y="2426"/>
                </a:lnTo>
                <a:lnTo>
                  <a:pt x="122508" y="2578"/>
                </a:lnTo>
                <a:lnTo>
                  <a:pt x="122813" y="2794"/>
                </a:lnTo>
                <a:lnTo>
                  <a:pt x="123295" y="3226"/>
                </a:lnTo>
                <a:lnTo>
                  <a:pt x="123575" y="3442"/>
                </a:lnTo>
                <a:lnTo>
                  <a:pt x="123676" y="3569"/>
                </a:lnTo>
                <a:lnTo>
                  <a:pt x="123854" y="3721"/>
                </a:lnTo>
                <a:lnTo>
                  <a:pt x="124311" y="4242"/>
                </a:lnTo>
                <a:lnTo>
                  <a:pt x="124641" y="4585"/>
                </a:lnTo>
                <a:lnTo>
                  <a:pt x="124718" y="4699"/>
                </a:lnTo>
                <a:cubicBezTo>
                  <a:pt x="126242" y="6566"/>
                  <a:pt x="127207" y="8788"/>
                  <a:pt x="127486" y="11214"/>
                </a:cubicBezTo>
                <a:lnTo>
                  <a:pt x="127499" y="11366"/>
                </a:lnTo>
                <a:lnTo>
                  <a:pt x="127524" y="11887"/>
                </a:lnTo>
                <a:lnTo>
                  <a:pt x="127575" y="12700"/>
                </a:lnTo>
                <a:lnTo>
                  <a:pt x="127575" y="88900"/>
                </a:lnTo>
                <a:lnTo>
                  <a:pt x="191075" y="88900"/>
                </a:lnTo>
                <a:cubicBezTo>
                  <a:pt x="195605" y="88899"/>
                  <a:pt x="199793" y="91311"/>
                  <a:pt x="202065" y="95230"/>
                </a:cubicBezTo>
                <a:cubicBezTo>
                  <a:pt x="204337" y="99148"/>
                  <a:pt x="204350" y="103981"/>
                  <a:pt x="202099" y="107912"/>
                </a:cubicBezTo>
                <a:lnTo>
                  <a:pt x="201337" y="109068"/>
                </a:lnTo>
                <a:lnTo>
                  <a:pt x="99737" y="248768"/>
                </a:lnTo>
                <a:cubicBezTo>
                  <a:pt x="92523" y="258712"/>
                  <a:pt x="76775" y="253594"/>
                  <a:pt x="76775" y="241300"/>
                </a:cubicBezTo>
                <a:lnTo>
                  <a:pt x="76775" y="165100"/>
                </a:lnTo>
                <a:lnTo>
                  <a:pt x="13275" y="165100"/>
                </a:lnTo>
                <a:cubicBezTo>
                  <a:pt x="8745" y="165101"/>
                  <a:pt x="4557" y="162689"/>
                  <a:pt x="2285" y="158770"/>
                </a:cubicBezTo>
                <a:cubicBezTo>
                  <a:pt x="13" y="154852"/>
                  <a:pt x="0" y="150019"/>
                  <a:pt x="2251" y="146088"/>
                </a:cubicBezTo>
                <a:lnTo>
                  <a:pt x="3013" y="144932"/>
                </a:lnTo>
                <a:lnTo>
                  <a:pt x="104613" y="5232"/>
                </a:lnTo>
                <a:lnTo>
                  <a:pt x="104740" y="5067"/>
                </a:lnTo>
                <a:lnTo>
                  <a:pt x="104969" y="4762"/>
                </a:lnTo>
                <a:lnTo>
                  <a:pt x="105388" y="4280"/>
                </a:lnTo>
                <a:lnTo>
                  <a:pt x="105617" y="4001"/>
                </a:lnTo>
                <a:lnTo>
                  <a:pt x="105731" y="3899"/>
                </a:lnTo>
                <a:lnTo>
                  <a:pt x="105896" y="3721"/>
                </a:lnTo>
                <a:lnTo>
                  <a:pt x="106404" y="3264"/>
                </a:lnTo>
                <a:lnTo>
                  <a:pt x="106760" y="2934"/>
                </a:lnTo>
                <a:lnTo>
                  <a:pt x="106861" y="2858"/>
                </a:lnTo>
                <a:cubicBezTo>
                  <a:pt x="108350" y="1639"/>
                  <a:pt x="110095" y="775"/>
                  <a:pt x="111967" y="330"/>
                </a:cubicBezTo>
                <a:lnTo>
                  <a:pt x="112106" y="317"/>
                </a:lnTo>
                <a:lnTo>
                  <a:pt x="112449" y="254"/>
                </a:lnTo>
                <a:lnTo>
                  <a:pt x="113389" y="89"/>
                </a:lnTo>
                <a:lnTo>
                  <a:pt x="113529" y="76"/>
                </a:lnTo>
                <a:lnTo>
                  <a:pt x="114050" y="51"/>
                </a:lnTo>
                <a:close/>
              </a:path>
            </a:pathLst>
          </a:custGeom>
          <a:solidFill>
            <a:srgbClr val="22D3EE"/>
          </a:solidFill>
          <a:ln>
            <a:noFill/>
          </a:ln>
        </p:spPr>
      </p:sp>
      <p:sp>
        <p:nvSpPr>
          <p:cNvPr id="18" name="TextBox 18"/>
          <p:cNvSpPr txBox="1"/>
          <p:nvPr/>
        </p:nvSpPr>
        <p:spPr>
          <a:xfrm>
            <a:off x="7067550" y="1552575"/>
            <a:ext cx="2844451" cy="304800"/>
          </a:xfrm>
          <a:prstGeom prst="rect">
            <a:avLst/>
          </a:prstGeom>
          <a:noFill/>
          <a:ln>
            <a:noFill/>
          </a:ln>
        </p:spPr>
        <p:txBody>
          <a:bodyPr wrap="none" lIns="0" tIns="0" rIns="0" bIns="0" anchor="t" anchorCtr="0">
            <a:spAutoFit/>
          </a:bodyPr>
          <a:lstStyle/>
          <a:p>
            <a:pPr algn="l"/>
            <a:r>
              <a:rPr lang="zh-CN" sz="1500" b="1" dirty="0">
                <a:solidFill>
                  <a:srgbClr val="F1F5F9"/>
                </a:solidFill>
                <a:latin typeface="Georgia"/>
                <a:ea typeface="Microsoft YaHei"/>
                <a:cs typeface="Georgia"/>
              </a:rPr>
              <a:t>Key Efficiency Advantage</a:t>
            </a:r>
          </a:p>
        </p:txBody>
      </p:sp>
      <p:sp>
        <p:nvSpPr>
          <p:cNvPr id="19" name="TextBox 19"/>
          <p:cNvSpPr txBox="1"/>
          <p:nvPr/>
        </p:nvSpPr>
        <p:spPr>
          <a:xfrm>
            <a:off x="6652260" y="1918335"/>
            <a:ext cx="3404235"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Derivatives at layer N calculated first.</a:t>
            </a:r>
          </a:p>
        </p:txBody>
      </p:sp>
      <p:sp>
        <p:nvSpPr>
          <p:cNvPr id="20" name="TextBox 20"/>
          <p:cNvSpPr txBox="1"/>
          <p:nvPr/>
        </p:nvSpPr>
        <p:spPr>
          <a:xfrm>
            <a:off x="6652260" y="2146935"/>
            <a:ext cx="3106293"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These are ingredients for layer N-1.</a:t>
            </a:r>
          </a:p>
        </p:txBody>
      </p:sp>
      <p:sp>
        <p:nvSpPr>
          <p:cNvPr id="21" name="TextBox 21"/>
          <p:cNvSpPr txBox="1"/>
          <p:nvPr/>
        </p:nvSpPr>
        <p:spPr>
          <a:xfrm>
            <a:off x="6652260" y="2375535"/>
            <a:ext cx="3299079"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Save and reuse derivative calculations</a:t>
            </a:r>
          </a:p>
        </p:txBody>
      </p:sp>
      <p:sp>
        <p:nvSpPr>
          <p:cNvPr id="22" name="TextBox 22"/>
          <p:cNvSpPr txBox="1"/>
          <p:nvPr/>
        </p:nvSpPr>
        <p:spPr>
          <a:xfrm>
            <a:off x="6652260" y="2604135"/>
            <a:ext cx="3071241"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via the chain rule — avoids duplicate</a:t>
            </a:r>
          </a:p>
        </p:txBody>
      </p:sp>
      <p:sp>
        <p:nvSpPr>
          <p:cNvPr id="23" name="TextBox 23"/>
          <p:cNvSpPr txBox="1"/>
          <p:nvPr/>
        </p:nvSpPr>
        <p:spPr>
          <a:xfrm>
            <a:off x="6652260" y="2832735"/>
            <a:ext cx="2624328"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calculations across all layers.</a:t>
            </a:r>
          </a:p>
        </p:txBody>
      </p:sp>
      <p:sp>
        <p:nvSpPr>
          <p:cNvPr id="24" name="Rectangle 24"/>
          <p:cNvSpPr/>
          <p:nvPr/>
        </p:nvSpPr>
        <p:spPr>
          <a:xfrm>
            <a:off x="571500" y="3619500"/>
            <a:ext cx="11049000" cy="2667000"/>
          </a:xfrm>
          <a:prstGeom prst="roundRect">
            <a:avLst>
              <a:gd name="adj" fmla="val 4286"/>
            </a:avLst>
          </a:prstGeom>
          <a:solidFill>
            <a:srgbClr val="1E293B"/>
          </a:solidFill>
          <a:ln w="9525">
            <a:solidFill>
              <a:srgbClr val="334155"/>
            </a:solidFill>
          </a:ln>
        </p:spPr>
      </p:sp>
      <p:sp>
        <p:nvSpPr>
          <p:cNvPr id="25" name="TextBox 25"/>
          <p:cNvSpPr txBox="1"/>
          <p:nvPr/>
        </p:nvSpPr>
        <p:spPr>
          <a:xfrm>
            <a:off x="933450" y="3819525"/>
            <a:ext cx="3108984" cy="304800"/>
          </a:xfrm>
          <a:prstGeom prst="rect">
            <a:avLst/>
          </a:prstGeom>
          <a:noFill/>
          <a:ln>
            <a:noFill/>
          </a:ln>
        </p:spPr>
        <p:txBody>
          <a:bodyPr wrap="none" lIns="0" tIns="0" rIns="0" bIns="0" anchor="t" anchorCtr="0">
            <a:spAutoFit/>
          </a:bodyPr>
          <a:lstStyle/>
          <a:p>
            <a:pPr algn="l"/>
            <a:r>
              <a:rPr lang="zh-CN" sz="1500" b="1" dirty="0">
                <a:solidFill>
                  <a:srgbClr val="8B5CF6"/>
                </a:solidFill>
                <a:latin typeface="Georgia"/>
                <a:ea typeface="Microsoft YaHei"/>
                <a:cs typeface="Georgia"/>
              </a:rPr>
              <a:t>Backward Computation Flow</a:t>
            </a:r>
          </a:p>
        </p:txBody>
      </p:sp>
      <p:sp>
        <p:nvSpPr>
          <p:cNvPr id="26" name="Rectangle 26"/>
          <p:cNvSpPr/>
          <p:nvPr/>
        </p:nvSpPr>
        <p:spPr>
          <a:xfrm>
            <a:off x="1143000" y="4286250"/>
            <a:ext cx="1524000" cy="762000"/>
          </a:xfrm>
          <a:prstGeom prst="roundRect">
            <a:avLst>
              <a:gd name="adj" fmla="val 10000"/>
            </a:avLst>
          </a:prstGeom>
          <a:solidFill>
            <a:srgbClr val="F59E0B">
              <a:alpha val="15000"/>
            </a:srgbClr>
          </a:solidFill>
          <a:ln w="14288">
            <a:solidFill>
              <a:srgbClr val="F59E0B"/>
            </a:solidFill>
          </a:ln>
        </p:spPr>
      </p:sp>
      <p:sp>
        <p:nvSpPr>
          <p:cNvPr id="27" name="TextBox 27"/>
          <p:cNvSpPr txBox="1"/>
          <p:nvPr/>
        </p:nvSpPr>
        <p:spPr>
          <a:xfrm>
            <a:off x="1558519" y="4442460"/>
            <a:ext cx="692963" cy="243840"/>
          </a:xfrm>
          <a:prstGeom prst="rect">
            <a:avLst/>
          </a:prstGeom>
          <a:noFill/>
          <a:ln>
            <a:noFill/>
          </a:ln>
        </p:spPr>
        <p:txBody>
          <a:bodyPr wrap="none" lIns="0" tIns="0" rIns="0" bIns="0" anchor="t" anchorCtr="0">
            <a:spAutoFit/>
          </a:bodyPr>
          <a:lstStyle/>
          <a:p>
            <a:pPr algn="ctr"/>
            <a:r>
              <a:rPr lang="zh-CN" sz="1200" b="1" dirty="0">
                <a:solidFill>
                  <a:srgbClr val="F59E0B"/>
                </a:solidFill>
                <a:latin typeface="Georgia"/>
                <a:ea typeface="Microsoft YaHei"/>
                <a:cs typeface="Georgia"/>
              </a:rPr>
              <a:t>Layer N</a:t>
            </a:r>
          </a:p>
        </p:txBody>
      </p:sp>
      <p:sp>
        <p:nvSpPr>
          <p:cNvPr id="28" name="TextBox 28"/>
          <p:cNvSpPr txBox="1"/>
          <p:nvPr/>
        </p:nvSpPr>
        <p:spPr>
          <a:xfrm>
            <a:off x="1344382" y="4695349"/>
            <a:ext cx="1121235"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a:ea typeface="Microsoft YaHei"/>
                <a:cs typeface="Arial"/>
              </a:rPr>
              <a:t>Calculate ∂C/∂w</a:t>
            </a:r>
          </a:p>
        </p:txBody>
      </p:sp>
      <p:sp>
        <p:nvSpPr>
          <p:cNvPr id="29" name="TextBox 29"/>
          <p:cNvSpPr txBox="1"/>
          <p:nvPr/>
        </p:nvSpPr>
        <p:spPr>
          <a:xfrm>
            <a:off x="1548527" y="4855845"/>
            <a:ext cx="712946" cy="182880"/>
          </a:xfrm>
          <a:prstGeom prst="rect">
            <a:avLst/>
          </a:prstGeom>
          <a:noFill/>
          <a:ln>
            <a:noFill/>
          </a:ln>
        </p:spPr>
        <p:txBody>
          <a:bodyPr wrap="none" lIns="0" tIns="0" rIns="0" bIns="0" anchor="t" anchorCtr="0">
            <a:spAutoFit/>
          </a:bodyPr>
          <a:lstStyle/>
          <a:p>
            <a:pPr algn="ctr"/>
            <a:r>
              <a:rPr lang="zh-CN" sz="900" dirty="0">
                <a:solidFill>
                  <a:srgbClr val="F59E0B"/>
                </a:solidFill>
                <a:latin typeface="Arial"/>
                <a:ea typeface="Microsoft YaHei"/>
                <a:cs typeface="Arial"/>
              </a:rPr>
              <a:t>Start here</a:t>
            </a:r>
          </a:p>
        </p:txBody>
      </p:sp>
      <p:sp>
        <p:nvSpPr>
          <p:cNvPr id="30" name="Line 30"/>
          <p:cNvSpPr/>
          <p:nvPr/>
        </p:nvSpPr>
        <p:spPr>
          <a:xfrm>
            <a:off x="2667000" y="4667250"/>
            <a:ext cx="666750" cy="9525"/>
          </a:xfrm>
          <a:custGeom>
            <a:avLst/>
            <a:gdLst/>
            <a:ahLst/>
            <a:cxnLst/>
            <a:rect l="l" t="t" r="r" b="b"/>
            <a:pathLst>
              <a:path w="666750" h="9525">
                <a:moveTo>
                  <a:pt x="0" y="0"/>
                </a:moveTo>
                <a:lnTo>
                  <a:pt x="666750" y="0"/>
                </a:lnTo>
              </a:path>
            </a:pathLst>
          </a:custGeom>
          <a:noFill/>
          <a:ln w="19050">
            <a:solidFill>
              <a:srgbClr val="F59E0B"/>
            </a:solidFill>
          </a:ln>
        </p:spPr>
      </p:sp>
      <p:sp>
        <p:nvSpPr>
          <p:cNvPr id="31" name="Polygon 31"/>
          <p:cNvSpPr/>
          <p:nvPr/>
        </p:nvSpPr>
        <p:spPr>
          <a:xfrm>
            <a:off x="2571750" y="4619625"/>
            <a:ext cx="95250" cy="95250"/>
          </a:xfrm>
          <a:custGeom>
            <a:avLst/>
            <a:gdLst/>
            <a:ahLst/>
            <a:cxnLst/>
            <a:rect l="l" t="t" r="r" b="b"/>
            <a:pathLst>
              <a:path w="95250" h="95250">
                <a:moveTo>
                  <a:pt x="95250" y="0"/>
                </a:moveTo>
                <a:lnTo>
                  <a:pt x="0" y="47625"/>
                </a:lnTo>
                <a:lnTo>
                  <a:pt x="95250" y="95250"/>
                </a:lnTo>
                <a:close/>
              </a:path>
            </a:pathLst>
          </a:custGeom>
          <a:solidFill>
            <a:srgbClr val="F59E0B"/>
          </a:solidFill>
          <a:ln>
            <a:noFill/>
          </a:ln>
        </p:spPr>
      </p:sp>
      <p:sp>
        <p:nvSpPr>
          <p:cNvPr id="32" name="Rectangle 32"/>
          <p:cNvSpPr/>
          <p:nvPr/>
        </p:nvSpPr>
        <p:spPr>
          <a:xfrm>
            <a:off x="3333750" y="4286250"/>
            <a:ext cx="1524000" cy="762000"/>
          </a:xfrm>
          <a:prstGeom prst="roundRect">
            <a:avLst>
              <a:gd name="adj" fmla="val 10000"/>
            </a:avLst>
          </a:prstGeom>
          <a:solidFill>
            <a:srgbClr val="8B5CF6">
              <a:alpha val="15000"/>
            </a:srgbClr>
          </a:solidFill>
          <a:ln w="14288">
            <a:solidFill>
              <a:srgbClr val="8B5CF6"/>
            </a:solidFill>
          </a:ln>
        </p:spPr>
      </p:sp>
      <p:sp>
        <p:nvSpPr>
          <p:cNvPr id="33" name="TextBox 33"/>
          <p:cNvSpPr txBox="1"/>
          <p:nvPr/>
        </p:nvSpPr>
        <p:spPr>
          <a:xfrm>
            <a:off x="3671059" y="4442460"/>
            <a:ext cx="849382" cy="243840"/>
          </a:xfrm>
          <a:prstGeom prst="rect">
            <a:avLst/>
          </a:prstGeom>
          <a:noFill/>
          <a:ln>
            <a:noFill/>
          </a:ln>
        </p:spPr>
        <p:txBody>
          <a:bodyPr wrap="none" lIns="0" tIns="0" rIns="0" bIns="0" anchor="t" anchorCtr="0">
            <a:spAutoFit/>
          </a:bodyPr>
          <a:lstStyle/>
          <a:p>
            <a:pPr algn="ctr"/>
            <a:r>
              <a:rPr lang="zh-CN" sz="1200" b="1" dirty="0">
                <a:solidFill>
                  <a:srgbClr val="8B5CF6"/>
                </a:solidFill>
                <a:latin typeface="Georgia"/>
                <a:ea typeface="Microsoft YaHei"/>
                <a:cs typeface="Georgia"/>
              </a:rPr>
              <a:t>Layer N-1</a:t>
            </a:r>
          </a:p>
        </p:txBody>
      </p:sp>
      <p:sp>
        <p:nvSpPr>
          <p:cNvPr id="34" name="TextBox 34"/>
          <p:cNvSpPr txBox="1"/>
          <p:nvPr/>
        </p:nvSpPr>
        <p:spPr>
          <a:xfrm>
            <a:off x="3549372" y="4695349"/>
            <a:ext cx="1092756"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a:ea typeface="Microsoft YaHei"/>
                <a:cs typeface="Arial"/>
              </a:rPr>
              <a:t>Reuse N results</a:t>
            </a:r>
          </a:p>
        </p:txBody>
      </p:sp>
      <p:sp>
        <p:nvSpPr>
          <p:cNvPr id="35" name="Line 35"/>
          <p:cNvSpPr/>
          <p:nvPr/>
        </p:nvSpPr>
        <p:spPr>
          <a:xfrm>
            <a:off x="4857750" y="4667250"/>
            <a:ext cx="666750" cy="9525"/>
          </a:xfrm>
          <a:custGeom>
            <a:avLst/>
            <a:gdLst/>
            <a:ahLst/>
            <a:cxnLst/>
            <a:rect l="l" t="t" r="r" b="b"/>
            <a:pathLst>
              <a:path w="666750" h="9525">
                <a:moveTo>
                  <a:pt x="0" y="0"/>
                </a:moveTo>
                <a:lnTo>
                  <a:pt x="666750" y="0"/>
                </a:lnTo>
              </a:path>
            </a:pathLst>
          </a:custGeom>
          <a:noFill/>
          <a:ln w="19050">
            <a:solidFill>
              <a:srgbClr val="8B5CF6"/>
            </a:solidFill>
          </a:ln>
        </p:spPr>
      </p:sp>
      <p:sp>
        <p:nvSpPr>
          <p:cNvPr id="36" name="Polygon 36"/>
          <p:cNvSpPr/>
          <p:nvPr/>
        </p:nvSpPr>
        <p:spPr>
          <a:xfrm>
            <a:off x="4762500" y="4619625"/>
            <a:ext cx="95250" cy="95250"/>
          </a:xfrm>
          <a:custGeom>
            <a:avLst/>
            <a:gdLst/>
            <a:ahLst/>
            <a:cxnLst/>
            <a:rect l="l" t="t" r="r" b="b"/>
            <a:pathLst>
              <a:path w="95250" h="95250">
                <a:moveTo>
                  <a:pt x="95250" y="0"/>
                </a:moveTo>
                <a:lnTo>
                  <a:pt x="0" y="47625"/>
                </a:lnTo>
                <a:lnTo>
                  <a:pt x="95250" y="95250"/>
                </a:lnTo>
                <a:close/>
              </a:path>
            </a:pathLst>
          </a:custGeom>
          <a:solidFill>
            <a:srgbClr val="8B5CF6"/>
          </a:solidFill>
          <a:ln>
            <a:noFill/>
          </a:ln>
        </p:spPr>
      </p:sp>
      <p:sp>
        <p:nvSpPr>
          <p:cNvPr id="37" name="Rectangle 37"/>
          <p:cNvSpPr/>
          <p:nvPr/>
        </p:nvSpPr>
        <p:spPr>
          <a:xfrm>
            <a:off x="5524500" y="4286250"/>
            <a:ext cx="1524000" cy="762000"/>
          </a:xfrm>
          <a:prstGeom prst="roundRect">
            <a:avLst>
              <a:gd name="adj" fmla="val 10000"/>
            </a:avLst>
          </a:prstGeom>
          <a:solidFill>
            <a:srgbClr val="3B82F6">
              <a:alpha val="15000"/>
            </a:srgbClr>
          </a:solidFill>
          <a:ln w="14288">
            <a:solidFill>
              <a:srgbClr val="3B82F6"/>
            </a:solidFill>
          </a:ln>
        </p:spPr>
      </p:sp>
      <p:sp>
        <p:nvSpPr>
          <p:cNvPr id="38" name="TextBox 38"/>
          <p:cNvSpPr txBox="1"/>
          <p:nvPr/>
        </p:nvSpPr>
        <p:spPr>
          <a:xfrm>
            <a:off x="5838806" y="4442460"/>
            <a:ext cx="895388" cy="243840"/>
          </a:xfrm>
          <a:prstGeom prst="rect">
            <a:avLst/>
          </a:prstGeom>
          <a:noFill/>
          <a:ln>
            <a:noFill/>
          </a:ln>
        </p:spPr>
        <p:txBody>
          <a:bodyPr wrap="none" lIns="0" tIns="0" rIns="0" bIns="0" anchor="t" anchorCtr="0">
            <a:spAutoFit/>
          </a:bodyPr>
          <a:lstStyle/>
          <a:p>
            <a:pPr algn="ctr"/>
            <a:r>
              <a:rPr lang="zh-CN" sz="1200" b="1" dirty="0">
                <a:solidFill>
                  <a:srgbClr val="3B82F6"/>
                </a:solidFill>
                <a:latin typeface="Georgia"/>
                <a:ea typeface="Microsoft YaHei"/>
                <a:cs typeface="Georgia"/>
              </a:rPr>
              <a:t>Layer N-2</a:t>
            </a:r>
          </a:p>
        </p:txBody>
      </p:sp>
      <p:sp>
        <p:nvSpPr>
          <p:cNvPr id="39" name="TextBox 39"/>
          <p:cNvSpPr txBox="1"/>
          <p:nvPr/>
        </p:nvSpPr>
        <p:spPr>
          <a:xfrm>
            <a:off x="5679603" y="4695349"/>
            <a:ext cx="1213795"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a:ea typeface="Microsoft YaHei"/>
                <a:cs typeface="Arial"/>
              </a:rPr>
              <a:t>Reuse N-1 results</a:t>
            </a:r>
          </a:p>
        </p:txBody>
      </p:sp>
      <p:sp>
        <p:nvSpPr>
          <p:cNvPr id="40" name="Line 40"/>
          <p:cNvSpPr/>
          <p:nvPr/>
        </p:nvSpPr>
        <p:spPr>
          <a:xfrm>
            <a:off x="7048500" y="4667250"/>
            <a:ext cx="666750" cy="9525"/>
          </a:xfrm>
          <a:custGeom>
            <a:avLst/>
            <a:gdLst/>
            <a:ahLst/>
            <a:cxnLst/>
            <a:rect l="l" t="t" r="r" b="b"/>
            <a:pathLst>
              <a:path w="666750" h="9525">
                <a:moveTo>
                  <a:pt x="0" y="0"/>
                </a:moveTo>
                <a:lnTo>
                  <a:pt x="666750" y="0"/>
                </a:lnTo>
              </a:path>
            </a:pathLst>
          </a:custGeom>
          <a:noFill/>
          <a:ln w="19050">
            <a:solidFill>
              <a:srgbClr val="3B82F6"/>
            </a:solidFill>
          </a:ln>
        </p:spPr>
      </p:sp>
      <p:sp>
        <p:nvSpPr>
          <p:cNvPr id="41" name="Polygon 41"/>
          <p:cNvSpPr/>
          <p:nvPr/>
        </p:nvSpPr>
        <p:spPr>
          <a:xfrm>
            <a:off x="6953250" y="4619625"/>
            <a:ext cx="95250" cy="95250"/>
          </a:xfrm>
          <a:custGeom>
            <a:avLst/>
            <a:gdLst/>
            <a:ahLst/>
            <a:cxnLst/>
            <a:rect l="l" t="t" r="r" b="b"/>
            <a:pathLst>
              <a:path w="95250" h="95250">
                <a:moveTo>
                  <a:pt x="95250" y="0"/>
                </a:moveTo>
                <a:lnTo>
                  <a:pt x="0" y="47625"/>
                </a:lnTo>
                <a:lnTo>
                  <a:pt x="95250" y="95250"/>
                </a:lnTo>
                <a:close/>
              </a:path>
            </a:pathLst>
          </a:custGeom>
          <a:solidFill>
            <a:srgbClr val="3B82F6"/>
          </a:solidFill>
          <a:ln>
            <a:noFill/>
          </a:ln>
        </p:spPr>
      </p:sp>
      <p:sp>
        <p:nvSpPr>
          <p:cNvPr id="42" name="TextBox 42"/>
          <p:cNvSpPr txBox="1"/>
          <p:nvPr/>
        </p:nvSpPr>
        <p:spPr>
          <a:xfrm>
            <a:off x="7978140" y="4472940"/>
            <a:ext cx="190310" cy="365760"/>
          </a:xfrm>
          <a:prstGeom prst="rect">
            <a:avLst/>
          </a:prstGeom>
          <a:noFill/>
          <a:ln>
            <a:noFill/>
          </a:ln>
        </p:spPr>
        <p:txBody>
          <a:bodyPr wrap="none" lIns="0" tIns="0" rIns="0" bIns="0" anchor="t" anchorCtr="0">
            <a:spAutoFit/>
          </a:bodyPr>
          <a:lstStyle/>
          <a:p>
            <a:pPr algn="l"/>
            <a:r>
              <a:rPr lang="zh-CN" sz="1800" dirty="0">
                <a:solidFill>
                  <a:srgbClr val="64748B"/>
                </a:solidFill>
                <a:latin typeface="Georgia"/>
                <a:ea typeface="Microsoft YaHei"/>
                <a:cs typeface="Georgia"/>
              </a:rPr>
              <a:t>…</a:t>
            </a:r>
          </a:p>
        </p:txBody>
      </p:sp>
      <p:sp>
        <p:nvSpPr>
          <p:cNvPr id="43" name="Line 43"/>
          <p:cNvSpPr/>
          <p:nvPr/>
        </p:nvSpPr>
        <p:spPr>
          <a:xfrm>
            <a:off x="8286750" y="4667250"/>
            <a:ext cx="571500" cy="9525"/>
          </a:xfrm>
          <a:custGeom>
            <a:avLst/>
            <a:gdLst/>
            <a:ahLst/>
            <a:cxnLst/>
            <a:rect l="l" t="t" r="r" b="b"/>
            <a:pathLst>
              <a:path w="571500" h="9525">
                <a:moveTo>
                  <a:pt x="0" y="0"/>
                </a:moveTo>
                <a:lnTo>
                  <a:pt x="571500" y="0"/>
                </a:lnTo>
              </a:path>
            </a:pathLst>
          </a:custGeom>
          <a:noFill/>
          <a:ln w="19050">
            <a:solidFill>
              <a:srgbClr val="22D3EE"/>
            </a:solidFill>
          </a:ln>
        </p:spPr>
      </p:sp>
      <p:sp>
        <p:nvSpPr>
          <p:cNvPr id="44" name="Polygon 44"/>
          <p:cNvSpPr/>
          <p:nvPr/>
        </p:nvSpPr>
        <p:spPr>
          <a:xfrm>
            <a:off x="8191500" y="4619625"/>
            <a:ext cx="95250" cy="95250"/>
          </a:xfrm>
          <a:custGeom>
            <a:avLst/>
            <a:gdLst/>
            <a:ahLst/>
            <a:cxnLst/>
            <a:rect l="l" t="t" r="r" b="b"/>
            <a:pathLst>
              <a:path w="95250" h="95250">
                <a:moveTo>
                  <a:pt x="95250" y="0"/>
                </a:moveTo>
                <a:lnTo>
                  <a:pt x="0" y="47625"/>
                </a:lnTo>
                <a:lnTo>
                  <a:pt x="95250" y="95250"/>
                </a:lnTo>
                <a:close/>
              </a:path>
            </a:pathLst>
          </a:custGeom>
          <a:solidFill>
            <a:srgbClr val="22D3EE"/>
          </a:solidFill>
          <a:ln>
            <a:noFill/>
          </a:ln>
        </p:spPr>
      </p:sp>
      <p:sp>
        <p:nvSpPr>
          <p:cNvPr id="45" name="Rectangle 45"/>
          <p:cNvSpPr/>
          <p:nvPr/>
        </p:nvSpPr>
        <p:spPr>
          <a:xfrm>
            <a:off x="8858250" y="4286250"/>
            <a:ext cx="1524000" cy="762000"/>
          </a:xfrm>
          <a:prstGeom prst="roundRect">
            <a:avLst>
              <a:gd name="adj" fmla="val 10000"/>
            </a:avLst>
          </a:prstGeom>
          <a:solidFill>
            <a:srgbClr val="10B981">
              <a:alpha val="15000"/>
            </a:srgbClr>
          </a:solidFill>
          <a:ln w="14288">
            <a:solidFill>
              <a:srgbClr val="10B981"/>
            </a:solidFill>
          </a:ln>
        </p:spPr>
      </p:sp>
      <p:sp>
        <p:nvSpPr>
          <p:cNvPr id="46" name="TextBox 46"/>
          <p:cNvSpPr txBox="1"/>
          <p:nvPr/>
        </p:nvSpPr>
        <p:spPr>
          <a:xfrm>
            <a:off x="9296771" y="4442460"/>
            <a:ext cx="646957" cy="243840"/>
          </a:xfrm>
          <a:prstGeom prst="rect">
            <a:avLst/>
          </a:prstGeom>
          <a:noFill/>
          <a:ln>
            <a:noFill/>
          </a:ln>
        </p:spPr>
        <p:txBody>
          <a:bodyPr wrap="none" lIns="0" tIns="0" rIns="0" bIns="0" anchor="t" anchorCtr="0">
            <a:spAutoFit/>
          </a:bodyPr>
          <a:lstStyle/>
          <a:p>
            <a:pPr algn="ctr"/>
            <a:r>
              <a:rPr lang="zh-CN" sz="1200" b="1" dirty="0">
                <a:solidFill>
                  <a:srgbClr val="10B981"/>
                </a:solidFill>
                <a:latin typeface="Georgia"/>
                <a:ea typeface="Microsoft YaHei"/>
                <a:cs typeface="Georgia"/>
              </a:rPr>
              <a:t>Layer 1</a:t>
            </a:r>
          </a:p>
        </p:txBody>
      </p:sp>
      <p:sp>
        <p:nvSpPr>
          <p:cNvPr id="47" name="TextBox 47"/>
          <p:cNvSpPr txBox="1"/>
          <p:nvPr/>
        </p:nvSpPr>
        <p:spPr>
          <a:xfrm>
            <a:off x="8991993" y="4695349"/>
            <a:ext cx="1256514"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a:ea typeface="Microsoft YaHei"/>
                <a:cs typeface="Arial"/>
              </a:rPr>
              <a:t>All gradients done</a:t>
            </a:r>
          </a:p>
        </p:txBody>
      </p:sp>
      <p:sp>
        <p:nvSpPr>
          <p:cNvPr id="48" name="TextBox 48"/>
          <p:cNvSpPr txBox="1"/>
          <p:nvPr/>
        </p:nvSpPr>
        <p:spPr>
          <a:xfrm>
            <a:off x="9336072" y="4855845"/>
            <a:ext cx="568357" cy="182880"/>
          </a:xfrm>
          <a:prstGeom prst="rect">
            <a:avLst/>
          </a:prstGeom>
          <a:noFill/>
          <a:ln>
            <a:noFill/>
          </a:ln>
        </p:spPr>
        <p:txBody>
          <a:bodyPr wrap="none" lIns="0" tIns="0" rIns="0" bIns="0" anchor="t" anchorCtr="0">
            <a:spAutoFit/>
          </a:bodyPr>
          <a:lstStyle/>
          <a:p>
            <a:pPr algn="ctr"/>
            <a:r>
              <a:rPr lang="zh-CN" sz="900" dirty="0">
                <a:solidFill>
                  <a:srgbClr val="10B981"/>
                </a:solidFill>
                <a:latin typeface="Arial"/>
                <a:ea typeface="Microsoft YaHei"/>
                <a:cs typeface="Arial"/>
              </a:rPr>
              <a:t>End here</a:t>
            </a:r>
          </a:p>
        </p:txBody>
      </p:sp>
      <p:sp>
        <p:nvSpPr>
          <p:cNvPr id="49" name="TextBox 49"/>
          <p:cNvSpPr txBox="1"/>
          <p:nvPr/>
        </p:nvSpPr>
        <p:spPr>
          <a:xfrm>
            <a:off x="3483340" y="5411152"/>
            <a:ext cx="5225320" cy="213360"/>
          </a:xfrm>
          <a:prstGeom prst="rect">
            <a:avLst/>
          </a:prstGeom>
          <a:noFill/>
          <a:ln>
            <a:noFill/>
          </a:ln>
        </p:spPr>
        <p:txBody>
          <a:bodyPr wrap="none" lIns="0" tIns="0" rIns="0" bIns="0" anchor="t" anchorCtr="0">
            <a:spAutoFit/>
          </a:bodyPr>
          <a:lstStyle/>
          <a:p>
            <a:pPr algn="ctr"/>
            <a:r>
              <a:rPr lang="zh-CN" sz="1050" dirty="0">
                <a:solidFill>
                  <a:srgbClr val="F59E0B"/>
                </a:solidFill>
                <a:latin typeface="Arial"/>
                <a:ea typeface="Microsoft YaHei"/>
                <a:cs typeface="Arial"/>
              </a:rPr>
              <a:t>← Direction of gradient computation (backward through the network)</a:t>
            </a:r>
          </a:p>
        </p:txBody>
      </p:sp>
      <p:sp>
        <p:nvSpPr>
          <p:cNvPr id="50" name="TextBox 50"/>
          <p:cNvSpPr txBox="1"/>
          <p:nvPr/>
        </p:nvSpPr>
        <p:spPr>
          <a:xfrm>
            <a:off x="938212" y="5926931"/>
            <a:ext cx="7348418" cy="228600"/>
          </a:xfrm>
          <a:prstGeom prst="rect">
            <a:avLst/>
          </a:prstGeom>
          <a:noFill/>
          <a:ln>
            <a:noFill/>
          </a:ln>
        </p:spPr>
        <p:txBody>
          <a:bodyPr wrap="none" lIns="0" tIns="0" rIns="0" bIns="0" anchor="t" anchorCtr="0">
            <a:spAutoFit/>
          </a:bodyPr>
          <a:lstStyle/>
          <a:p>
            <a:pPr algn="l"/>
            <a:r>
              <a:rPr lang="zh-CN" sz="1125" i="1" dirty="0">
                <a:solidFill>
                  <a:srgbClr val="22D3EE"/>
                </a:solidFill>
                <a:latin typeface="Georgia"/>
                <a:ea typeface="Microsoft YaHei"/>
                <a:cs typeface="Georgia"/>
              </a:rPr>
              <a:t>Each layer's derivatives are an ingredient in the chain rule formula for the previous layer.</a:t>
            </a:r>
          </a:p>
        </p:txBody>
      </p:sp>
      <p:sp>
        <p:nvSpPr>
          <p:cNvPr id="51" name="TextBox 51"/>
          <p:cNvSpPr txBox="1"/>
          <p:nvPr/>
        </p:nvSpPr>
        <p:spPr>
          <a:xfrm>
            <a:off x="11545252" y="6586538"/>
            <a:ext cx="84772"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11</a:t>
            </a:r>
          </a:p>
        </p:txBody>
      </p:sp>
      <p:pic>
        <p:nvPicPr>
          <p:cNvPr id="52" name="narration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8532">
    <p:fade/>
  </p:transition>
  <p:timing>
    <p:tnLst>
      <p:par>
        <p:cTn id="1" dur="indefinite" restart="never" nodeType="tmRoot">
          <p:childTnLst>
            <p:audio>
              <p:cMediaNode vol="80000">
                <p:cTn id="2" fill="hold" display="0">
                  <p:stCondLst>
                    <p:cond delay="0"/>
                  </p:stCondLst>
                </p:cTn>
                <p:tgtEl>
                  <p:spTgt spid="5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6388691"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How Backpropagation Algorithm Works</a:t>
            </a:r>
          </a:p>
        </p:txBody>
      </p:sp>
      <p:sp>
        <p:nvSpPr>
          <p:cNvPr id="5" name="Rectangle 5"/>
          <p:cNvSpPr/>
          <p:nvPr/>
        </p:nvSpPr>
        <p:spPr>
          <a:xfrm>
            <a:off x="571500" y="1143000"/>
            <a:ext cx="4191000" cy="2667000"/>
          </a:xfrm>
          <a:prstGeom prst="roundRect">
            <a:avLst>
              <a:gd name="adj" fmla="val 4286"/>
            </a:avLst>
          </a:prstGeom>
          <a:solidFill>
            <a:srgbClr val="1E293B"/>
          </a:solidFill>
          <a:ln>
            <a:noFill/>
          </a:ln>
        </p:spPr>
      </p:sp>
      <p:pic>
        <p:nvPicPr>
          <p:cNvPr id="6" name="Image 6"/>
          <p:cNvPicPr>
            <a:picLocks noChangeAspect="1"/>
          </p:cNvPicPr>
          <p:nvPr/>
        </p:nvPicPr>
        <p:blipFill>
          <a:blip r:embed="rId2"/>
          <a:srcRect l="5804" t="0" r="5804" b="0"/>
          <a:stretch>
            <a:fillRect/>
          </a:stretch>
        </p:blipFill>
        <p:spPr>
          <a:xfrm>
            <a:off x="571500" y="1143000"/>
            <a:ext cx="4191000" cy="2667000"/>
          </a:xfrm>
          <a:prstGeom prst="rect">
            <a:avLst/>
          </a:prstGeom>
        </p:spPr>
      </p:pic>
      <p:sp>
        <p:nvSpPr>
          <p:cNvPr id="7" name="Rectangle 7"/>
          <p:cNvSpPr/>
          <p:nvPr/>
        </p:nvSpPr>
        <p:spPr>
          <a:xfrm>
            <a:off x="571500" y="1143000"/>
            <a:ext cx="4191000" cy="2667000"/>
          </a:xfrm>
          <a:prstGeom prst="roundRect">
            <a:avLst>
              <a:gd name="adj" fmla="val 4286"/>
            </a:avLst>
          </a:prstGeom>
          <a:noFill/>
          <a:ln w="9525">
            <a:solidFill>
              <a:srgbClr val="334155"/>
            </a:solidFill>
          </a:ln>
        </p:spPr>
      </p:sp>
      <p:sp>
        <p:nvSpPr>
          <p:cNvPr id="8" name="TextBox 8"/>
          <p:cNvSpPr txBox="1"/>
          <p:nvPr/>
        </p:nvSpPr>
        <p:spPr>
          <a:xfrm>
            <a:off x="5031105" y="1283018"/>
            <a:ext cx="1628389"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Georgia"/>
                <a:ea typeface="Microsoft YaHei"/>
                <a:cs typeface="Georgia"/>
              </a:rPr>
              <a:t>Algorithm Steps</a:t>
            </a:r>
          </a:p>
        </p:txBody>
      </p:sp>
      <p:sp>
        <p:nvSpPr>
          <p:cNvPr id="9" name="Ellipse 9"/>
          <p:cNvSpPr/>
          <p:nvPr/>
        </p:nvSpPr>
        <p:spPr>
          <a:xfrm>
            <a:off x="5105400" y="1628775"/>
            <a:ext cx="266700" cy="266700"/>
          </a:xfrm>
          <a:prstGeom prst="ellipse">
            <a:avLst/>
          </a:prstGeom>
          <a:solidFill>
            <a:srgbClr val="3B82F6">
              <a:alpha val="20000"/>
            </a:srgbClr>
          </a:solidFill>
          <a:ln w="14288">
            <a:solidFill>
              <a:srgbClr val="3B82F6"/>
            </a:solidFill>
          </a:ln>
        </p:spPr>
      </p:sp>
      <p:sp>
        <p:nvSpPr>
          <p:cNvPr id="10" name="TextBox 10"/>
          <p:cNvSpPr txBox="1"/>
          <p:nvPr/>
        </p:nvSpPr>
        <p:spPr>
          <a:xfrm>
            <a:off x="5203940" y="1704499"/>
            <a:ext cx="69621" cy="198120"/>
          </a:xfrm>
          <a:prstGeom prst="rect">
            <a:avLst/>
          </a:prstGeom>
          <a:noFill/>
          <a:ln>
            <a:noFill/>
          </a:ln>
        </p:spPr>
        <p:txBody>
          <a:bodyPr wrap="none" lIns="0" tIns="0" rIns="0" bIns="0" anchor="t" anchorCtr="0">
            <a:spAutoFit/>
          </a:bodyPr>
          <a:lstStyle/>
          <a:p>
            <a:pPr algn="ctr"/>
            <a:r>
              <a:rPr lang="zh-CN" sz="975" b="1" dirty="0">
                <a:solidFill>
                  <a:srgbClr val="3B82F6"/>
                </a:solidFill>
                <a:latin typeface="Georgia"/>
                <a:ea typeface="Microsoft YaHei"/>
                <a:cs typeface="Georgia"/>
              </a:rPr>
              <a:t>1</a:t>
            </a:r>
          </a:p>
        </p:txBody>
      </p:sp>
      <p:sp>
        <p:nvSpPr>
          <p:cNvPr id="11" name="TextBox 11"/>
          <p:cNvSpPr txBox="1"/>
          <p:nvPr/>
        </p:nvSpPr>
        <p:spPr>
          <a:xfrm>
            <a:off x="5462588" y="1688306"/>
            <a:ext cx="3536513"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Inputs X arrive through pre-connected path</a:t>
            </a:r>
          </a:p>
        </p:txBody>
      </p:sp>
      <p:sp>
        <p:nvSpPr>
          <p:cNvPr id="12" name="Ellipse 12"/>
          <p:cNvSpPr/>
          <p:nvPr/>
        </p:nvSpPr>
        <p:spPr>
          <a:xfrm>
            <a:off x="5105400" y="2009775"/>
            <a:ext cx="266700" cy="266700"/>
          </a:xfrm>
          <a:prstGeom prst="ellipse">
            <a:avLst/>
          </a:prstGeom>
          <a:solidFill>
            <a:srgbClr val="22D3EE">
              <a:alpha val="20000"/>
            </a:srgbClr>
          </a:solidFill>
          <a:ln w="14288">
            <a:solidFill>
              <a:srgbClr val="22D3EE"/>
            </a:solidFill>
          </a:ln>
        </p:spPr>
      </p:sp>
      <p:sp>
        <p:nvSpPr>
          <p:cNvPr id="13" name="TextBox 13"/>
          <p:cNvSpPr txBox="1"/>
          <p:nvPr/>
        </p:nvSpPr>
        <p:spPr>
          <a:xfrm>
            <a:off x="5185250" y="2085499"/>
            <a:ext cx="107000" cy="198120"/>
          </a:xfrm>
          <a:prstGeom prst="rect">
            <a:avLst/>
          </a:prstGeom>
          <a:noFill/>
          <a:ln>
            <a:noFill/>
          </a:ln>
        </p:spPr>
        <p:txBody>
          <a:bodyPr wrap="none" lIns="0" tIns="0" rIns="0" bIns="0" anchor="t" anchorCtr="0">
            <a:spAutoFit/>
          </a:bodyPr>
          <a:lstStyle/>
          <a:p>
            <a:pPr algn="ctr"/>
            <a:r>
              <a:rPr lang="zh-CN" sz="975" b="1" dirty="0">
                <a:solidFill>
                  <a:srgbClr val="22D3EE"/>
                </a:solidFill>
                <a:latin typeface="Georgia"/>
                <a:ea typeface="Microsoft YaHei"/>
                <a:cs typeface="Georgia"/>
              </a:rPr>
              <a:t>2</a:t>
            </a:r>
          </a:p>
        </p:txBody>
      </p:sp>
      <p:sp>
        <p:nvSpPr>
          <p:cNvPr id="14" name="TextBox 14"/>
          <p:cNvSpPr txBox="1"/>
          <p:nvPr/>
        </p:nvSpPr>
        <p:spPr>
          <a:xfrm>
            <a:off x="5462588" y="2069306"/>
            <a:ext cx="3914418"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Input modeled using randomly selected weights W</a:t>
            </a:r>
          </a:p>
        </p:txBody>
      </p:sp>
      <p:sp>
        <p:nvSpPr>
          <p:cNvPr id="15" name="Ellipse 15"/>
          <p:cNvSpPr/>
          <p:nvPr/>
        </p:nvSpPr>
        <p:spPr>
          <a:xfrm>
            <a:off x="5105400" y="2390775"/>
            <a:ext cx="266700" cy="266700"/>
          </a:xfrm>
          <a:prstGeom prst="ellipse">
            <a:avLst/>
          </a:prstGeom>
          <a:solidFill>
            <a:srgbClr val="8B5CF6">
              <a:alpha val="20000"/>
            </a:srgbClr>
          </a:solidFill>
          <a:ln w="14288">
            <a:solidFill>
              <a:srgbClr val="8B5CF6"/>
            </a:solidFill>
          </a:ln>
        </p:spPr>
      </p:sp>
      <p:sp>
        <p:nvSpPr>
          <p:cNvPr id="16" name="TextBox 16"/>
          <p:cNvSpPr txBox="1"/>
          <p:nvPr/>
        </p:nvSpPr>
        <p:spPr>
          <a:xfrm>
            <a:off x="5185250" y="2466499"/>
            <a:ext cx="107000" cy="198120"/>
          </a:xfrm>
          <a:prstGeom prst="rect">
            <a:avLst/>
          </a:prstGeom>
          <a:noFill/>
          <a:ln>
            <a:noFill/>
          </a:ln>
        </p:spPr>
        <p:txBody>
          <a:bodyPr wrap="none" lIns="0" tIns="0" rIns="0" bIns="0" anchor="t" anchorCtr="0">
            <a:spAutoFit/>
          </a:bodyPr>
          <a:lstStyle/>
          <a:p>
            <a:pPr algn="ctr"/>
            <a:r>
              <a:rPr lang="zh-CN" sz="975" b="1" dirty="0">
                <a:solidFill>
                  <a:srgbClr val="8B5CF6"/>
                </a:solidFill>
                <a:latin typeface="Georgia"/>
                <a:ea typeface="Microsoft YaHei"/>
                <a:cs typeface="Georgia"/>
              </a:rPr>
              <a:t>3</a:t>
            </a:r>
          </a:p>
        </p:txBody>
      </p:sp>
      <p:sp>
        <p:nvSpPr>
          <p:cNvPr id="17" name="TextBox 17"/>
          <p:cNvSpPr txBox="1"/>
          <p:nvPr/>
        </p:nvSpPr>
        <p:spPr>
          <a:xfrm>
            <a:off x="5462588" y="2450306"/>
            <a:ext cx="3914418"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Calculate output for every neuron layer by layer</a:t>
            </a:r>
          </a:p>
        </p:txBody>
      </p:sp>
      <p:sp>
        <p:nvSpPr>
          <p:cNvPr id="18" name="Ellipse 18"/>
          <p:cNvSpPr/>
          <p:nvPr/>
        </p:nvSpPr>
        <p:spPr>
          <a:xfrm>
            <a:off x="5105400" y="2771775"/>
            <a:ext cx="266700" cy="266700"/>
          </a:xfrm>
          <a:prstGeom prst="ellipse">
            <a:avLst/>
          </a:prstGeom>
          <a:solidFill>
            <a:srgbClr val="F59E0B">
              <a:alpha val="20000"/>
            </a:srgbClr>
          </a:solidFill>
          <a:ln w="14288">
            <a:solidFill>
              <a:srgbClr val="F59E0B"/>
            </a:solidFill>
          </a:ln>
        </p:spPr>
      </p:sp>
      <p:sp>
        <p:nvSpPr>
          <p:cNvPr id="19" name="TextBox 19"/>
          <p:cNvSpPr txBox="1"/>
          <p:nvPr/>
        </p:nvSpPr>
        <p:spPr>
          <a:xfrm>
            <a:off x="5185250" y="2847499"/>
            <a:ext cx="107000"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Georgia"/>
                <a:ea typeface="Microsoft YaHei"/>
                <a:cs typeface="Georgia"/>
              </a:rPr>
              <a:t>4</a:t>
            </a:r>
          </a:p>
        </p:txBody>
      </p:sp>
      <p:sp>
        <p:nvSpPr>
          <p:cNvPr id="20" name="TextBox 20"/>
          <p:cNvSpPr txBox="1"/>
          <p:nvPr/>
        </p:nvSpPr>
        <p:spPr>
          <a:xfrm>
            <a:off x="5462588" y="2831306"/>
            <a:ext cx="2452092"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Calculate error in the outputs</a:t>
            </a:r>
          </a:p>
        </p:txBody>
      </p:sp>
      <p:sp>
        <p:nvSpPr>
          <p:cNvPr id="21" name="Ellipse 21"/>
          <p:cNvSpPr/>
          <p:nvPr/>
        </p:nvSpPr>
        <p:spPr>
          <a:xfrm>
            <a:off x="5105400" y="3152775"/>
            <a:ext cx="266700" cy="266700"/>
          </a:xfrm>
          <a:prstGeom prst="ellipse">
            <a:avLst/>
          </a:prstGeom>
          <a:solidFill>
            <a:srgbClr val="F59E0B">
              <a:alpha val="20000"/>
            </a:srgbClr>
          </a:solidFill>
          <a:ln w="14288">
            <a:solidFill>
              <a:srgbClr val="F59E0B"/>
            </a:solidFill>
          </a:ln>
        </p:spPr>
      </p:sp>
      <p:sp>
        <p:nvSpPr>
          <p:cNvPr id="22" name="TextBox 22"/>
          <p:cNvSpPr txBox="1"/>
          <p:nvPr/>
        </p:nvSpPr>
        <p:spPr>
          <a:xfrm>
            <a:off x="5185250" y="3228499"/>
            <a:ext cx="107000"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Georgia"/>
                <a:ea typeface="Microsoft YaHei"/>
                <a:cs typeface="Georgia"/>
              </a:rPr>
              <a:t>5</a:t>
            </a:r>
          </a:p>
        </p:txBody>
      </p:sp>
      <p:sp>
        <p:nvSpPr>
          <p:cNvPr id="23" name="TextBox 23"/>
          <p:cNvSpPr txBox="1"/>
          <p:nvPr/>
        </p:nvSpPr>
        <p:spPr>
          <a:xfrm>
            <a:off x="5462588" y="3212306"/>
            <a:ext cx="3758327"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Travel back, adjust weights to decrease error</a:t>
            </a:r>
          </a:p>
        </p:txBody>
      </p:sp>
      <p:sp>
        <p:nvSpPr>
          <p:cNvPr id="24" name="Ellipse 24"/>
          <p:cNvSpPr/>
          <p:nvPr/>
        </p:nvSpPr>
        <p:spPr>
          <a:xfrm>
            <a:off x="5105400" y="3533775"/>
            <a:ext cx="266700" cy="266700"/>
          </a:xfrm>
          <a:prstGeom prst="ellipse">
            <a:avLst/>
          </a:prstGeom>
          <a:solidFill>
            <a:srgbClr val="10B981">
              <a:alpha val="20000"/>
            </a:srgbClr>
          </a:solidFill>
          <a:ln w="14288">
            <a:solidFill>
              <a:srgbClr val="10B981"/>
            </a:solidFill>
          </a:ln>
        </p:spPr>
      </p:sp>
      <p:sp>
        <p:nvSpPr>
          <p:cNvPr id="25" name="TextBox 25"/>
          <p:cNvSpPr txBox="1"/>
          <p:nvPr/>
        </p:nvSpPr>
        <p:spPr>
          <a:xfrm>
            <a:off x="5185250" y="3609499"/>
            <a:ext cx="107000" cy="198120"/>
          </a:xfrm>
          <a:prstGeom prst="rect">
            <a:avLst/>
          </a:prstGeom>
          <a:noFill/>
          <a:ln>
            <a:noFill/>
          </a:ln>
        </p:spPr>
        <p:txBody>
          <a:bodyPr wrap="none" lIns="0" tIns="0" rIns="0" bIns="0" anchor="t" anchorCtr="0">
            <a:spAutoFit/>
          </a:bodyPr>
          <a:lstStyle/>
          <a:p>
            <a:pPr algn="ctr"/>
            <a:r>
              <a:rPr lang="zh-CN" sz="975" b="1" dirty="0">
                <a:solidFill>
                  <a:srgbClr val="10B981"/>
                </a:solidFill>
                <a:latin typeface="Georgia"/>
                <a:ea typeface="Microsoft YaHei"/>
                <a:cs typeface="Georgia"/>
              </a:rPr>
              <a:t>6</a:t>
            </a:r>
          </a:p>
        </p:txBody>
      </p:sp>
      <p:sp>
        <p:nvSpPr>
          <p:cNvPr id="26" name="TextBox 26"/>
          <p:cNvSpPr txBox="1"/>
          <p:nvPr/>
        </p:nvSpPr>
        <p:spPr>
          <a:xfrm>
            <a:off x="5462588" y="3593306"/>
            <a:ext cx="3142178"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Repeat until desired output is achieved</a:t>
            </a:r>
          </a:p>
        </p:txBody>
      </p:sp>
      <p:sp>
        <p:nvSpPr>
          <p:cNvPr id="27" name="Rectangle 27"/>
          <p:cNvSpPr/>
          <p:nvPr/>
        </p:nvSpPr>
        <p:spPr>
          <a:xfrm>
            <a:off x="571500" y="4095750"/>
            <a:ext cx="11049000" cy="952500"/>
          </a:xfrm>
          <a:prstGeom prst="roundRect">
            <a:avLst>
              <a:gd name="adj" fmla="val 12000"/>
            </a:avLst>
          </a:prstGeom>
          <a:solidFill>
            <a:srgbClr val="1E293B"/>
          </a:solidFill>
          <a:ln w="14288">
            <a:solidFill>
              <a:srgbClr val="F59E0B"/>
            </a:solidFill>
          </a:ln>
        </p:spPr>
      </p:sp>
      <p:sp>
        <p:nvSpPr>
          <p:cNvPr id="28" name="TextBox 28"/>
          <p:cNvSpPr txBox="1"/>
          <p:nvPr/>
        </p:nvSpPr>
        <p:spPr>
          <a:xfrm>
            <a:off x="935355" y="4311968"/>
            <a:ext cx="1762956"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Error Calculation</a:t>
            </a:r>
          </a:p>
        </p:txBody>
      </p:sp>
      <p:sp>
        <p:nvSpPr>
          <p:cNvPr id="29" name="Rectangle 29"/>
          <p:cNvSpPr/>
          <p:nvPr/>
        </p:nvSpPr>
        <p:spPr>
          <a:xfrm>
            <a:off x="952500" y="4629150"/>
            <a:ext cx="4762500" cy="285750"/>
          </a:xfrm>
          <a:prstGeom prst="roundRect">
            <a:avLst>
              <a:gd name="adj" fmla="val 20000"/>
            </a:avLst>
          </a:prstGeom>
          <a:solidFill>
            <a:srgbClr val="0F172A"/>
          </a:solidFill>
          <a:ln w="9525">
            <a:solidFill>
              <a:srgbClr val="334155"/>
            </a:solidFill>
          </a:ln>
        </p:spPr>
      </p:sp>
      <p:sp>
        <p:nvSpPr>
          <p:cNvPr id="30" name="TextBox 30"/>
          <p:cNvSpPr txBox="1"/>
          <p:nvPr/>
        </p:nvSpPr>
        <p:spPr>
          <a:xfrm>
            <a:off x="1627251" y="4690110"/>
            <a:ext cx="3412998" cy="243840"/>
          </a:xfrm>
          <a:prstGeom prst="rect">
            <a:avLst/>
          </a:prstGeom>
          <a:noFill/>
          <a:ln>
            <a:noFill/>
          </a:ln>
        </p:spPr>
        <p:txBody>
          <a:bodyPr wrap="none" lIns="0" tIns="0" rIns="0" bIns="0" anchor="t" anchorCtr="0">
            <a:spAutoFit/>
          </a:bodyPr>
          <a:lstStyle/>
          <a:p>
            <a:pPr algn="ctr"/>
            <a:r>
              <a:rPr lang="zh-CN" sz="1200" dirty="0">
                <a:solidFill>
                  <a:srgbClr val="F1F5F9"/>
                </a:solidFill>
                <a:latin typeface="Consolas"/>
                <a:ea typeface="Microsoft YaHei"/>
                <a:cs typeface="Consolas"/>
              </a:rPr>
              <a:t>Error = Actual Output - Desired Output</a:t>
            </a:r>
          </a:p>
        </p:txBody>
      </p:sp>
      <p:sp>
        <p:nvSpPr>
          <p:cNvPr id="31" name="Rectangle 31"/>
          <p:cNvSpPr/>
          <p:nvPr/>
        </p:nvSpPr>
        <p:spPr>
          <a:xfrm>
            <a:off x="571500" y="5334000"/>
            <a:ext cx="3524250" cy="1047750"/>
          </a:xfrm>
          <a:prstGeom prst="roundRect">
            <a:avLst>
              <a:gd name="adj" fmla="val 10909"/>
            </a:avLst>
          </a:prstGeom>
          <a:solidFill>
            <a:srgbClr val="1E293B"/>
          </a:solidFill>
          <a:ln w="9525">
            <a:solidFill>
              <a:srgbClr val="334155"/>
            </a:solidFill>
          </a:ln>
        </p:spPr>
      </p:sp>
      <p:grpSp>
        <p:nvGrpSpPr>
          <p:cNvPr id="38" name="Group 38"/>
          <p:cNvGrpSpPr/>
          <p:nvPr/>
        </p:nvGrpSpPr>
        <p:grpSpPr>
          <a:xfrm>
            <a:off x="784994" y="5556910"/>
            <a:ext cx="177031" cy="159018"/>
            <a:chOff x="784994" y="5556910"/>
            <a:chExt cx="177031" cy="159018"/>
          </a:xfrm>
        </p:grpSpPr>
        <p:sp>
          <p:nvSpPr>
            <p:cNvPr id="32" name="Freeform 32"/>
            <p:cNvSpPr/>
            <p:nvPr/>
          </p:nvSpPr>
          <p:spPr>
            <a:xfrm>
              <a:off x="784994" y="55569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3B82F6"/>
            </a:solidFill>
            <a:ln>
              <a:noFill/>
            </a:ln>
          </p:spPr>
        </p:sp>
        <p:sp>
          <p:nvSpPr>
            <p:cNvPr id="33" name="Freeform 33"/>
            <p:cNvSpPr/>
            <p:nvPr/>
          </p:nvSpPr>
          <p:spPr>
            <a:xfrm>
              <a:off x="784994" y="561406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3B82F6"/>
            </a:solidFill>
            <a:ln>
              <a:noFill/>
            </a:ln>
          </p:spPr>
        </p:sp>
        <p:sp>
          <p:nvSpPr>
            <p:cNvPr id="34" name="Freeform 34"/>
            <p:cNvSpPr/>
            <p:nvPr/>
          </p:nvSpPr>
          <p:spPr>
            <a:xfrm>
              <a:off x="784994" y="56712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3B82F6"/>
            </a:solidFill>
            <a:ln>
              <a:noFill/>
            </a:ln>
          </p:spPr>
        </p:sp>
        <p:sp>
          <p:nvSpPr>
            <p:cNvPr id="35" name="Freeform 35"/>
            <p:cNvSpPr/>
            <p:nvPr/>
          </p:nvSpPr>
          <p:spPr>
            <a:xfrm>
              <a:off x="857250" y="55721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3B82F6"/>
            </a:solidFill>
            <a:ln>
              <a:noFill/>
            </a:ln>
          </p:spPr>
        </p:sp>
        <p:sp>
          <p:nvSpPr>
            <p:cNvPr id="36" name="Freeform 36"/>
            <p:cNvSpPr/>
            <p:nvPr/>
          </p:nvSpPr>
          <p:spPr>
            <a:xfrm>
              <a:off x="857250" y="562927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3B82F6"/>
            </a:solidFill>
            <a:ln>
              <a:noFill/>
            </a:ln>
          </p:spPr>
        </p:sp>
        <p:sp>
          <p:nvSpPr>
            <p:cNvPr id="37" name="Freeform 37"/>
            <p:cNvSpPr/>
            <p:nvPr/>
          </p:nvSpPr>
          <p:spPr>
            <a:xfrm>
              <a:off x="857250" y="56864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3B82F6"/>
            </a:solidFill>
            <a:ln>
              <a:noFill/>
            </a:ln>
          </p:spPr>
        </p:sp>
      </p:grpSp>
      <p:sp>
        <p:nvSpPr>
          <p:cNvPr id="39" name="TextBox 39"/>
          <p:cNvSpPr txBox="1"/>
          <p:nvPr/>
        </p:nvSpPr>
        <p:spPr>
          <a:xfrm>
            <a:off x="1052512" y="5574506"/>
            <a:ext cx="2754416" cy="228600"/>
          </a:xfrm>
          <a:prstGeom prst="rect">
            <a:avLst/>
          </a:prstGeom>
          <a:noFill/>
          <a:ln>
            <a:noFill/>
          </a:ln>
        </p:spPr>
        <p:txBody>
          <a:bodyPr wrap="none" lIns="0" tIns="0" rIns="0" bIns="0" anchor="t" anchorCtr="0">
            <a:spAutoFit/>
          </a:bodyPr>
          <a:lstStyle/>
          <a:p>
            <a:pPr algn="l"/>
            <a:r>
              <a:rPr lang="zh-CN" sz="1125" b="1" dirty="0">
                <a:solidFill>
                  <a:srgbClr val="F1F5F9"/>
                </a:solidFill>
                <a:latin typeface="Georgia"/>
                <a:ea typeface="Microsoft YaHei"/>
                <a:cs typeface="Georgia"/>
              </a:rPr>
              <a:t>Computes gradient via chain rule</a:t>
            </a:r>
          </a:p>
        </p:txBody>
      </p:sp>
      <p:sp>
        <p:nvSpPr>
          <p:cNvPr id="40" name="TextBox 40"/>
          <p:cNvSpPr txBox="1"/>
          <p:nvPr/>
        </p:nvSpPr>
        <p:spPr>
          <a:xfrm>
            <a:off x="748665" y="5868352"/>
            <a:ext cx="240363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One layer at a time, efficiently</a:t>
            </a:r>
          </a:p>
        </p:txBody>
      </p:sp>
      <p:sp>
        <p:nvSpPr>
          <p:cNvPr id="41" name="Rectangle 41"/>
          <p:cNvSpPr/>
          <p:nvPr/>
        </p:nvSpPr>
        <p:spPr>
          <a:xfrm>
            <a:off x="4333875" y="5334000"/>
            <a:ext cx="3524250" cy="1047750"/>
          </a:xfrm>
          <a:prstGeom prst="roundRect">
            <a:avLst>
              <a:gd name="adj" fmla="val 10909"/>
            </a:avLst>
          </a:prstGeom>
          <a:solidFill>
            <a:srgbClr val="1E293B"/>
          </a:solidFill>
          <a:ln w="9525">
            <a:solidFill>
              <a:srgbClr val="334155"/>
            </a:solidFill>
          </a:ln>
        </p:spPr>
      </p:sp>
      <p:grpSp>
        <p:nvGrpSpPr>
          <p:cNvPr id="48" name="Group 48"/>
          <p:cNvGrpSpPr/>
          <p:nvPr/>
        </p:nvGrpSpPr>
        <p:grpSpPr>
          <a:xfrm>
            <a:off x="4547369" y="5556910"/>
            <a:ext cx="177031" cy="159018"/>
            <a:chOff x="4547369" y="5556910"/>
            <a:chExt cx="177031" cy="159018"/>
          </a:xfrm>
        </p:grpSpPr>
        <p:sp>
          <p:nvSpPr>
            <p:cNvPr id="42" name="Freeform 42"/>
            <p:cNvSpPr/>
            <p:nvPr/>
          </p:nvSpPr>
          <p:spPr>
            <a:xfrm>
              <a:off x="4547369" y="55569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22D3EE"/>
            </a:solidFill>
            <a:ln>
              <a:noFill/>
            </a:ln>
          </p:spPr>
        </p:sp>
        <p:sp>
          <p:nvSpPr>
            <p:cNvPr id="43" name="Freeform 43"/>
            <p:cNvSpPr/>
            <p:nvPr/>
          </p:nvSpPr>
          <p:spPr>
            <a:xfrm>
              <a:off x="4547369" y="561406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22D3EE"/>
            </a:solidFill>
            <a:ln>
              <a:noFill/>
            </a:ln>
          </p:spPr>
        </p:sp>
        <p:sp>
          <p:nvSpPr>
            <p:cNvPr id="44" name="Freeform 44"/>
            <p:cNvSpPr/>
            <p:nvPr/>
          </p:nvSpPr>
          <p:spPr>
            <a:xfrm>
              <a:off x="4547369" y="56712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22D3EE"/>
            </a:solidFill>
            <a:ln>
              <a:noFill/>
            </a:ln>
          </p:spPr>
        </p:sp>
        <p:sp>
          <p:nvSpPr>
            <p:cNvPr id="45" name="Freeform 45"/>
            <p:cNvSpPr/>
            <p:nvPr/>
          </p:nvSpPr>
          <p:spPr>
            <a:xfrm>
              <a:off x="4619625" y="55721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22D3EE"/>
            </a:solidFill>
            <a:ln>
              <a:noFill/>
            </a:ln>
          </p:spPr>
        </p:sp>
        <p:sp>
          <p:nvSpPr>
            <p:cNvPr id="46" name="Freeform 46"/>
            <p:cNvSpPr/>
            <p:nvPr/>
          </p:nvSpPr>
          <p:spPr>
            <a:xfrm>
              <a:off x="4619625" y="562927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22D3EE"/>
            </a:solidFill>
            <a:ln>
              <a:noFill/>
            </a:ln>
          </p:spPr>
        </p:sp>
        <p:sp>
          <p:nvSpPr>
            <p:cNvPr id="47" name="Freeform 47"/>
            <p:cNvSpPr/>
            <p:nvPr/>
          </p:nvSpPr>
          <p:spPr>
            <a:xfrm>
              <a:off x="4619625" y="56864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22D3EE"/>
            </a:solidFill>
            <a:ln>
              <a:noFill/>
            </a:ln>
          </p:spPr>
        </p:sp>
      </p:grpSp>
      <p:sp>
        <p:nvSpPr>
          <p:cNvPr id="49" name="TextBox 49"/>
          <p:cNvSpPr txBox="1"/>
          <p:nvPr/>
        </p:nvSpPr>
        <p:spPr>
          <a:xfrm>
            <a:off x="4814888" y="5574506"/>
            <a:ext cx="2616398" cy="228600"/>
          </a:xfrm>
          <a:prstGeom prst="rect">
            <a:avLst/>
          </a:prstGeom>
          <a:noFill/>
          <a:ln>
            <a:noFill/>
          </a:ln>
        </p:spPr>
        <p:txBody>
          <a:bodyPr wrap="none" lIns="0" tIns="0" rIns="0" bIns="0" anchor="t" anchorCtr="0">
            <a:spAutoFit/>
          </a:bodyPr>
          <a:lstStyle/>
          <a:p>
            <a:pPr algn="l"/>
            <a:r>
              <a:rPr lang="zh-CN" sz="1125" b="1" dirty="0">
                <a:solidFill>
                  <a:srgbClr val="F1F5F9"/>
                </a:solidFill>
                <a:latin typeface="Georgia"/>
                <a:ea typeface="Microsoft YaHei"/>
                <a:cs typeface="Georgia"/>
              </a:rPr>
              <a:t>Does not define gradient usage</a:t>
            </a:r>
          </a:p>
        </p:txBody>
      </p:sp>
      <p:sp>
        <p:nvSpPr>
          <p:cNvPr id="50" name="TextBox 50"/>
          <p:cNvSpPr txBox="1"/>
          <p:nvPr/>
        </p:nvSpPr>
        <p:spPr>
          <a:xfrm>
            <a:off x="4511040" y="5868352"/>
            <a:ext cx="267200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Separate from optimization method</a:t>
            </a:r>
          </a:p>
        </p:txBody>
      </p:sp>
      <p:sp>
        <p:nvSpPr>
          <p:cNvPr id="51" name="Rectangle 51"/>
          <p:cNvSpPr/>
          <p:nvPr/>
        </p:nvSpPr>
        <p:spPr>
          <a:xfrm>
            <a:off x="8096250" y="5334000"/>
            <a:ext cx="3524250" cy="1047750"/>
          </a:xfrm>
          <a:prstGeom prst="roundRect">
            <a:avLst>
              <a:gd name="adj" fmla="val 10909"/>
            </a:avLst>
          </a:prstGeom>
          <a:solidFill>
            <a:srgbClr val="1E293B"/>
          </a:solidFill>
          <a:ln w="9525">
            <a:solidFill>
              <a:srgbClr val="334155"/>
            </a:solidFill>
          </a:ln>
        </p:spPr>
      </p:sp>
      <p:grpSp>
        <p:nvGrpSpPr>
          <p:cNvPr id="58" name="Group 58"/>
          <p:cNvGrpSpPr/>
          <p:nvPr/>
        </p:nvGrpSpPr>
        <p:grpSpPr>
          <a:xfrm>
            <a:off x="8309744" y="5556910"/>
            <a:ext cx="177031" cy="159018"/>
            <a:chOff x="8309744" y="5556910"/>
            <a:chExt cx="177031" cy="159018"/>
          </a:xfrm>
        </p:grpSpPr>
        <p:sp>
          <p:nvSpPr>
            <p:cNvPr id="52" name="Freeform 52"/>
            <p:cNvSpPr/>
            <p:nvPr/>
          </p:nvSpPr>
          <p:spPr>
            <a:xfrm>
              <a:off x="8309744" y="55569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8B5CF6"/>
            </a:solidFill>
            <a:ln>
              <a:noFill/>
            </a:ln>
          </p:spPr>
        </p:sp>
        <p:sp>
          <p:nvSpPr>
            <p:cNvPr id="53" name="Freeform 53"/>
            <p:cNvSpPr/>
            <p:nvPr/>
          </p:nvSpPr>
          <p:spPr>
            <a:xfrm>
              <a:off x="8309744" y="561406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8B5CF6"/>
            </a:solidFill>
            <a:ln>
              <a:noFill/>
            </a:ln>
          </p:spPr>
        </p:sp>
        <p:sp>
          <p:nvSpPr>
            <p:cNvPr id="54" name="Freeform 54"/>
            <p:cNvSpPr/>
            <p:nvPr/>
          </p:nvSpPr>
          <p:spPr>
            <a:xfrm>
              <a:off x="8309744" y="56712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rgbClr val="8B5CF6"/>
            </a:solidFill>
            <a:ln>
              <a:noFill/>
            </a:ln>
          </p:spPr>
        </p:sp>
        <p:sp>
          <p:nvSpPr>
            <p:cNvPr id="55" name="Freeform 55"/>
            <p:cNvSpPr/>
            <p:nvPr/>
          </p:nvSpPr>
          <p:spPr>
            <a:xfrm>
              <a:off x="8382000" y="55721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8B5CF6"/>
            </a:solidFill>
            <a:ln>
              <a:noFill/>
            </a:ln>
          </p:spPr>
        </p:sp>
        <p:sp>
          <p:nvSpPr>
            <p:cNvPr id="56" name="Freeform 56"/>
            <p:cNvSpPr/>
            <p:nvPr/>
          </p:nvSpPr>
          <p:spPr>
            <a:xfrm>
              <a:off x="8382000" y="562927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8B5CF6"/>
            </a:solidFill>
            <a:ln>
              <a:noFill/>
            </a:ln>
          </p:spPr>
        </p:sp>
        <p:sp>
          <p:nvSpPr>
            <p:cNvPr id="57" name="Freeform 57"/>
            <p:cNvSpPr/>
            <p:nvPr/>
          </p:nvSpPr>
          <p:spPr>
            <a:xfrm>
              <a:off x="8382000" y="56864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rgbClr val="8B5CF6"/>
            </a:solidFill>
            <a:ln>
              <a:noFill/>
            </a:ln>
          </p:spPr>
        </p:sp>
      </p:grpSp>
      <p:sp>
        <p:nvSpPr>
          <p:cNvPr id="59" name="TextBox 59"/>
          <p:cNvSpPr txBox="1"/>
          <p:nvPr/>
        </p:nvSpPr>
        <p:spPr>
          <a:xfrm>
            <a:off x="8577262" y="5574506"/>
            <a:ext cx="2193721" cy="228600"/>
          </a:xfrm>
          <a:prstGeom prst="rect">
            <a:avLst/>
          </a:prstGeom>
          <a:noFill/>
          <a:ln>
            <a:noFill/>
          </a:ln>
        </p:spPr>
        <p:txBody>
          <a:bodyPr wrap="none" lIns="0" tIns="0" rIns="0" bIns="0" anchor="t" anchorCtr="0">
            <a:spAutoFit/>
          </a:bodyPr>
          <a:lstStyle/>
          <a:p>
            <a:pPr algn="l"/>
            <a:r>
              <a:rPr lang="zh-CN" sz="1125" b="1" dirty="0">
                <a:solidFill>
                  <a:srgbClr val="F1F5F9"/>
                </a:solidFill>
                <a:latin typeface="Georgia"/>
                <a:ea typeface="Microsoft YaHei"/>
                <a:cs typeface="Georgia"/>
              </a:rPr>
              <a:t>Generalizes the delta rule</a:t>
            </a:r>
          </a:p>
        </p:txBody>
      </p:sp>
      <p:sp>
        <p:nvSpPr>
          <p:cNvPr id="60" name="TextBox 60"/>
          <p:cNvSpPr txBox="1"/>
          <p:nvPr/>
        </p:nvSpPr>
        <p:spPr>
          <a:xfrm>
            <a:off x="8273415" y="5868352"/>
            <a:ext cx="258765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Works with any number of outputs</a:t>
            </a:r>
          </a:p>
        </p:txBody>
      </p:sp>
      <p:sp>
        <p:nvSpPr>
          <p:cNvPr id="61" name="TextBox 61"/>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12</a:t>
            </a:r>
          </a:p>
        </p:txBody>
      </p:sp>
      <p:pic>
        <p:nvPicPr>
          <p:cNvPr id="62" name="narration12.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0" y="0"/>
            <a:ext cx="1" cy="1"/>
          </a:xfrm>
          <a:prstGeom prst="rect">
            <a:avLst/>
          </a:prstGeom>
        </p:spPr>
      </p:pic>
    </p:spTree>
  </p:cSld>
  <p:clrMapOvr>
    <a:masterClrMapping/>
  </p:clrMapOvr>
  <p:transition xmlns:p14="http://schemas.microsoft.com/office/powerpoint/2010/main" p14:dur="400" advTm="56444">
    <p:fade/>
  </p:transition>
  <p:timing>
    <p:tnLst>
      <p:par>
        <p:cTn id="1" dur="indefinite" restart="never" nodeType="tmRoot">
          <p:childTnLst>
            <p:audio>
              <p:cMediaNode vol="80000">
                <p:cTn id="2" fill="hold" display="0">
                  <p:stCondLst>
                    <p:cond delay="0"/>
                  </p:stCondLst>
                </p:cTn>
                <p:tgtEl>
                  <p:spTgt spid="6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542925" y="614362"/>
            <a:ext cx="7682603"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Standard BP vs Backpropagation Through Time</a:t>
            </a:r>
          </a:p>
        </p:txBody>
      </p:sp>
      <p:sp>
        <p:nvSpPr>
          <p:cNvPr id="5" name="Rectangle 5"/>
          <p:cNvSpPr/>
          <p:nvPr/>
        </p:nvSpPr>
        <p:spPr>
          <a:xfrm>
            <a:off x="571500" y="1143000"/>
            <a:ext cx="5381625" cy="2286000"/>
          </a:xfrm>
          <a:prstGeom prst="roundRect">
            <a:avLst>
              <a:gd name="adj" fmla="val 5000"/>
            </a:avLst>
          </a:prstGeom>
          <a:solidFill>
            <a:srgbClr val="1E293B"/>
          </a:solidFill>
          <a:ln w="14288">
            <a:solidFill>
              <a:srgbClr val="3B82F6"/>
            </a:solidFill>
          </a:ln>
        </p:spPr>
      </p:sp>
      <p:sp>
        <p:nvSpPr>
          <p:cNvPr id="6" name="Rectangle 6"/>
          <p:cNvSpPr/>
          <p:nvPr/>
        </p:nvSpPr>
        <p:spPr>
          <a:xfrm>
            <a:off x="571500" y="1143000"/>
            <a:ext cx="5381625" cy="57150"/>
          </a:xfrm>
          <a:prstGeom prst="roundRect">
            <a:avLst>
              <a:gd name="adj" fmla="val 50000"/>
            </a:avLst>
          </a:prstGeom>
          <a:solidFill>
            <a:srgbClr val="3B82F6"/>
          </a:solidFill>
          <a:ln>
            <a:noFill/>
          </a:ln>
        </p:spPr>
      </p:sp>
      <p:sp>
        <p:nvSpPr>
          <p:cNvPr id="7" name="Freeform 7"/>
          <p:cNvSpPr/>
          <p:nvPr/>
        </p:nvSpPr>
        <p:spPr>
          <a:xfrm>
            <a:off x="794133" y="1414462"/>
            <a:ext cx="202803" cy="200410"/>
          </a:xfrm>
          <a:custGeom>
            <a:avLst/>
            <a:gdLst/>
            <a:ahLst/>
            <a:cxnLst/>
            <a:rect l="l" t="t" r="r" b="b"/>
            <a:pathLst>
              <a:path w="202803" h="200410">
                <a:moveTo>
                  <a:pt x="200052" y="139495"/>
                </a:moveTo>
                <a:cubicBezTo>
                  <a:pt x="202792" y="144982"/>
                  <a:pt x="200569" y="151652"/>
                  <a:pt x="195084" y="154397"/>
                </a:cubicBezTo>
                <a:lnTo>
                  <a:pt x="106184" y="198847"/>
                </a:lnTo>
                <a:cubicBezTo>
                  <a:pt x="103057" y="200410"/>
                  <a:pt x="99377" y="200410"/>
                  <a:pt x="96250" y="198847"/>
                </a:cubicBezTo>
                <a:lnTo>
                  <a:pt x="7350" y="154397"/>
                </a:lnTo>
                <a:cubicBezTo>
                  <a:pt x="2066" y="151548"/>
                  <a:pt x="0" y="145016"/>
                  <a:pt x="2685" y="139646"/>
                </a:cubicBezTo>
                <a:cubicBezTo>
                  <a:pt x="5370" y="134277"/>
                  <a:pt x="11834" y="132010"/>
                  <a:pt x="17284" y="134528"/>
                </a:cubicBezTo>
                <a:lnTo>
                  <a:pt x="101217" y="176467"/>
                </a:lnTo>
                <a:lnTo>
                  <a:pt x="185161" y="134517"/>
                </a:lnTo>
                <a:cubicBezTo>
                  <a:pt x="190648" y="131777"/>
                  <a:pt x="197317" y="134000"/>
                  <a:pt x="200063" y="139484"/>
                </a:cubicBezTo>
                <a:moveTo>
                  <a:pt x="200063" y="95034"/>
                </a:moveTo>
                <a:cubicBezTo>
                  <a:pt x="202803" y="100521"/>
                  <a:pt x="200580" y="107191"/>
                  <a:pt x="195095" y="109936"/>
                </a:cubicBezTo>
                <a:lnTo>
                  <a:pt x="106195" y="154386"/>
                </a:lnTo>
                <a:cubicBezTo>
                  <a:pt x="103068" y="155949"/>
                  <a:pt x="99388" y="155949"/>
                  <a:pt x="96261" y="154386"/>
                </a:cubicBezTo>
                <a:lnTo>
                  <a:pt x="7361" y="109936"/>
                </a:lnTo>
                <a:cubicBezTo>
                  <a:pt x="2077" y="107086"/>
                  <a:pt x="11" y="100555"/>
                  <a:pt x="2696" y="95185"/>
                </a:cubicBezTo>
                <a:cubicBezTo>
                  <a:pt x="5381" y="89816"/>
                  <a:pt x="11845" y="87549"/>
                  <a:pt x="17295" y="90067"/>
                </a:cubicBezTo>
                <a:lnTo>
                  <a:pt x="101217" y="132017"/>
                </a:lnTo>
                <a:lnTo>
                  <a:pt x="185161" y="90067"/>
                </a:lnTo>
                <a:cubicBezTo>
                  <a:pt x="190648" y="87327"/>
                  <a:pt x="197317" y="89550"/>
                  <a:pt x="200063" y="95034"/>
                </a:cubicBezTo>
                <a:moveTo>
                  <a:pt x="101306" y="0"/>
                </a:moveTo>
                <a:cubicBezTo>
                  <a:pt x="101721" y="0"/>
                  <a:pt x="102132" y="26"/>
                  <a:pt x="102539" y="78"/>
                </a:cubicBezTo>
                <a:lnTo>
                  <a:pt x="103773" y="300"/>
                </a:lnTo>
                <a:lnTo>
                  <a:pt x="104729" y="567"/>
                </a:lnTo>
                <a:lnTo>
                  <a:pt x="104862" y="633"/>
                </a:lnTo>
                <a:lnTo>
                  <a:pt x="104995" y="656"/>
                </a:lnTo>
                <a:lnTo>
                  <a:pt x="105318" y="811"/>
                </a:lnTo>
                <a:lnTo>
                  <a:pt x="105873" y="1022"/>
                </a:lnTo>
                <a:lnTo>
                  <a:pt x="106051" y="1122"/>
                </a:lnTo>
                <a:lnTo>
                  <a:pt x="106184" y="1178"/>
                </a:lnTo>
                <a:lnTo>
                  <a:pt x="195084" y="45628"/>
                </a:lnTo>
                <a:cubicBezTo>
                  <a:pt x="198844" y="47512"/>
                  <a:pt x="201218" y="51357"/>
                  <a:pt x="201218" y="55563"/>
                </a:cubicBezTo>
                <a:cubicBezTo>
                  <a:pt x="201218" y="59768"/>
                  <a:pt x="198844" y="63613"/>
                  <a:pt x="195084" y="65497"/>
                </a:cubicBezTo>
                <a:lnTo>
                  <a:pt x="106184" y="109947"/>
                </a:lnTo>
                <a:cubicBezTo>
                  <a:pt x="103057" y="111510"/>
                  <a:pt x="99377" y="111510"/>
                  <a:pt x="96250" y="109947"/>
                </a:cubicBezTo>
                <a:lnTo>
                  <a:pt x="7350" y="65497"/>
                </a:lnTo>
                <a:cubicBezTo>
                  <a:pt x="3590" y="63613"/>
                  <a:pt x="1216" y="59768"/>
                  <a:pt x="1216" y="55563"/>
                </a:cubicBezTo>
                <a:cubicBezTo>
                  <a:pt x="1216" y="51357"/>
                  <a:pt x="3590" y="47512"/>
                  <a:pt x="7350" y="45628"/>
                </a:cubicBezTo>
                <a:lnTo>
                  <a:pt x="96250" y="1178"/>
                </a:lnTo>
                <a:lnTo>
                  <a:pt x="96372" y="1122"/>
                </a:lnTo>
                <a:lnTo>
                  <a:pt x="96572" y="1011"/>
                </a:lnTo>
                <a:lnTo>
                  <a:pt x="97439" y="656"/>
                </a:lnTo>
                <a:lnTo>
                  <a:pt x="97561" y="633"/>
                </a:lnTo>
                <a:lnTo>
                  <a:pt x="97705" y="567"/>
                </a:lnTo>
                <a:lnTo>
                  <a:pt x="98661" y="300"/>
                </a:lnTo>
                <a:lnTo>
                  <a:pt x="99884" y="78"/>
                </a:lnTo>
                <a:lnTo>
                  <a:pt x="100506" y="22"/>
                </a:lnTo>
                <a:close/>
              </a:path>
            </a:pathLst>
          </a:custGeom>
          <a:solidFill>
            <a:srgbClr val="3B82F6"/>
          </a:solidFill>
          <a:ln>
            <a:noFill/>
          </a:ln>
        </p:spPr>
      </p:sp>
      <p:sp>
        <p:nvSpPr>
          <p:cNvPr id="8" name="TextBox 8"/>
          <p:cNvSpPr txBox="1"/>
          <p:nvPr/>
        </p:nvSpPr>
        <p:spPr>
          <a:xfrm>
            <a:off x="1104900" y="1428750"/>
            <a:ext cx="2959465"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Georgia"/>
                <a:ea typeface="Microsoft YaHei"/>
                <a:cs typeface="Georgia"/>
              </a:rPr>
              <a:t>Standard Backpropagation</a:t>
            </a:r>
          </a:p>
        </p:txBody>
      </p:sp>
      <p:sp>
        <p:nvSpPr>
          <p:cNvPr id="9" name="TextBox 9"/>
          <p:cNvSpPr txBox="1"/>
          <p:nvPr/>
        </p:nvSpPr>
        <p:spPr>
          <a:xfrm>
            <a:off x="747712" y="1783556"/>
            <a:ext cx="470308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Applies to feedforward networks (directed acyclic graph)</a:t>
            </a:r>
          </a:p>
        </p:txBody>
      </p:sp>
      <p:sp>
        <p:nvSpPr>
          <p:cNvPr id="10" name="TextBox 10"/>
          <p:cNvSpPr txBox="1"/>
          <p:nvPr/>
        </p:nvSpPr>
        <p:spPr>
          <a:xfrm>
            <a:off x="747712" y="2012156"/>
            <a:ext cx="360223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Chain rule applied recursively through layers</a:t>
            </a:r>
          </a:p>
        </p:txBody>
      </p:sp>
      <p:sp>
        <p:nvSpPr>
          <p:cNvPr id="11" name="TextBox 11"/>
          <p:cNvSpPr txBox="1"/>
          <p:nvPr/>
        </p:nvSpPr>
        <p:spPr>
          <a:xfrm>
            <a:off x="747712" y="2240756"/>
            <a:ext cx="433339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Static input-output mapping, no temporal dependency</a:t>
            </a:r>
          </a:p>
        </p:txBody>
      </p:sp>
      <p:sp>
        <p:nvSpPr>
          <p:cNvPr id="12" name="Rectangle 12"/>
          <p:cNvSpPr/>
          <p:nvPr/>
        </p:nvSpPr>
        <p:spPr>
          <a:xfrm>
            <a:off x="952500" y="2667000"/>
            <a:ext cx="476250" cy="285750"/>
          </a:xfrm>
          <a:prstGeom prst="roundRect">
            <a:avLst>
              <a:gd name="adj" fmla="val 20000"/>
            </a:avLst>
          </a:prstGeom>
          <a:solidFill>
            <a:srgbClr val="3B82F6">
              <a:alpha val="20000"/>
            </a:srgbClr>
          </a:solidFill>
          <a:ln w="9525">
            <a:solidFill>
              <a:srgbClr val="3B82F6"/>
            </a:solidFill>
          </a:ln>
        </p:spPr>
      </p:sp>
      <p:sp>
        <p:nvSpPr>
          <p:cNvPr id="13" name="TextBox 13"/>
          <p:cNvSpPr txBox="1"/>
          <p:nvPr/>
        </p:nvSpPr>
        <p:spPr>
          <a:xfrm>
            <a:off x="1128939" y="2768441"/>
            <a:ext cx="123373" cy="167640"/>
          </a:xfrm>
          <a:prstGeom prst="rect">
            <a:avLst/>
          </a:prstGeom>
          <a:noFill/>
          <a:ln>
            <a:noFill/>
          </a:ln>
        </p:spPr>
        <p:txBody>
          <a:bodyPr wrap="none" lIns="0" tIns="0" rIns="0" bIns="0" anchor="t" anchorCtr="0">
            <a:spAutoFit/>
          </a:bodyPr>
          <a:lstStyle/>
          <a:p>
            <a:pPr algn="ctr"/>
            <a:r>
              <a:rPr lang="zh-CN" sz="825" dirty="0">
                <a:solidFill>
                  <a:srgbClr val="3B82F6"/>
                </a:solidFill>
                <a:latin typeface="Consolas"/>
                <a:ea typeface="Microsoft YaHei"/>
                <a:cs typeface="Consolas"/>
              </a:rPr>
              <a:t>In</a:t>
            </a:r>
          </a:p>
        </p:txBody>
      </p:sp>
      <p:sp>
        <p:nvSpPr>
          <p:cNvPr id="14" name="Line 14"/>
          <p:cNvSpPr/>
          <p:nvPr/>
        </p:nvSpPr>
        <p:spPr>
          <a:xfrm>
            <a:off x="1428750" y="2809875"/>
            <a:ext cx="381000" cy="9525"/>
          </a:xfrm>
          <a:custGeom>
            <a:avLst/>
            <a:gdLst/>
            <a:ahLst/>
            <a:cxnLst/>
            <a:rect l="l" t="t" r="r" b="b"/>
            <a:pathLst>
              <a:path w="381000" h="9525">
                <a:moveTo>
                  <a:pt x="0" y="0"/>
                </a:moveTo>
                <a:lnTo>
                  <a:pt x="381000" y="0"/>
                </a:lnTo>
              </a:path>
            </a:pathLst>
          </a:custGeom>
          <a:noFill/>
          <a:ln w="14288">
            <a:solidFill>
              <a:srgbClr val="3B82F6"/>
            </a:solidFill>
          </a:ln>
        </p:spPr>
      </p:sp>
      <p:sp>
        <p:nvSpPr>
          <p:cNvPr id="15" name="Polygon 15"/>
          <p:cNvSpPr/>
          <p:nvPr/>
        </p:nvSpPr>
        <p:spPr>
          <a:xfrm>
            <a:off x="1809750" y="2771775"/>
            <a:ext cx="76200" cy="76200"/>
          </a:xfrm>
          <a:custGeom>
            <a:avLst/>
            <a:gdLst/>
            <a:ahLst/>
            <a:cxnLst/>
            <a:rect l="l" t="t" r="r" b="b"/>
            <a:pathLst>
              <a:path w="76200" h="76200">
                <a:moveTo>
                  <a:pt x="0" y="0"/>
                </a:moveTo>
                <a:lnTo>
                  <a:pt x="76200" y="38100"/>
                </a:lnTo>
                <a:lnTo>
                  <a:pt x="0" y="76200"/>
                </a:lnTo>
                <a:close/>
              </a:path>
            </a:pathLst>
          </a:custGeom>
          <a:solidFill>
            <a:srgbClr val="3B82F6"/>
          </a:solidFill>
          <a:ln>
            <a:noFill/>
          </a:ln>
        </p:spPr>
      </p:sp>
      <p:sp>
        <p:nvSpPr>
          <p:cNvPr id="16" name="Rectangle 16"/>
          <p:cNvSpPr/>
          <p:nvPr/>
        </p:nvSpPr>
        <p:spPr>
          <a:xfrm>
            <a:off x="1905000" y="2667000"/>
            <a:ext cx="476250" cy="285750"/>
          </a:xfrm>
          <a:prstGeom prst="roundRect">
            <a:avLst>
              <a:gd name="adj" fmla="val 20000"/>
            </a:avLst>
          </a:prstGeom>
          <a:solidFill>
            <a:srgbClr val="8B5CF6">
              <a:alpha val="20000"/>
            </a:srgbClr>
          </a:solidFill>
          <a:ln w="9525">
            <a:solidFill>
              <a:srgbClr val="8B5CF6"/>
            </a:solidFill>
          </a:ln>
        </p:spPr>
      </p:sp>
      <p:sp>
        <p:nvSpPr>
          <p:cNvPr id="17" name="TextBox 17"/>
          <p:cNvSpPr txBox="1"/>
          <p:nvPr/>
        </p:nvSpPr>
        <p:spPr>
          <a:xfrm>
            <a:off x="2099512" y="2768441"/>
            <a:ext cx="87225" cy="167640"/>
          </a:xfrm>
          <a:prstGeom prst="rect">
            <a:avLst/>
          </a:prstGeom>
          <a:noFill/>
          <a:ln>
            <a:noFill/>
          </a:ln>
        </p:spPr>
        <p:txBody>
          <a:bodyPr wrap="none" lIns="0" tIns="0" rIns="0" bIns="0" anchor="t" anchorCtr="0">
            <a:spAutoFit/>
          </a:bodyPr>
          <a:lstStyle/>
          <a:p>
            <a:pPr algn="ctr"/>
            <a:r>
              <a:rPr lang="zh-CN" sz="825" dirty="0">
                <a:solidFill>
                  <a:srgbClr val="8B5CF6"/>
                </a:solidFill>
                <a:latin typeface="Consolas"/>
                <a:ea typeface="Microsoft YaHei"/>
                <a:cs typeface="Consolas"/>
              </a:rPr>
              <a:t>H</a:t>
            </a:r>
          </a:p>
        </p:txBody>
      </p:sp>
      <p:sp>
        <p:nvSpPr>
          <p:cNvPr id="18" name="Line 18"/>
          <p:cNvSpPr/>
          <p:nvPr/>
        </p:nvSpPr>
        <p:spPr>
          <a:xfrm>
            <a:off x="2381250" y="2809875"/>
            <a:ext cx="381000" cy="9525"/>
          </a:xfrm>
          <a:custGeom>
            <a:avLst/>
            <a:gdLst/>
            <a:ahLst/>
            <a:cxnLst/>
            <a:rect l="l" t="t" r="r" b="b"/>
            <a:pathLst>
              <a:path w="381000" h="9525">
                <a:moveTo>
                  <a:pt x="0" y="0"/>
                </a:moveTo>
                <a:lnTo>
                  <a:pt x="381000" y="0"/>
                </a:lnTo>
              </a:path>
            </a:pathLst>
          </a:custGeom>
          <a:noFill/>
          <a:ln w="14288">
            <a:solidFill>
              <a:srgbClr val="8B5CF6"/>
            </a:solidFill>
          </a:ln>
        </p:spPr>
      </p:sp>
      <p:sp>
        <p:nvSpPr>
          <p:cNvPr id="19" name="Polygon 19"/>
          <p:cNvSpPr/>
          <p:nvPr/>
        </p:nvSpPr>
        <p:spPr>
          <a:xfrm>
            <a:off x="2762250" y="2771775"/>
            <a:ext cx="76200" cy="76200"/>
          </a:xfrm>
          <a:custGeom>
            <a:avLst/>
            <a:gdLst/>
            <a:ahLst/>
            <a:cxnLst/>
            <a:rect l="l" t="t" r="r" b="b"/>
            <a:pathLst>
              <a:path w="76200" h="76200">
                <a:moveTo>
                  <a:pt x="0" y="0"/>
                </a:moveTo>
                <a:lnTo>
                  <a:pt x="76200" y="38100"/>
                </a:lnTo>
                <a:lnTo>
                  <a:pt x="0" y="76200"/>
                </a:lnTo>
                <a:close/>
              </a:path>
            </a:pathLst>
          </a:custGeom>
          <a:solidFill>
            <a:srgbClr val="8B5CF6"/>
          </a:solidFill>
          <a:ln>
            <a:noFill/>
          </a:ln>
        </p:spPr>
      </p:sp>
      <p:sp>
        <p:nvSpPr>
          <p:cNvPr id="20" name="Rectangle 20"/>
          <p:cNvSpPr/>
          <p:nvPr/>
        </p:nvSpPr>
        <p:spPr>
          <a:xfrm>
            <a:off x="2857500" y="2667000"/>
            <a:ext cx="476250" cy="285750"/>
          </a:xfrm>
          <a:prstGeom prst="roundRect">
            <a:avLst>
              <a:gd name="adj" fmla="val 20000"/>
            </a:avLst>
          </a:prstGeom>
          <a:solidFill>
            <a:srgbClr val="10B981">
              <a:alpha val="20000"/>
            </a:srgbClr>
          </a:solidFill>
          <a:ln w="9525">
            <a:solidFill>
              <a:srgbClr val="10B981"/>
            </a:solidFill>
          </a:ln>
        </p:spPr>
      </p:sp>
      <p:sp>
        <p:nvSpPr>
          <p:cNvPr id="21" name="TextBox 21"/>
          <p:cNvSpPr txBox="1"/>
          <p:nvPr/>
        </p:nvSpPr>
        <p:spPr>
          <a:xfrm>
            <a:off x="2973693" y="2768441"/>
            <a:ext cx="243864" cy="167640"/>
          </a:xfrm>
          <a:prstGeom prst="rect">
            <a:avLst/>
          </a:prstGeom>
          <a:noFill/>
          <a:ln>
            <a:noFill/>
          </a:ln>
        </p:spPr>
        <p:txBody>
          <a:bodyPr wrap="none" lIns="0" tIns="0" rIns="0" bIns="0" anchor="t" anchorCtr="0">
            <a:spAutoFit/>
          </a:bodyPr>
          <a:lstStyle/>
          <a:p>
            <a:pPr algn="ctr"/>
            <a:r>
              <a:rPr lang="zh-CN" sz="825" dirty="0">
                <a:solidFill>
                  <a:srgbClr val="10B981"/>
                </a:solidFill>
                <a:latin typeface="Consolas"/>
                <a:ea typeface="Microsoft YaHei"/>
                <a:cs typeface="Consolas"/>
              </a:rPr>
              <a:t>Out</a:t>
            </a:r>
          </a:p>
        </p:txBody>
      </p:sp>
      <p:sp>
        <p:nvSpPr>
          <p:cNvPr id="22" name="Rectangle 22"/>
          <p:cNvSpPr/>
          <p:nvPr/>
        </p:nvSpPr>
        <p:spPr>
          <a:xfrm>
            <a:off x="6238875" y="1143000"/>
            <a:ext cx="5381625" cy="2286000"/>
          </a:xfrm>
          <a:prstGeom prst="roundRect">
            <a:avLst>
              <a:gd name="adj" fmla="val 5000"/>
            </a:avLst>
          </a:prstGeom>
          <a:solidFill>
            <a:srgbClr val="1E293B"/>
          </a:solidFill>
          <a:ln w="14288">
            <a:solidFill>
              <a:srgbClr val="22D3EE"/>
            </a:solidFill>
          </a:ln>
        </p:spPr>
      </p:sp>
      <p:sp>
        <p:nvSpPr>
          <p:cNvPr id="23" name="Rectangle 23"/>
          <p:cNvSpPr/>
          <p:nvPr/>
        </p:nvSpPr>
        <p:spPr>
          <a:xfrm>
            <a:off x="6238875" y="1143000"/>
            <a:ext cx="5381625" cy="57150"/>
          </a:xfrm>
          <a:prstGeom prst="roundRect">
            <a:avLst>
              <a:gd name="adj" fmla="val 50000"/>
            </a:avLst>
          </a:prstGeom>
          <a:solidFill>
            <a:srgbClr val="22D3EE"/>
          </a:solidFill>
          <a:ln>
            <a:noFill/>
          </a:ln>
        </p:spPr>
      </p:sp>
      <p:sp>
        <p:nvSpPr>
          <p:cNvPr id="24" name="Freeform 24"/>
          <p:cNvSpPr/>
          <p:nvPr/>
        </p:nvSpPr>
        <p:spPr>
          <a:xfrm>
            <a:off x="6451600" y="1398372"/>
            <a:ext cx="233696" cy="234079"/>
          </a:xfrm>
          <a:custGeom>
            <a:avLst/>
            <a:gdLst/>
            <a:ahLst/>
            <a:cxnLst/>
            <a:rect l="l" t="t" r="r" b="b"/>
            <a:pathLst>
              <a:path w="233696" h="234079">
                <a:moveTo>
                  <a:pt x="166688" y="19868"/>
                </a:moveTo>
                <a:cubicBezTo>
                  <a:pt x="212998" y="46607"/>
                  <a:pt x="233696" y="102539"/>
                  <a:pt x="215949" y="152983"/>
                </a:cubicBezTo>
                <a:cubicBezTo>
                  <a:pt x="198202" y="203428"/>
                  <a:pt x="147043" y="234079"/>
                  <a:pt x="94192" y="225932"/>
                </a:cubicBezTo>
                <a:cubicBezTo>
                  <a:pt x="41341" y="217785"/>
                  <a:pt x="1788" y="173150"/>
                  <a:pt x="56" y="119703"/>
                </a:cubicBezTo>
                <a:lnTo>
                  <a:pt x="0" y="116103"/>
                </a:lnTo>
                <a:lnTo>
                  <a:pt x="56" y="112502"/>
                </a:lnTo>
                <a:cubicBezTo>
                  <a:pt x="1321" y="73464"/>
                  <a:pt x="22990" y="37956"/>
                  <a:pt x="57128" y="18978"/>
                </a:cubicBezTo>
                <a:cubicBezTo>
                  <a:pt x="91267" y="0"/>
                  <a:pt x="132862" y="338"/>
                  <a:pt x="166687" y="19868"/>
                </a:cubicBezTo>
                <a:close/>
                <a:moveTo>
                  <a:pt x="111125" y="49428"/>
                </a:moveTo>
                <a:cubicBezTo>
                  <a:pt x="105491" y="49428"/>
                  <a:pt x="100749" y="53645"/>
                  <a:pt x="100090" y="59240"/>
                </a:cubicBezTo>
                <a:lnTo>
                  <a:pt x="100012" y="60540"/>
                </a:lnTo>
                <a:lnTo>
                  <a:pt x="100012" y="116103"/>
                </a:lnTo>
                <a:lnTo>
                  <a:pt x="100113" y="117558"/>
                </a:lnTo>
                <a:cubicBezTo>
                  <a:pt x="100366" y="119486"/>
                  <a:pt x="101121" y="121314"/>
                  <a:pt x="102302" y="122859"/>
                </a:cubicBezTo>
                <a:lnTo>
                  <a:pt x="103268" y="123970"/>
                </a:lnTo>
                <a:lnTo>
                  <a:pt x="136606" y="157308"/>
                </a:lnTo>
                <a:lnTo>
                  <a:pt x="137651" y="158219"/>
                </a:lnTo>
                <a:cubicBezTo>
                  <a:pt x="141659" y="161329"/>
                  <a:pt x="147266" y="161329"/>
                  <a:pt x="151274" y="158219"/>
                </a:cubicBezTo>
                <a:lnTo>
                  <a:pt x="152319" y="157297"/>
                </a:lnTo>
                <a:lnTo>
                  <a:pt x="153241" y="156252"/>
                </a:lnTo>
                <a:cubicBezTo>
                  <a:pt x="156352" y="152243"/>
                  <a:pt x="156352" y="146637"/>
                  <a:pt x="153241" y="142628"/>
                </a:cubicBezTo>
                <a:lnTo>
                  <a:pt x="152319" y="141584"/>
                </a:lnTo>
                <a:lnTo>
                  <a:pt x="122237" y="111491"/>
                </a:lnTo>
                <a:lnTo>
                  <a:pt x="122237" y="60540"/>
                </a:lnTo>
                <a:lnTo>
                  <a:pt x="122160" y="59240"/>
                </a:lnTo>
                <a:cubicBezTo>
                  <a:pt x="121501" y="53645"/>
                  <a:pt x="116759" y="49428"/>
                  <a:pt x="111125" y="49428"/>
                </a:cubicBezTo>
                <a:close/>
              </a:path>
            </a:pathLst>
          </a:custGeom>
          <a:solidFill>
            <a:srgbClr val="22D3EE"/>
          </a:solidFill>
          <a:ln>
            <a:noFill/>
          </a:ln>
        </p:spPr>
      </p:sp>
      <p:sp>
        <p:nvSpPr>
          <p:cNvPr id="25" name="TextBox 25"/>
          <p:cNvSpPr txBox="1"/>
          <p:nvPr/>
        </p:nvSpPr>
        <p:spPr>
          <a:xfrm>
            <a:off x="6772275" y="1428750"/>
            <a:ext cx="3396520" cy="304800"/>
          </a:xfrm>
          <a:prstGeom prst="rect">
            <a:avLst/>
          </a:prstGeom>
          <a:noFill/>
          <a:ln>
            <a:noFill/>
          </a:ln>
        </p:spPr>
        <p:txBody>
          <a:bodyPr wrap="none" lIns="0" tIns="0" rIns="0" bIns="0" anchor="t" anchorCtr="0">
            <a:spAutoFit/>
          </a:bodyPr>
          <a:lstStyle/>
          <a:p>
            <a:pPr algn="l"/>
            <a:r>
              <a:rPr lang="zh-CN" sz="1500" b="1" dirty="0">
                <a:solidFill>
                  <a:srgbClr val="22D3EE"/>
                </a:solidFill>
                <a:latin typeface="Georgia"/>
                <a:ea typeface="Microsoft YaHei"/>
                <a:cs typeface="Georgia"/>
              </a:rPr>
              <a:t>Backpropagation Through Time</a:t>
            </a:r>
          </a:p>
        </p:txBody>
      </p:sp>
      <p:sp>
        <p:nvSpPr>
          <p:cNvPr id="26" name="TextBox 26"/>
          <p:cNvSpPr txBox="1"/>
          <p:nvPr/>
        </p:nvSpPr>
        <p:spPr>
          <a:xfrm>
            <a:off x="6415088" y="1783556"/>
            <a:ext cx="438269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"Unrolls" recurrent neural network across time steps</a:t>
            </a:r>
          </a:p>
        </p:txBody>
      </p:sp>
      <p:sp>
        <p:nvSpPr>
          <p:cNvPr id="27" name="TextBox 27"/>
          <p:cNvSpPr txBox="1"/>
          <p:nvPr/>
        </p:nvSpPr>
        <p:spPr>
          <a:xfrm>
            <a:off x="6415088" y="2012156"/>
            <a:ext cx="389798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Treats unrolled RNN as feedforward for training</a:t>
            </a:r>
          </a:p>
        </p:txBody>
      </p:sp>
      <p:sp>
        <p:nvSpPr>
          <p:cNvPr id="28" name="TextBox 28"/>
          <p:cNvSpPr txBox="1"/>
          <p:nvPr/>
        </p:nvSpPr>
        <p:spPr>
          <a:xfrm>
            <a:off x="6415088" y="2240756"/>
            <a:ext cx="329826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Handles sequential, time-dependent data</a:t>
            </a:r>
          </a:p>
        </p:txBody>
      </p:sp>
      <p:sp>
        <p:nvSpPr>
          <p:cNvPr id="29" name="Rectangle 29"/>
          <p:cNvSpPr/>
          <p:nvPr/>
        </p:nvSpPr>
        <p:spPr>
          <a:xfrm>
            <a:off x="6619875" y="2667000"/>
            <a:ext cx="419100" cy="266700"/>
          </a:xfrm>
          <a:prstGeom prst="roundRect">
            <a:avLst>
              <a:gd name="adj" fmla="val 17857"/>
            </a:avLst>
          </a:prstGeom>
          <a:solidFill>
            <a:srgbClr val="22D3EE">
              <a:alpha val="20000"/>
            </a:srgbClr>
          </a:solidFill>
          <a:ln w="9525">
            <a:solidFill>
              <a:srgbClr val="22D3EE"/>
            </a:solidFill>
          </a:ln>
        </p:spPr>
      </p:sp>
      <p:sp>
        <p:nvSpPr>
          <p:cNvPr id="30" name="TextBox 30"/>
          <p:cNvSpPr txBox="1"/>
          <p:nvPr/>
        </p:nvSpPr>
        <p:spPr>
          <a:xfrm>
            <a:off x="6773347" y="2767012"/>
            <a:ext cx="112157" cy="152400"/>
          </a:xfrm>
          <a:prstGeom prst="rect">
            <a:avLst/>
          </a:prstGeom>
          <a:noFill/>
          <a:ln>
            <a:noFill/>
          </a:ln>
        </p:spPr>
        <p:txBody>
          <a:bodyPr wrap="none" lIns="0" tIns="0" rIns="0" bIns="0" anchor="t" anchorCtr="0">
            <a:spAutoFit/>
          </a:bodyPr>
          <a:lstStyle/>
          <a:p>
            <a:pPr algn="ctr"/>
            <a:r>
              <a:rPr lang="zh-CN" sz="750" dirty="0">
                <a:solidFill>
                  <a:srgbClr val="22D3EE"/>
                </a:solidFill>
                <a:latin typeface="Consolas"/>
                <a:ea typeface="Microsoft YaHei"/>
                <a:cs typeface="Consolas"/>
              </a:rPr>
              <a:t>t1</a:t>
            </a:r>
          </a:p>
        </p:txBody>
      </p:sp>
      <p:sp>
        <p:nvSpPr>
          <p:cNvPr id="31" name="Line 31"/>
          <p:cNvSpPr/>
          <p:nvPr/>
        </p:nvSpPr>
        <p:spPr>
          <a:xfrm>
            <a:off x="7038975" y="2800350"/>
            <a:ext cx="219075" cy="9525"/>
          </a:xfrm>
          <a:custGeom>
            <a:avLst/>
            <a:gdLst/>
            <a:ahLst/>
            <a:cxnLst/>
            <a:rect l="l" t="t" r="r" b="b"/>
            <a:pathLst>
              <a:path w="219075" h="9525">
                <a:moveTo>
                  <a:pt x="0" y="0"/>
                </a:moveTo>
                <a:lnTo>
                  <a:pt x="219075" y="0"/>
                </a:lnTo>
              </a:path>
            </a:pathLst>
          </a:custGeom>
          <a:noFill/>
          <a:ln w="9525">
            <a:solidFill>
              <a:srgbClr val="22D3EE"/>
            </a:solidFill>
          </a:ln>
        </p:spPr>
      </p:sp>
      <p:sp>
        <p:nvSpPr>
          <p:cNvPr id="32" name="Rectangle 32"/>
          <p:cNvSpPr/>
          <p:nvPr/>
        </p:nvSpPr>
        <p:spPr>
          <a:xfrm>
            <a:off x="7286625" y="2667000"/>
            <a:ext cx="419100" cy="266700"/>
          </a:xfrm>
          <a:prstGeom prst="roundRect">
            <a:avLst>
              <a:gd name="adj" fmla="val 17857"/>
            </a:avLst>
          </a:prstGeom>
          <a:solidFill>
            <a:srgbClr val="22D3EE">
              <a:alpha val="20000"/>
            </a:srgbClr>
          </a:solidFill>
          <a:ln w="9525">
            <a:solidFill>
              <a:srgbClr val="22D3EE"/>
            </a:solidFill>
          </a:ln>
        </p:spPr>
      </p:sp>
      <p:sp>
        <p:nvSpPr>
          <p:cNvPr id="33" name="TextBox 33"/>
          <p:cNvSpPr txBox="1"/>
          <p:nvPr/>
        </p:nvSpPr>
        <p:spPr>
          <a:xfrm>
            <a:off x="7426404" y="2767012"/>
            <a:ext cx="139541" cy="152400"/>
          </a:xfrm>
          <a:prstGeom prst="rect">
            <a:avLst/>
          </a:prstGeom>
          <a:noFill/>
          <a:ln>
            <a:noFill/>
          </a:ln>
        </p:spPr>
        <p:txBody>
          <a:bodyPr wrap="none" lIns="0" tIns="0" rIns="0" bIns="0" anchor="t" anchorCtr="0">
            <a:spAutoFit/>
          </a:bodyPr>
          <a:lstStyle/>
          <a:p>
            <a:pPr algn="ctr"/>
            <a:r>
              <a:rPr lang="zh-CN" sz="750" dirty="0">
                <a:solidFill>
                  <a:srgbClr val="22D3EE"/>
                </a:solidFill>
                <a:latin typeface="Consolas"/>
                <a:ea typeface="Microsoft YaHei"/>
                <a:cs typeface="Consolas"/>
              </a:rPr>
              <a:t>t2</a:t>
            </a:r>
          </a:p>
        </p:txBody>
      </p:sp>
      <p:sp>
        <p:nvSpPr>
          <p:cNvPr id="34" name="Line 34"/>
          <p:cNvSpPr/>
          <p:nvPr/>
        </p:nvSpPr>
        <p:spPr>
          <a:xfrm>
            <a:off x="7705725" y="2800350"/>
            <a:ext cx="219075" cy="9525"/>
          </a:xfrm>
          <a:custGeom>
            <a:avLst/>
            <a:gdLst/>
            <a:ahLst/>
            <a:cxnLst/>
            <a:rect l="l" t="t" r="r" b="b"/>
            <a:pathLst>
              <a:path w="219075" h="9525">
                <a:moveTo>
                  <a:pt x="0" y="0"/>
                </a:moveTo>
                <a:lnTo>
                  <a:pt x="219075" y="0"/>
                </a:lnTo>
              </a:path>
            </a:pathLst>
          </a:custGeom>
          <a:noFill/>
          <a:ln w="9525">
            <a:solidFill>
              <a:srgbClr val="22D3EE"/>
            </a:solidFill>
          </a:ln>
        </p:spPr>
      </p:sp>
      <p:sp>
        <p:nvSpPr>
          <p:cNvPr id="35" name="Rectangle 35"/>
          <p:cNvSpPr/>
          <p:nvPr/>
        </p:nvSpPr>
        <p:spPr>
          <a:xfrm>
            <a:off x="7953375" y="2667000"/>
            <a:ext cx="419100" cy="266700"/>
          </a:xfrm>
          <a:prstGeom prst="roundRect">
            <a:avLst>
              <a:gd name="adj" fmla="val 17857"/>
            </a:avLst>
          </a:prstGeom>
          <a:solidFill>
            <a:srgbClr val="22D3EE">
              <a:alpha val="20000"/>
            </a:srgbClr>
          </a:solidFill>
          <a:ln w="9525">
            <a:solidFill>
              <a:srgbClr val="22D3EE"/>
            </a:solidFill>
          </a:ln>
        </p:spPr>
      </p:sp>
      <p:sp>
        <p:nvSpPr>
          <p:cNvPr id="36" name="TextBox 36"/>
          <p:cNvSpPr txBox="1"/>
          <p:nvPr/>
        </p:nvSpPr>
        <p:spPr>
          <a:xfrm>
            <a:off x="8093154" y="2767012"/>
            <a:ext cx="139541" cy="152400"/>
          </a:xfrm>
          <a:prstGeom prst="rect">
            <a:avLst/>
          </a:prstGeom>
          <a:noFill/>
          <a:ln>
            <a:noFill/>
          </a:ln>
        </p:spPr>
        <p:txBody>
          <a:bodyPr wrap="none" lIns="0" tIns="0" rIns="0" bIns="0" anchor="t" anchorCtr="0">
            <a:spAutoFit/>
          </a:bodyPr>
          <a:lstStyle/>
          <a:p>
            <a:pPr algn="ctr"/>
            <a:r>
              <a:rPr lang="zh-CN" sz="750" dirty="0">
                <a:solidFill>
                  <a:srgbClr val="22D3EE"/>
                </a:solidFill>
                <a:latin typeface="Consolas"/>
                <a:ea typeface="Microsoft YaHei"/>
                <a:cs typeface="Consolas"/>
              </a:rPr>
              <a:t>t3</a:t>
            </a:r>
          </a:p>
        </p:txBody>
      </p:sp>
      <p:sp>
        <p:nvSpPr>
          <p:cNvPr id="37" name="Line 37"/>
          <p:cNvSpPr/>
          <p:nvPr/>
        </p:nvSpPr>
        <p:spPr>
          <a:xfrm>
            <a:off x="8372475" y="2800350"/>
            <a:ext cx="219075" cy="9525"/>
          </a:xfrm>
          <a:custGeom>
            <a:avLst/>
            <a:gdLst/>
            <a:ahLst/>
            <a:cxnLst/>
            <a:rect l="l" t="t" r="r" b="b"/>
            <a:pathLst>
              <a:path w="219075" h="9525">
                <a:moveTo>
                  <a:pt x="0" y="0"/>
                </a:moveTo>
                <a:lnTo>
                  <a:pt x="219075" y="0"/>
                </a:lnTo>
              </a:path>
            </a:pathLst>
          </a:custGeom>
          <a:noFill/>
          <a:ln w="9525">
            <a:solidFill>
              <a:srgbClr val="22D3EE"/>
            </a:solidFill>
          </a:ln>
        </p:spPr>
      </p:sp>
      <p:sp>
        <p:nvSpPr>
          <p:cNvPr id="38" name="TextBox 38"/>
          <p:cNvSpPr txBox="1"/>
          <p:nvPr/>
        </p:nvSpPr>
        <p:spPr>
          <a:xfrm>
            <a:off x="8675370" y="2750820"/>
            <a:ext cx="239744" cy="182880"/>
          </a:xfrm>
          <a:prstGeom prst="rect">
            <a:avLst/>
          </a:prstGeom>
          <a:noFill/>
          <a:ln>
            <a:noFill/>
          </a:ln>
        </p:spPr>
        <p:txBody>
          <a:bodyPr wrap="none" lIns="0" tIns="0" rIns="0" bIns="0" anchor="t" anchorCtr="0">
            <a:spAutoFit/>
          </a:bodyPr>
          <a:lstStyle/>
          <a:p>
            <a:pPr algn="l"/>
            <a:r>
              <a:rPr lang="zh-CN" sz="900" dirty="0">
                <a:solidFill>
                  <a:srgbClr val="22D3EE"/>
                </a:solidFill>
                <a:latin typeface="Consolas"/>
                <a:ea typeface="Microsoft YaHei"/>
                <a:cs typeface="Consolas"/>
              </a:rPr>
              <a:t>...</a:t>
            </a:r>
          </a:p>
        </p:txBody>
      </p:sp>
      <p:sp>
        <p:nvSpPr>
          <p:cNvPr id="39" name="Freeform 39"/>
          <p:cNvSpPr/>
          <p:nvPr/>
        </p:nvSpPr>
        <p:spPr>
          <a:xfrm>
            <a:off x="6619875" y="2552700"/>
            <a:ext cx="1752600" cy="114300"/>
          </a:xfrm>
          <a:custGeom>
            <a:avLst/>
            <a:gdLst/>
            <a:ahLst/>
            <a:cxnLst/>
            <a:rect l="l" t="t" r="r" b="b"/>
            <a:pathLst>
              <a:path w="1752600" h="114300">
                <a:moveTo>
                  <a:pt x="1752600" y="114300"/>
                </a:moveTo>
                <a:lnTo>
                  <a:pt x="1752600" y="0"/>
                </a:lnTo>
                <a:lnTo>
                  <a:pt x="0" y="0"/>
                </a:lnTo>
                <a:lnTo>
                  <a:pt x="0" y="114300"/>
                </a:lnTo>
              </a:path>
            </a:pathLst>
          </a:custGeom>
          <a:noFill/>
          <a:ln w="9525">
            <a:solidFill>
              <a:srgbClr val="F59E0B"/>
            </a:solidFill>
            <a:custDash>
              <a:ds d="400000" sp="300000"/>
            </a:custDash>
          </a:ln>
        </p:spPr>
      </p:sp>
      <p:sp>
        <p:nvSpPr>
          <p:cNvPr id="40" name="Rectangle 40"/>
          <p:cNvSpPr/>
          <p:nvPr/>
        </p:nvSpPr>
        <p:spPr>
          <a:xfrm>
            <a:off x="571500" y="3714750"/>
            <a:ext cx="5381625" cy="1333500"/>
          </a:xfrm>
          <a:prstGeom prst="roundRect">
            <a:avLst>
              <a:gd name="adj" fmla="val 8571"/>
            </a:avLst>
          </a:prstGeom>
          <a:solidFill>
            <a:srgbClr val="1E293B"/>
          </a:solidFill>
          <a:ln w="14288">
            <a:solidFill>
              <a:srgbClr val="F59E0B"/>
            </a:solidFill>
          </a:ln>
        </p:spPr>
      </p:sp>
      <p:sp>
        <p:nvSpPr>
          <p:cNvPr id="41" name="Freeform 41"/>
          <p:cNvSpPr/>
          <p:nvPr/>
        </p:nvSpPr>
        <p:spPr>
          <a:xfrm>
            <a:off x="770175" y="392115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rgbClr val="F59E0B"/>
          </a:solidFill>
          <a:ln>
            <a:noFill/>
          </a:ln>
        </p:spPr>
      </p:sp>
      <p:sp>
        <p:nvSpPr>
          <p:cNvPr id="42" name="TextBox 42"/>
          <p:cNvSpPr txBox="1"/>
          <p:nvPr/>
        </p:nvSpPr>
        <p:spPr>
          <a:xfrm>
            <a:off x="1068705" y="3950018"/>
            <a:ext cx="1586984"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BPTT Challenges</a:t>
            </a:r>
          </a:p>
        </p:txBody>
      </p:sp>
      <p:sp>
        <p:nvSpPr>
          <p:cNvPr id="43" name="TextBox 43"/>
          <p:cNvSpPr txBox="1"/>
          <p:nvPr/>
        </p:nvSpPr>
        <p:spPr>
          <a:xfrm>
            <a:off x="747712" y="4279106"/>
            <a:ext cx="402943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Large unrolled networks become difficult to train</a:t>
            </a:r>
          </a:p>
        </p:txBody>
      </p:sp>
      <p:sp>
        <p:nvSpPr>
          <p:cNvPr id="44" name="TextBox 44"/>
          <p:cNvSpPr txBox="1"/>
          <p:nvPr/>
        </p:nvSpPr>
        <p:spPr>
          <a:xfrm>
            <a:off x="747712" y="4507706"/>
            <a:ext cx="395549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Easily trapped in local optima during optimization</a:t>
            </a:r>
          </a:p>
        </p:txBody>
      </p:sp>
      <p:sp>
        <p:nvSpPr>
          <p:cNvPr id="45" name="Rectangle 45"/>
          <p:cNvSpPr/>
          <p:nvPr/>
        </p:nvSpPr>
        <p:spPr>
          <a:xfrm>
            <a:off x="6238875" y="3714750"/>
            <a:ext cx="5381625" cy="1333500"/>
          </a:xfrm>
          <a:prstGeom prst="roundRect">
            <a:avLst>
              <a:gd name="adj" fmla="val 8571"/>
            </a:avLst>
          </a:prstGeom>
          <a:solidFill>
            <a:srgbClr val="1E293B"/>
          </a:solidFill>
          <a:ln w="14288">
            <a:solidFill>
              <a:srgbClr val="8B5CF6"/>
            </a:solidFill>
          </a:ln>
        </p:spPr>
      </p:sp>
      <p:sp>
        <p:nvSpPr>
          <p:cNvPr id="46" name="Freeform 46"/>
          <p:cNvSpPr/>
          <p:nvPr/>
        </p:nvSpPr>
        <p:spPr>
          <a:xfrm>
            <a:off x="6437550" y="392115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rgbClr val="8B5CF6"/>
          </a:solidFill>
          <a:ln>
            <a:noFill/>
          </a:ln>
        </p:spPr>
      </p:sp>
      <p:sp>
        <p:nvSpPr>
          <p:cNvPr id="47" name="TextBox 47"/>
          <p:cNvSpPr txBox="1"/>
          <p:nvPr/>
        </p:nvSpPr>
        <p:spPr>
          <a:xfrm>
            <a:off x="6736080" y="3950018"/>
            <a:ext cx="2725626" cy="274320"/>
          </a:xfrm>
          <a:prstGeom prst="rect">
            <a:avLst/>
          </a:prstGeom>
          <a:noFill/>
          <a:ln>
            <a:noFill/>
          </a:ln>
        </p:spPr>
        <p:txBody>
          <a:bodyPr wrap="none" lIns="0" tIns="0" rIns="0" bIns="0" anchor="t" anchorCtr="0">
            <a:spAutoFit/>
          </a:bodyPr>
          <a:lstStyle/>
          <a:p>
            <a:pPr algn="l"/>
            <a:r>
              <a:rPr lang="zh-CN" sz="1350" b="1" dirty="0">
                <a:solidFill>
                  <a:srgbClr val="8B5CF6"/>
                </a:solidFill>
                <a:latin typeface="Georgia"/>
                <a:ea typeface="Microsoft YaHei"/>
                <a:cs typeface="Georgia"/>
              </a:rPr>
              <a:t>Vanishing Gradient Problem</a:t>
            </a:r>
          </a:p>
        </p:txBody>
      </p:sp>
      <p:sp>
        <p:nvSpPr>
          <p:cNvPr id="48" name="TextBox 48"/>
          <p:cNvSpPr txBox="1"/>
          <p:nvPr/>
        </p:nvSpPr>
        <p:spPr>
          <a:xfrm>
            <a:off x="6415088" y="4279106"/>
            <a:ext cx="467844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Distant interactions produce diminishingly small gradients</a:t>
            </a:r>
          </a:p>
        </p:txBody>
      </p:sp>
      <p:sp>
        <p:nvSpPr>
          <p:cNvPr id="49" name="TextBox 49"/>
          <p:cNvSpPr txBox="1"/>
          <p:nvPr/>
        </p:nvSpPr>
        <p:spPr>
          <a:xfrm>
            <a:off x="6415088" y="4507706"/>
            <a:ext cx="435804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Makes learning long-range dependencies very difficult</a:t>
            </a:r>
          </a:p>
        </p:txBody>
      </p:sp>
      <p:sp>
        <p:nvSpPr>
          <p:cNvPr id="50" name="Rectangle 50"/>
          <p:cNvSpPr/>
          <p:nvPr/>
        </p:nvSpPr>
        <p:spPr>
          <a:xfrm>
            <a:off x="571500" y="5334000"/>
            <a:ext cx="11049000" cy="1047750"/>
          </a:xfrm>
          <a:prstGeom prst="roundRect">
            <a:avLst>
              <a:gd name="adj" fmla="val 10909"/>
            </a:avLst>
          </a:prstGeom>
          <a:solidFill>
            <a:srgbClr val="1E293B"/>
          </a:solidFill>
          <a:ln w="14288">
            <a:solidFill>
              <a:srgbClr val="10B981"/>
            </a:solidFill>
          </a:ln>
        </p:spPr>
      </p:sp>
      <p:grpSp>
        <p:nvGrpSpPr>
          <p:cNvPr id="58" name="Group 58"/>
          <p:cNvGrpSpPr/>
          <p:nvPr/>
        </p:nvGrpSpPr>
        <p:grpSpPr>
          <a:xfrm>
            <a:off x="783912" y="5546725"/>
            <a:ext cx="222876" cy="222250"/>
            <a:chOff x="783912" y="5546725"/>
            <a:chExt cx="222876" cy="222250"/>
          </a:xfrm>
        </p:grpSpPr>
        <p:sp>
          <p:nvSpPr>
            <p:cNvPr id="51" name="Freeform 51"/>
            <p:cNvSpPr/>
            <p:nvPr/>
          </p:nvSpPr>
          <p:spPr>
            <a:xfrm>
              <a:off x="783912" y="564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10B981"/>
            </a:solidFill>
            <a:ln>
              <a:noFill/>
            </a:ln>
          </p:spPr>
        </p:sp>
        <p:sp>
          <p:nvSpPr>
            <p:cNvPr id="52" name="Freeform 52"/>
            <p:cNvSpPr/>
            <p:nvPr/>
          </p:nvSpPr>
          <p:spPr>
            <a:xfrm>
              <a:off x="884238" y="5546725"/>
              <a:ext cx="22225" cy="33651"/>
            </a:xfrm>
            <a:custGeom>
              <a:avLst/>
              <a:gdLst/>
              <a:ahLst/>
              <a:cxnLst/>
              <a:rect l="l" t="t" r="r" b="b"/>
              <a:pathLst>
                <a:path w="22225" h="33651">
                  <a:moveTo>
                    <a:pt x="11113" y="0"/>
                  </a:moveTo>
                  <a:cubicBezTo>
                    <a:pt x="16746" y="1"/>
                    <a:pt x="21488" y="4217"/>
                    <a:pt x="22147" y="9812"/>
                  </a:cubicBezTo>
                  <a:lnTo>
                    <a:pt x="22225" y="11112"/>
                  </a:lnTo>
                  <a:lnTo>
                    <a:pt x="22225" y="22225"/>
                  </a:lnTo>
                  <a:cubicBezTo>
                    <a:pt x="22218" y="28105"/>
                    <a:pt x="17633" y="32962"/>
                    <a:pt x="11764" y="33306"/>
                  </a:cubicBezTo>
                  <a:cubicBezTo>
                    <a:pt x="5894" y="33651"/>
                    <a:pt x="772" y="29364"/>
                    <a:pt x="78" y="23525"/>
                  </a:cubicBezTo>
                  <a:lnTo>
                    <a:pt x="0" y="22225"/>
                  </a:lnTo>
                  <a:lnTo>
                    <a:pt x="0" y="11112"/>
                  </a:lnTo>
                  <a:cubicBezTo>
                    <a:pt x="0" y="4975"/>
                    <a:pt x="4975" y="0"/>
                    <a:pt x="11113" y="0"/>
                  </a:cubicBezTo>
                  <a:close/>
                </a:path>
              </a:pathLst>
            </a:custGeom>
            <a:solidFill>
              <a:srgbClr val="10B981"/>
            </a:solidFill>
            <a:ln>
              <a:noFill/>
            </a:ln>
          </p:spPr>
        </p:sp>
        <p:sp>
          <p:nvSpPr>
            <p:cNvPr id="53" name="Freeform 53"/>
            <p:cNvSpPr/>
            <p:nvPr/>
          </p:nvSpPr>
          <p:spPr>
            <a:xfrm>
              <a:off x="972824" y="5646738"/>
              <a:ext cx="33964" cy="22225"/>
            </a:xfrm>
            <a:custGeom>
              <a:avLst/>
              <a:gdLst/>
              <a:ahLst/>
              <a:cxnLst/>
              <a:rect l="l" t="t" r="r" b="b"/>
              <a:pathLst>
                <a:path w="33964" h="22225">
                  <a:moveTo>
                    <a:pt x="22538" y="0"/>
                  </a:moveTo>
                  <a:cubicBezTo>
                    <a:pt x="28418" y="7"/>
                    <a:pt x="33275" y="4592"/>
                    <a:pt x="33619" y="10461"/>
                  </a:cubicBezTo>
                  <a:cubicBezTo>
                    <a:pt x="33964" y="16331"/>
                    <a:pt x="29677" y="21453"/>
                    <a:pt x="23838" y="22147"/>
                  </a:cubicBezTo>
                  <a:lnTo>
                    <a:pt x="22538" y="22225"/>
                  </a:lnTo>
                  <a:lnTo>
                    <a:pt x="11426" y="22225"/>
                  </a:lnTo>
                  <a:cubicBezTo>
                    <a:pt x="5546" y="22218"/>
                    <a:pt x="689" y="17633"/>
                    <a:pt x="345" y="11764"/>
                  </a:cubicBezTo>
                  <a:cubicBezTo>
                    <a:pt x="0" y="5894"/>
                    <a:pt x="4287" y="772"/>
                    <a:pt x="10125" y="78"/>
                  </a:cubicBezTo>
                  <a:lnTo>
                    <a:pt x="11426" y="0"/>
                  </a:lnTo>
                  <a:lnTo>
                    <a:pt x="22538" y="0"/>
                  </a:lnTo>
                  <a:close/>
                </a:path>
              </a:pathLst>
            </a:custGeom>
            <a:solidFill>
              <a:srgbClr val="10B981"/>
            </a:solidFill>
            <a:ln>
              <a:noFill/>
            </a:ln>
          </p:spPr>
        </p:sp>
        <p:sp>
          <p:nvSpPr>
            <p:cNvPr id="54" name="Freeform 54"/>
            <p:cNvSpPr/>
            <p:nvPr/>
          </p:nvSpPr>
          <p:spPr>
            <a:xfrm>
              <a:off x="812035" y="5574520"/>
              <a:ext cx="32169" cy="32352"/>
            </a:xfrm>
            <a:custGeom>
              <a:avLst/>
              <a:gdLst/>
              <a:ahLst/>
              <a:cxnLst/>
              <a:rect l="l" t="t" r="r" b="b"/>
              <a:pathLst>
                <a:path w="32169" h="32352">
                  <a:moveTo>
                    <a:pt x="4338" y="4354"/>
                  </a:moveTo>
                  <a:cubicBezTo>
                    <a:pt x="8297" y="395"/>
                    <a:pt x="14583" y="0"/>
                    <a:pt x="19007" y="3432"/>
                  </a:cubicBezTo>
                  <a:lnTo>
                    <a:pt x="20051" y="4354"/>
                  </a:lnTo>
                  <a:lnTo>
                    <a:pt x="27830" y="12133"/>
                  </a:lnTo>
                  <a:cubicBezTo>
                    <a:pt x="31966" y="16283"/>
                    <a:pt x="32169" y="22932"/>
                    <a:pt x="28294" y="27327"/>
                  </a:cubicBezTo>
                  <a:cubicBezTo>
                    <a:pt x="24419" y="31721"/>
                    <a:pt x="17797" y="32352"/>
                    <a:pt x="13161" y="28768"/>
                  </a:cubicBezTo>
                  <a:lnTo>
                    <a:pt x="12117" y="27846"/>
                  </a:lnTo>
                  <a:lnTo>
                    <a:pt x="4338" y="20067"/>
                  </a:lnTo>
                  <a:cubicBezTo>
                    <a:pt x="0" y="15728"/>
                    <a:pt x="0" y="8693"/>
                    <a:pt x="4338" y="4354"/>
                  </a:cubicBezTo>
                  <a:close/>
                </a:path>
              </a:pathLst>
            </a:custGeom>
            <a:solidFill>
              <a:srgbClr val="10B981"/>
            </a:solidFill>
            <a:ln>
              <a:noFill/>
            </a:ln>
          </p:spPr>
        </p:sp>
        <p:sp>
          <p:nvSpPr>
            <p:cNvPr id="55" name="Freeform 55"/>
            <p:cNvSpPr/>
            <p:nvPr/>
          </p:nvSpPr>
          <p:spPr>
            <a:xfrm>
              <a:off x="946328" y="5574534"/>
              <a:ext cx="32505" cy="32170"/>
            </a:xfrm>
            <a:custGeom>
              <a:avLst/>
              <a:gdLst/>
              <a:ahLst/>
              <a:cxnLst/>
              <a:rect l="l" t="t" r="r" b="b"/>
              <a:pathLst>
                <a:path w="32505" h="32170">
                  <a:moveTo>
                    <a:pt x="12285" y="4339"/>
                  </a:moveTo>
                  <a:cubicBezTo>
                    <a:pt x="16436" y="203"/>
                    <a:pt x="23084" y="0"/>
                    <a:pt x="27479" y="3875"/>
                  </a:cubicBezTo>
                  <a:cubicBezTo>
                    <a:pt x="31874" y="7751"/>
                    <a:pt x="32505" y="14372"/>
                    <a:pt x="28921" y="19008"/>
                  </a:cubicBezTo>
                  <a:lnTo>
                    <a:pt x="27998" y="20052"/>
                  </a:lnTo>
                  <a:lnTo>
                    <a:pt x="20220" y="27831"/>
                  </a:lnTo>
                  <a:cubicBezTo>
                    <a:pt x="16069" y="31967"/>
                    <a:pt x="9421" y="32170"/>
                    <a:pt x="5026" y="28295"/>
                  </a:cubicBezTo>
                  <a:cubicBezTo>
                    <a:pt x="631" y="24420"/>
                    <a:pt x="0" y="17798"/>
                    <a:pt x="3584" y="13163"/>
                  </a:cubicBezTo>
                  <a:lnTo>
                    <a:pt x="4507" y="12118"/>
                  </a:lnTo>
                  <a:lnTo>
                    <a:pt x="12285" y="4339"/>
                  </a:lnTo>
                  <a:close/>
                </a:path>
              </a:pathLst>
            </a:custGeom>
            <a:solidFill>
              <a:srgbClr val="10B981"/>
            </a:solidFill>
            <a:ln>
              <a:noFill/>
            </a:ln>
          </p:spPr>
        </p:sp>
        <p:sp>
          <p:nvSpPr>
            <p:cNvPr id="56" name="Freeform 56"/>
            <p:cNvSpPr/>
            <p:nvPr/>
          </p:nvSpPr>
          <p:spPr>
            <a:xfrm>
              <a:off x="862012" y="5724525"/>
              <a:ext cx="66675" cy="44450"/>
            </a:xfrm>
            <a:custGeom>
              <a:avLst/>
              <a:gdLst/>
              <a:ahLst/>
              <a:cxnLst/>
              <a:rect l="l" t="t" r="r" b="b"/>
              <a:pathLst>
                <a:path w="66675" h="44450">
                  <a:moveTo>
                    <a:pt x="55563" y="0"/>
                  </a:moveTo>
                  <a:cubicBezTo>
                    <a:pt x="61700" y="0"/>
                    <a:pt x="66675" y="4975"/>
                    <a:pt x="66675" y="11112"/>
                  </a:cubicBezTo>
                  <a:cubicBezTo>
                    <a:pt x="66675" y="29524"/>
                    <a:pt x="51749" y="44450"/>
                    <a:pt x="33338" y="44450"/>
                  </a:cubicBezTo>
                  <a:cubicBezTo>
                    <a:pt x="14926" y="44450"/>
                    <a:pt x="0" y="29524"/>
                    <a:pt x="0" y="11112"/>
                  </a:cubicBezTo>
                  <a:cubicBezTo>
                    <a:pt x="1" y="5479"/>
                    <a:pt x="4217" y="737"/>
                    <a:pt x="9812" y="78"/>
                  </a:cubicBezTo>
                  <a:lnTo>
                    <a:pt x="11113" y="0"/>
                  </a:lnTo>
                  <a:lnTo>
                    <a:pt x="55563" y="0"/>
                  </a:lnTo>
                  <a:close/>
                </a:path>
              </a:pathLst>
            </a:custGeom>
            <a:solidFill>
              <a:srgbClr val="10B981"/>
            </a:solidFill>
            <a:ln>
              <a:noFill/>
            </a:ln>
          </p:spPr>
        </p:sp>
        <p:sp>
          <p:nvSpPr>
            <p:cNvPr id="57" name="Freeform 57"/>
            <p:cNvSpPr/>
            <p:nvPr/>
          </p:nvSpPr>
          <p:spPr>
            <a:xfrm>
              <a:off x="823021" y="5591175"/>
              <a:ext cx="144658" cy="122238"/>
            </a:xfrm>
            <a:custGeom>
              <a:avLst/>
              <a:gdLst/>
              <a:ahLst/>
              <a:cxnLst/>
              <a:rect l="l" t="t" r="r" b="b"/>
              <a:pathLst>
                <a:path w="144658" h="122238">
                  <a:moveTo>
                    <a:pt x="72329" y="0"/>
                  </a:moveTo>
                  <a:cubicBezTo>
                    <a:pt x="101028" y="0"/>
                    <a:pt x="126507" y="18364"/>
                    <a:pt x="135582" y="45591"/>
                  </a:cubicBezTo>
                  <a:cubicBezTo>
                    <a:pt x="144658" y="72817"/>
                    <a:pt x="135293" y="102796"/>
                    <a:pt x="112334" y="120015"/>
                  </a:cubicBezTo>
                  <a:cubicBezTo>
                    <a:pt x="110802" y="121165"/>
                    <a:pt x="108999" y="121900"/>
                    <a:pt x="107100" y="122149"/>
                  </a:cubicBezTo>
                  <a:lnTo>
                    <a:pt x="105666" y="122238"/>
                  </a:lnTo>
                  <a:lnTo>
                    <a:pt x="38991" y="122238"/>
                  </a:lnTo>
                  <a:cubicBezTo>
                    <a:pt x="36587" y="122238"/>
                    <a:pt x="34247" y="121458"/>
                    <a:pt x="32324" y="120015"/>
                  </a:cubicBezTo>
                  <a:cubicBezTo>
                    <a:pt x="9365" y="102796"/>
                    <a:pt x="0" y="72817"/>
                    <a:pt x="9075" y="45591"/>
                  </a:cubicBezTo>
                  <a:cubicBezTo>
                    <a:pt x="18151" y="18364"/>
                    <a:pt x="43630" y="0"/>
                    <a:pt x="72329" y="0"/>
                  </a:cubicBezTo>
                  <a:close/>
                </a:path>
              </a:pathLst>
            </a:custGeom>
            <a:solidFill>
              <a:srgbClr val="10B981"/>
            </a:solidFill>
            <a:ln>
              <a:noFill/>
            </a:ln>
          </p:spPr>
        </p:sp>
      </p:grpSp>
      <p:sp>
        <p:nvSpPr>
          <p:cNvPr id="59" name="TextBox 59"/>
          <p:cNvSpPr txBox="1"/>
          <p:nvPr/>
        </p:nvSpPr>
        <p:spPr>
          <a:xfrm>
            <a:off x="1106805" y="5588318"/>
            <a:ext cx="955555"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Georgia"/>
                <a:ea typeface="Microsoft YaHei"/>
                <a:cs typeface="Georgia"/>
              </a:rPr>
              <a:t>Solutions</a:t>
            </a:r>
          </a:p>
        </p:txBody>
      </p:sp>
      <p:sp>
        <p:nvSpPr>
          <p:cNvPr id="60" name="Rectangle 60"/>
          <p:cNvSpPr/>
          <p:nvPr/>
        </p:nvSpPr>
        <p:spPr>
          <a:xfrm>
            <a:off x="2476500" y="5524500"/>
            <a:ext cx="1905000" cy="342900"/>
          </a:xfrm>
          <a:prstGeom prst="roundRect">
            <a:avLst>
              <a:gd name="adj" fmla="val 22222"/>
            </a:avLst>
          </a:prstGeom>
          <a:solidFill>
            <a:srgbClr val="10B981">
              <a:alpha val="10000"/>
            </a:srgbClr>
          </a:solidFill>
          <a:ln w="9525">
            <a:solidFill>
              <a:srgbClr val="10B981">
                <a:alpha val="30000"/>
              </a:srgbClr>
            </a:solidFill>
          </a:ln>
        </p:spPr>
      </p:sp>
      <p:sp>
        <p:nvSpPr>
          <p:cNvPr id="61" name="TextBox 61"/>
          <p:cNvSpPr txBox="1"/>
          <p:nvPr/>
        </p:nvSpPr>
        <p:spPr>
          <a:xfrm>
            <a:off x="2840593" y="5639752"/>
            <a:ext cx="1176814" cy="213360"/>
          </a:xfrm>
          <a:prstGeom prst="rect">
            <a:avLst/>
          </a:prstGeom>
          <a:noFill/>
          <a:ln>
            <a:noFill/>
          </a:ln>
        </p:spPr>
        <p:txBody>
          <a:bodyPr wrap="none" lIns="0" tIns="0" rIns="0" bIns="0" anchor="t" anchorCtr="0">
            <a:spAutoFit/>
          </a:bodyPr>
          <a:lstStyle/>
          <a:p>
            <a:pPr algn="ctr"/>
            <a:r>
              <a:rPr lang="zh-CN" sz="1050" dirty="0">
                <a:solidFill>
                  <a:srgbClr val="10B981"/>
                </a:solidFill>
                <a:latin typeface="Arial"/>
                <a:ea typeface="Microsoft YaHei"/>
                <a:cs typeface="Arial"/>
              </a:rPr>
              <a:t>ReLU Activation</a:t>
            </a:r>
          </a:p>
        </p:txBody>
      </p:sp>
      <p:sp>
        <p:nvSpPr>
          <p:cNvPr id="62" name="Rectangle 62"/>
          <p:cNvSpPr/>
          <p:nvPr/>
        </p:nvSpPr>
        <p:spPr>
          <a:xfrm>
            <a:off x="4667250" y="5524500"/>
            <a:ext cx="2286000" cy="342900"/>
          </a:xfrm>
          <a:prstGeom prst="roundRect">
            <a:avLst>
              <a:gd name="adj" fmla="val 22222"/>
            </a:avLst>
          </a:prstGeom>
          <a:solidFill>
            <a:srgbClr val="10B981">
              <a:alpha val="10000"/>
            </a:srgbClr>
          </a:solidFill>
          <a:ln w="9525">
            <a:solidFill>
              <a:srgbClr val="10B981">
                <a:alpha val="30000"/>
              </a:srgbClr>
            </a:solidFill>
          </a:ln>
        </p:spPr>
      </p:sp>
      <p:sp>
        <p:nvSpPr>
          <p:cNvPr id="63" name="TextBox 63"/>
          <p:cNvSpPr txBox="1"/>
          <p:nvPr/>
        </p:nvSpPr>
        <p:spPr>
          <a:xfrm>
            <a:off x="4838462" y="5639752"/>
            <a:ext cx="1943576" cy="213360"/>
          </a:xfrm>
          <a:prstGeom prst="rect">
            <a:avLst/>
          </a:prstGeom>
          <a:noFill/>
          <a:ln>
            <a:noFill/>
          </a:ln>
        </p:spPr>
        <p:txBody>
          <a:bodyPr wrap="none" lIns="0" tIns="0" rIns="0" bIns="0" anchor="t" anchorCtr="0">
            <a:spAutoFit/>
          </a:bodyPr>
          <a:lstStyle/>
          <a:p>
            <a:pPr algn="ctr"/>
            <a:r>
              <a:rPr lang="zh-CN" sz="1050" dirty="0">
                <a:solidFill>
                  <a:srgbClr val="10B981"/>
                </a:solidFill>
                <a:latin typeface="Arial"/>
                <a:ea typeface="Microsoft YaHei"/>
                <a:cs typeface="Arial"/>
              </a:rPr>
              <a:t>Regularization Techniques</a:t>
            </a:r>
          </a:p>
        </p:txBody>
      </p:sp>
      <p:sp>
        <p:nvSpPr>
          <p:cNvPr id="64" name="Rectangle 64"/>
          <p:cNvSpPr/>
          <p:nvPr/>
        </p:nvSpPr>
        <p:spPr>
          <a:xfrm>
            <a:off x="7239000" y="5524500"/>
            <a:ext cx="2286000" cy="342900"/>
          </a:xfrm>
          <a:prstGeom prst="roundRect">
            <a:avLst>
              <a:gd name="adj" fmla="val 22222"/>
            </a:avLst>
          </a:prstGeom>
          <a:solidFill>
            <a:srgbClr val="10B981">
              <a:alpha val="10000"/>
            </a:srgbClr>
          </a:solidFill>
          <a:ln w="9525">
            <a:solidFill>
              <a:srgbClr val="10B981">
                <a:alpha val="30000"/>
              </a:srgbClr>
            </a:solidFill>
          </a:ln>
        </p:spPr>
      </p:sp>
      <p:sp>
        <p:nvSpPr>
          <p:cNvPr id="65" name="TextBox 65"/>
          <p:cNvSpPr txBox="1"/>
          <p:nvPr/>
        </p:nvSpPr>
        <p:spPr>
          <a:xfrm>
            <a:off x="7417880" y="5639752"/>
            <a:ext cx="1928241" cy="213360"/>
          </a:xfrm>
          <a:prstGeom prst="rect">
            <a:avLst/>
          </a:prstGeom>
          <a:noFill/>
          <a:ln>
            <a:noFill/>
          </a:ln>
        </p:spPr>
        <p:txBody>
          <a:bodyPr wrap="none" lIns="0" tIns="0" rIns="0" bIns="0" anchor="t" anchorCtr="0">
            <a:spAutoFit/>
          </a:bodyPr>
          <a:lstStyle/>
          <a:p>
            <a:pPr algn="ctr"/>
            <a:r>
              <a:rPr lang="zh-CN" sz="1050" dirty="0">
                <a:solidFill>
                  <a:srgbClr val="10B981"/>
                </a:solidFill>
                <a:latin typeface="Arial"/>
                <a:ea typeface="Microsoft YaHei"/>
                <a:cs typeface="Arial"/>
              </a:rPr>
              <a:t>LSTM / GRU Architectures</a:t>
            </a:r>
          </a:p>
        </p:txBody>
      </p:sp>
      <p:sp>
        <p:nvSpPr>
          <p:cNvPr id="66" name="TextBox 66"/>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13</a:t>
            </a:r>
          </a:p>
        </p:txBody>
      </p:sp>
      <p:pic>
        <p:nvPicPr>
          <p:cNvPr id="67" name="narration1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8268">
    <p:fade/>
  </p:transition>
  <p:timing>
    <p:tnLst>
      <p:par>
        <p:cTn id="1" dur="indefinite" restart="never" nodeType="tmRoot">
          <p:childTnLst>
            <p:audio>
              <p:cMediaNode vol="80000">
                <p:cTn id="2" fill="hold" display="0">
                  <p:stCondLst>
                    <p:cond delay="0"/>
                  </p:stCondLst>
                </p:cTn>
                <p:tgtEl>
                  <p:spTgt spid="6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762000"/>
            <a:ext cx="762000" cy="38100"/>
          </a:xfrm>
          <a:prstGeom prst="roundRect">
            <a:avLst>
              <a:gd name="adj" fmla="val 50000"/>
            </a:avLst>
          </a:prstGeom>
          <a:gradFill>
            <a:gsLst>
              <a:gs pos="0">
                <a:srgbClr val="3B82F6"/>
              </a:gs>
              <a:gs pos="100000">
                <a:srgbClr val="22D3EE"/>
              </a:gs>
            </a:gsLst>
            <a:lin ang="0" scaled="1"/>
          </a:gradFill>
          <a:ln>
            <a:noFill/>
          </a:ln>
        </p:spPr>
      </p:sp>
      <p:grpSp>
        <p:nvGrpSpPr>
          <p:cNvPr id="11" name="Group 11"/>
          <p:cNvGrpSpPr/>
          <p:nvPr/>
        </p:nvGrpSpPr>
        <p:grpSpPr>
          <a:xfrm>
            <a:off x="605933" y="1082675"/>
            <a:ext cx="350234" cy="349250"/>
            <a:chOff x="605933" y="1082675"/>
            <a:chExt cx="350234" cy="349250"/>
          </a:xfrm>
        </p:grpSpPr>
        <p:sp>
          <p:nvSpPr>
            <p:cNvPr id="4" name="Freeform 4"/>
            <p:cNvSpPr/>
            <p:nvPr/>
          </p:nvSpPr>
          <p:spPr>
            <a:xfrm>
              <a:off x="605933" y="1239838"/>
              <a:ext cx="53372" cy="34925"/>
            </a:xfrm>
            <a:custGeom>
              <a:avLst/>
              <a:gdLst/>
              <a:ahLst/>
              <a:cxnLst/>
              <a:rect l="l" t="t" r="r" b="b"/>
              <a:pathLst>
                <a:path w="53372" h="34925">
                  <a:moveTo>
                    <a:pt x="35417" y="0"/>
                  </a:moveTo>
                  <a:cubicBezTo>
                    <a:pt x="44656" y="10"/>
                    <a:pt x="52289" y="7216"/>
                    <a:pt x="52830" y="16439"/>
                  </a:cubicBezTo>
                  <a:cubicBezTo>
                    <a:pt x="53372" y="25663"/>
                    <a:pt x="46635" y="33712"/>
                    <a:pt x="37460" y="34803"/>
                  </a:cubicBezTo>
                  <a:lnTo>
                    <a:pt x="35417" y="34925"/>
                  </a:lnTo>
                  <a:lnTo>
                    <a:pt x="17955" y="34925"/>
                  </a:lnTo>
                  <a:cubicBezTo>
                    <a:pt x="8715" y="34915"/>
                    <a:pt x="1083" y="27709"/>
                    <a:pt x="541" y="18486"/>
                  </a:cubicBezTo>
                  <a:cubicBezTo>
                    <a:pt x="0" y="9262"/>
                    <a:pt x="6737" y="1213"/>
                    <a:pt x="15911" y="122"/>
                  </a:cubicBezTo>
                  <a:lnTo>
                    <a:pt x="17955" y="0"/>
                  </a:lnTo>
                  <a:lnTo>
                    <a:pt x="35417" y="0"/>
                  </a:lnTo>
                  <a:close/>
                </a:path>
              </a:pathLst>
            </a:custGeom>
            <a:solidFill>
              <a:srgbClr val="F59E0B"/>
            </a:solidFill>
            <a:ln>
              <a:noFill/>
            </a:ln>
          </p:spPr>
        </p:sp>
        <p:sp>
          <p:nvSpPr>
            <p:cNvPr id="5" name="Freeform 5"/>
            <p:cNvSpPr/>
            <p:nvPr/>
          </p:nvSpPr>
          <p:spPr>
            <a:xfrm>
              <a:off x="763587" y="1082675"/>
              <a:ext cx="34925" cy="52880"/>
            </a:xfrm>
            <a:custGeom>
              <a:avLst/>
              <a:gdLst/>
              <a:ahLst/>
              <a:cxnLst/>
              <a:rect l="l" t="t" r="r" b="b"/>
              <a:pathLst>
                <a:path w="34925" h="52880">
                  <a:moveTo>
                    <a:pt x="17463" y="0"/>
                  </a:moveTo>
                  <a:cubicBezTo>
                    <a:pt x="26316" y="1"/>
                    <a:pt x="33767" y="6627"/>
                    <a:pt x="34803" y="15419"/>
                  </a:cubicBezTo>
                  <a:lnTo>
                    <a:pt x="34925" y="17462"/>
                  </a:lnTo>
                  <a:lnTo>
                    <a:pt x="34925" y="34925"/>
                  </a:lnTo>
                  <a:cubicBezTo>
                    <a:pt x="34915" y="44164"/>
                    <a:pt x="27709" y="51797"/>
                    <a:pt x="18486" y="52338"/>
                  </a:cubicBezTo>
                  <a:cubicBezTo>
                    <a:pt x="9262" y="52880"/>
                    <a:pt x="1213" y="46143"/>
                    <a:pt x="122" y="36968"/>
                  </a:cubicBezTo>
                  <a:lnTo>
                    <a:pt x="0" y="34925"/>
                  </a:lnTo>
                  <a:lnTo>
                    <a:pt x="0" y="17462"/>
                  </a:lnTo>
                  <a:cubicBezTo>
                    <a:pt x="0" y="7818"/>
                    <a:pt x="7818" y="0"/>
                    <a:pt x="17463" y="0"/>
                  </a:cubicBezTo>
                  <a:close/>
                </a:path>
              </a:pathLst>
            </a:custGeom>
            <a:solidFill>
              <a:srgbClr val="F59E0B"/>
            </a:solidFill>
            <a:ln>
              <a:noFill/>
            </a:ln>
          </p:spPr>
        </p:sp>
        <p:sp>
          <p:nvSpPr>
            <p:cNvPr id="6" name="Freeform 6"/>
            <p:cNvSpPr/>
            <p:nvPr/>
          </p:nvSpPr>
          <p:spPr>
            <a:xfrm>
              <a:off x="902795" y="1239838"/>
              <a:ext cx="53372" cy="34925"/>
            </a:xfrm>
            <a:custGeom>
              <a:avLst/>
              <a:gdLst/>
              <a:ahLst/>
              <a:cxnLst/>
              <a:rect l="l" t="t" r="r" b="b"/>
              <a:pathLst>
                <a:path w="53372" h="34925">
                  <a:moveTo>
                    <a:pt x="35417" y="0"/>
                  </a:moveTo>
                  <a:cubicBezTo>
                    <a:pt x="44656" y="10"/>
                    <a:pt x="52289" y="7216"/>
                    <a:pt x="52830" y="16439"/>
                  </a:cubicBezTo>
                  <a:cubicBezTo>
                    <a:pt x="53372" y="25663"/>
                    <a:pt x="46635" y="33712"/>
                    <a:pt x="37460" y="34803"/>
                  </a:cubicBezTo>
                  <a:lnTo>
                    <a:pt x="35417" y="34925"/>
                  </a:lnTo>
                  <a:lnTo>
                    <a:pt x="17955" y="34925"/>
                  </a:lnTo>
                  <a:cubicBezTo>
                    <a:pt x="8715" y="34915"/>
                    <a:pt x="1083" y="27709"/>
                    <a:pt x="541" y="18486"/>
                  </a:cubicBezTo>
                  <a:cubicBezTo>
                    <a:pt x="0" y="9262"/>
                    <a:pt x="6737" y="1213"/>
                    <a:pt x="15911" y="122"/>
                  </a:cubicBezTo>
                  <a:lnTo>
                    <a:pt x="17955" y="0"/>
                  </a:lnTo>
                  <a:lnTo>
                    <a:pt x="35417" y="0"/>
                  </a:lnTo>
                  <a:close/>
                </a:path>
              </a:pathLst>
            </a:custGeom>
            <a:solidFill>
              <a:srgbClr val="F59E0B"/>
            </a:solidFill>
            <a:ln>
              <a:noFill/>
            </a:ln>
          </p:spPr>
        </p:sp>
        <p:sp>
          <p:nvSpPr>
            <p:cNvPr id="7" name="Freeform 7"/>
            <p:cNvSpPr/>
            <p:nvPr/>
          </p:nvSpPr>
          <p:spPr>
            <a:xfrm>
              <a:off x="650127" y="1126352"/>
              <a:ext cx="50552" cy="50839"/>
            </a:xfrm>
            <a:custGeom>
              <a:avLst/>
              <a:gdLst/>
              <a:ahLst/>
              <a:cxnLst/>
              <a:rect l="l" t="t" r="r" b="b"/>
              <a:pathLst>
                <a:path w="50552" h="50839">
                  <a:moveTo>
                    <a:pt x="6817" y="6842"/>
                  </a:moveTo>
                  <a:cubicBezTo>
                    <a:pt x="13038" y="621"/>
                    <a:pt x="22916" y="0"/>
                    <a:pt x="29868" y="5392"/>
                  </a:cubicBezTo>
                  <a:lnTo>
                    <a:pt x="31509" y="6842"/>
                  </a:lnTo>
                  <a:lnTo>
                    <a:pt x="43733" y="19066"/>
                  </a:lnTo>
                  <a:cubicBezTo>
                    <a:pt x="50232" y="25587"/>
                    <a:pt x="50552" y="36035"/>
                    <a:pt x="44462" y="42942"/>
                  </a:cubicBezTo>
                  <a:cubicBezTo>
                    <a:pt x="38372" y="49848"/>
                    <a:pt x="27966" y="50839"/>
                    <a:pt x="20682" y="45207"/>
                  </a:cubicBezTo>
                  <a:lnTo>
                    <a:pt x="19041" y="43758"/>
                  </a:lnTo>
                  <a:lnTo>
                    <a:pt x="6817" y="31534"/>
                  </a:lnTo>
                  <a:cubicBezTo>
                    <a:pt x="0" y="24715"/>
                    <a:pt x="0" y="13661"/>
                    <a:pt x="6817" y="6842"/>
                  </a:cubicBezTo>
                  <a:close/>
                </a:path>
              </a:pathLst>
            </a:custGeom>
            <a:solidFill>
              <a:srgbClr val="F59E0B"/>
            </a:solidFill>
            <a:ln>
              <a:noFill/>
            </a:ln>
          </p:spPr>
        </p:sp>
        <p:sp>
          <p:nvSpPr>
            <p:cNvPr id="8" name="Freeform 8"/>
            <p:cNvSpPr/>
            <p:nvPr/>
          </p:nvSpPr>
          <p:spPr>
            <a:xfrm>
              <a:off x="861159" y="1126375"/>
              <a:ext cx="51079" cy="50553"/>
            </a:xfrm>
            <a:custGeom>
              <a:avLst/>
              <a:gdLst/>
              <a:ahLst/>
              <a:cxnLst/>
              <a:rect l="l" t="t" r="r" b="b"/>
              <a:pathLst>
                <a:path w="51079" h="50553">
                  <a:moveTo>
                    <a:pt x="19305" y="6819"/>
                  </a:moveTo>
                  <a:cubicBezTo>
                    <a:pt x="25827" y="319"/>
                    <a:pt x="36275" y="0"/>
                    <a:pt x="43182" y="6090"/>
                  </a:cubicBezTo>
                  <a:cubicBezTo>
                    <a:pt x="50088" y="12179"/>
                    <a:pt x="51079" y="22585"/>
                    <a:pt x="45447" y="29869"/>
                  </a:cubicBezTo>
                  <a:lnTo>
                    <a:pt x="43997" y="31511"/>
                  </a:lnTo>
                  <a:lnTo>
                    <a:pt x="31774" y="43734"/>
                  </a:lnTo>
                  <a:cubicBezTo>
                    <a:pt x="25252" y="50234"/>
                    <a:pt x="14804" y="50553"/>
                    <a:pt x="7898" y="44464"/>
                  </a:cubicBezTo>
                  <a:cubicBezTo>
                    <a:pt x="991" y="38374"/>
                    <a:pt x="0" y="27968"/>
                    <a:pt x="5632" y="20684"/>
                  </a:cubicBezTo>
                  <a:lnTo>
                    <a:pt x="7082" y="19043"/>
                  </a:lnTo>
                  <a:lnTo>
                    <a:pt x="19305" y="6819"/>
                  </a:lnTo>
                  <a:close/>
                </a:path>
              </a:pathLst>
            </a:custGeom>
            <a:solidFill>
              <a:srgbClr val="F59E0B"/>
            </a:solidFill>
            <a:ln>
              <a:noFill/>
            </a:ln>
          </p:spPr>
        </p:sp>
        <p:sp>
          <p:nvSpPr>
            <p:cNvPr id="9" name="Freeform 9"/>
            <p:cNvSpPr/>
            <p:nvPr/>
          </p:nvSpPr>
          <p:spPr>
            <a:xfrm>
              <a:off x="728662" y="1362075"/>
              <a:ext cx="104775" cy="69850"/>
            </a:xfrm>
            <a:custGeom>
              <a:avLst/>
              <a:gdLst/>
              <a:ahLst/>
              <a:cxnLst/>
              <a:rect l="l" t="t" r="r" b="b"/>
              <a:pathLst>
                <a:path w="104775" h="69850">
                  <a:moveTo>
                    <a:pt x="87312" y="0"/>
                  </a:moveTo>
                  <a:cubicBezTo>
                    <a:pt x="96957" y="0"/>
                    <a:pt x="104775" y="7818"/>
                    <a:pt x="104775" y="17462"/>
                  </a:cubicBezTo>
                  <a:cubicBezTo>
                    <a:pt x="104775" y="46395"/>
                    <a:pt x="81320" y="69850"/>
                    <a:pt x="52388" y="69850"/>
                  </a:cubicBezTo>
                  <a:cubicBezTo>
                    <a:pt x="23455" y="69850"/>
                    <a:pt x="0" y="46395"/>
                    <a:pt x="0" y="17462"/>
                  </a:cubicBezTo>
                  <a:cubicBezTo>
                    <a:pt x="1" y="8609"/>
                    <a:pt x="6627" y="1158"/>
                    <a:pt x="15419" y="122"/>
                  </a:cubicBezTo>
                  <a:lnTo>
                    <a:pt x="17462" y="0"/>
                  </a:lnTo>
                  <a:lnTo>
                    <a:pt x="87312" y="0"/>
                  </a:lnTo>
                  <a:close/>
                </a:path>
              </a:pathLst>
            </a:custGeom>
            <a:solidFill>
              <a:srgbClr val="F59E0B"/>
            </a:solidFill>
            <a:ln>
              <a:noFill/>
            </a:ln>
          </p:spPr>
        </p:sp>
        <p:sp>
          <p:nvSpPr>
            <p:cNvPr id="10" name="Freeform 10"/>
            <p:cNvSpPr/>
            <p:nvPr/>
          </p:nvSpPr>
          <p:spPr>
            <a:xfrm>
              <a:off x="667390" y="1152525"/>
              <a:ext cx="227319" cy="192087"/>
            </a:xfrm>
            <a:custGeom>
              <a:avLst/>
              <a:gdLst/>
              <a:ahLst/>
              <a:cxnLst/>
              <a:rect l="l" t="t" r="r" b="b"/>
              <a:pathLst>
                <a:path w="227319" h="192087">
                  <a:moveTo>
                    <a:pt x="113660" y="0"/>
                  </a:moveTo>
                  <a:cubicBezTo>
                    <a:pt x="158758" y="0"/>
                    <a:pt x="198797" y="28858"/>
                    <a:pt x="213058" y="71642"/>
                  </a:cubicBezTo>
                  <a:cubicBezTo>
                    <a:pt x="227319" y="114426"/>
                    <a:pt x="212603" y="161536"/>
                    <a:pt x="176525" y="188595"/>
                  </a:cubicBezTo>
                  <a:cubicBezTo>
                    <a:pt x="174118" y="190403"/>
                    <a:pt x="171285" y="191558"/>
                    <a:pt x="168300" y="191948"/>
                  </a:cubicBezTo>
                  <a:lnTo>
                    <a:pt x="166047" y="192087"/>
                  </a:lnTo>
                  <a:lnTo>
                    <a:pt x="61272" y="192087"/>
                  </a:lnTo>
                  <a:cubicBezTo>
                    <a:pt x="57494" y="192087"/>
                    <a:pt x="53817" y="190862"/>
                    <a:pt x="50795" y="188595"/>
                  </a:cubicBezTo>
                  <a:cubicBezTo>
                    <a:pt x="14716" y="161536"/>
                    <a:pt x="0" y="114426"/>
                    <a:pt x="14261" y="71642"/>
                  </a:cubicBezTo>
                  <a:cubicBezTo>
                    <a:pt x="28523" y="28858"/>
                    <a:pt x="68561" y="0"/>
                    <a:pt x="113660" y="0"/>
                  </a:cubicBezTo>
                  <a:close/>
                </a:path>
              </a:pathLst>
            </a:custGeom>
            <a:solidFill>
              <a:srgbClr val="F59E0B"/>
            </a:solidFill>
            <a:ln>
              <a:noFill/>
            </a:ln>
          </p:spPr>
        </p:sp>
      </p:grpSp>
      <p:sp>
        <p:nvSpPr>
          <p:cNvPr id="12" name="TextBox 12"/>
          <p:cNvSpPr txBox="1"/>
          <p:nvPr/>
        </p:nvSpPr>
        <p:spPr>
          <a:xfrm>
            <a:off x="1095375" y="1138238"/>
            <a:ext cx="4974015"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Why We Need Backpropagation</a:t>
            </a:r>
          </a:p>
        </p:txBody>
      </p:sp>
      <p:sp>
        <p:nvSpPr>
          <p:cNvPr id="13" name="TextBox 13"/>
          <p:cNvSpPr txBox="1"/>
          <p:nvPr/>
        </p:nvSpPr>
        <p:spPr>
          <a:xfrm>
            <a:off x="1108710" y="1565910"/>
            <a:ext cx="4937760" cy="243840"/>
          </a:xfrm>
          <a:prstGeom prst="rect">
            <a:avLst/>
          </a:prstGeom>
          <a:noFill/>
          <a:ln>
            <a:noFill/>
          </a:ln>
        </p:spPr>
        <p:txBody>
          <a:bodyPr wrap="none" lIns="0" tIns="0" rIns="0" bIns="0" anchor="t" anchorCtr="0">
            <a:spAutoFit/>
          </a:bodyPr>
          <a:lstStyle/>
          <a:p>
            <a:pPr algn="l"/>
            <a:r>
              <a:rPr lang="zh-CN" sz="1200" dirty="0">
                <a:solidFill>
                  <a:srgbClr val="94A3B8"/>
                </a:solidFill>
                <a:latin typeface="Arial"/>
                <a:ea typeface="Microsoft YaHei"/>
                <a:cs typeface="Arial"/>
              </a:rPr>
              <a:t>The essential algorithm that makes deep learning possible</a:t>
            </a:r>
          </a:p>
        </p:txBody>
      </p:sp>
      <p:sp>
        <p:nvSpPr>
          <p:cNvPr id="14" name="Rectangle 14"/>
          <p:cNvSpPr/>
          <p:nvPr/>
        </p:nvSpPr>
        <p:spPr>
          <a:xfrm>
            <a:off x="952500" y="2190750"/>
            <a:ext cx="3048000" cy="1428750"/>
          </a:xfrm>
          <a:prstGeom prst="roundRect">
            <a:avLst>
              <a:gd name="adj" fmla="val 8000"/>
            </a:avLst>
          </a:prstGeom>
          <a:solidFill>
            <a:srgbClr val="1E293B"/>
          </a:solidFill>
          <a:ln w="9525">
            <a:solidFill>
              <a:srgbClr val="334155"/>
            </a:solidFill>
          </a:ln>
        </p:spPr>
      </p:sp>
      <p:sp>
        <p:nvSpPr>
          <p:cNvPr id="15" name="Rectangle 15"/>
          <p:cNvSpPr/>
          <p:nvPr/>
        </p:nvSpPr>
        <p:spPr>
          <a:xfrm>
            <a:off x="952500" y="2190750"/>
            <a:ext cx="38100" cy="1428750"/>
          </a:xfrm>
          <a:prstGeom prst="roundRect">
            <a:avLst>
              <a:gd name="adj" fmla="val 50000"/>
            </a:avLst>
          </a:prstGeom>
          <a:solidFill>
            <a:srgbClr val="3B82F6"/>
          </a:solidFill>
          <a:ln>
            <a:noFill/>
          </a:ln>
        </p:spPr>
      </p:sp>
      <p:sp>
        <p:nvSpPr>
          <p:cNvPr id="16" name="TextBox 16"/>
          <p:cNvSpPr txBox="1"/>
          <p:nvPr/>
        </p:nvSpPr>
        <p:spPr>
          <a:xfrm>
            <a:off x="1164908" y="2415064"/>
            <a:ext cx="1977853"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Simplifies Structure</a:t>
            </a:r>
          </a:p>
        </p:txBody>
      </p:sp>
      <p:sp>
        <p:nvSpPr>
          <p:cNvPr id="17" name="TextBox 17"/>
          <p:cNvSpPr txBox="1"/>
          <p:nvPr/>
        </p:nvSpPr>
        <p:spPr>
          <a:xfrm>
            <a:off x="1167765" y="2725102"/>
            <a:ext cx="25953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Removes least-effective weighted</a:t>
            </a:r>
          </a:p>
        </p:txBody>
      </p:sp>
      <p:sp>
        <p:nvSpPr>
          <p:cNvPr id="18" name="TextBox 18"/>
          <p:cNvSpPr txBox="1"/>
          <p:nvPr/>
        </p:nvSpPr>
        <p:spPr>
          <a:xfrm>
            <a:off x="1167765" y="2934652"/>
            <a:ext cx="239596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links, streamlining the network</a:t>
            </a:r>
          </a:p>
        </p:txBody>
      </p:sp>
      <p:sp>
        <p:nvSpPr>
          <p:cNvPr id="19" name="TextBox 19"/>
          <p:cNvSpPr txBox="1"/>
          <p:nvPr/>
        </p:nvSpPr>
        <p:spPr>
          <a:xfrm>
            <a:off x="1167765" y="3144202"/>
            <a:ext cx="1836229"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for better performance</a:t>
            </a:r>
          </a:p>
        </p:txBody>
      </p:sp>
      <p:sp>
        <p:nvSpPr>
          <p:cNvPr id="20" name="Rectangle 20"/>
          <p:cNvSpPr/>
          <p:nvPr/>
        </p:nvSpPr>
        <p:spPr>
          <a:xfrm>
            <a:off x="4572000" y="2190750"/>
            <a:ext cx="3048000" cy="1428750"/>
          </a:xfrm>
          <a:prstGeom prst="roundRect">
            <a:avLst>
              <a:gd name="adj" fmla="val 8000"/>
            </a:avLst>
          </a:prstGeom>
          <a:solidFill>
            <a:srgbClr val="1E293B"/>
          </a:solidFill>
          <a:ln w="9525">
            <a:solidFill>
              <a:srgbClr val="334155"/>
            </a:solidFill>
          </a:ln>
        </p:spPr>
      </p:sp>
      <p:sp>
        <p:nvSpPr>
          <p:cNvPr id="21" name="Rectangle 21"/>
          <p:cNvSpPr/>
          <p:nvPr/>
        </p:nvSpPr>
        <p:spPr>
          <a:xfrm>
            <a:off x="4572000" y="2190750"/>
            <a:ext cx="38100" cy="1428750"/>
          </a:xfrm>
          <a:prstGeom prst="roundRect">
            <a:avLst>
              <a:gd name="adj" fmla="val 50000"/>
            </a:avLst>
          </a:prstGeom>
          <a:solidFill>
            <a:srgbClr val="22D3EE"/>
          </a:solidFill>
          <a:ln>
            <a:noFill/>
          </a:ln>
        </p:spPr>
      </p:sp>
      <p:sp>
        <p:nvSpPr>
          <p:cNvPr id="22" name="TextBox 22"/>
          <p:cNvSpPr txBox="1"/>
          <p:nvPr/>
        </p:nvSpPr>
        <p:spPr>
          <a:xfrm>
            <a:off x="4784408" y="2415064"/>
            <a:ext cx="2046287"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Reveals Relationships</a:t>
            </a:r>
          </a:p>
        </p:txBody>
      </p:sp>
      <p:sp>
        <p:nvSpPr>
          <p:cNvPr id="23" name="TextBox 23"/>
          <p:cNvSpPr txBox="1"/>
          <p:nvPr/>
        </p:nvSpPr>
        <p:spPr>
          <a:xfrm>
            <a:off x="4787265" y="2725102"/>
            <a:ext cx="261066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Uncovers the relationship between</a:t>
            </a:r>
          </a:p>
        </p:txBody>
      </p:sp>
      <p:sp>
        <p:nvSpPr>
          <p:cNvPr id="24" name="TextBox 24"/>
          <p:cNvSpPr txBox="1"/>
          <p:nvPr/>
        </p:nvSpPr>
        <p:spPr>
          <a:xfrm>
            <a:off x="4787265" y="2934652"/>
            <a:ext cx="25953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input layers and hidden unit layers</a:t>
            </a:r>
          </a:p>
        </p:txBody>
      </p:sp>
      <p:sp>
        <p:nvSpPr>
          <p:cNvPr id="25" name="TextBox 25"/>
          <p:cNvSpPr txBox="1"/>
          <p:nvPr/>
        </p:nvSpPr>
        <p:spPr>
          <a:xfrm>
            <a:off x="4787265" y="3144202"/>
            <a:ext cx="113847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during training</a:t>
            </a:r>
          </a:p>
        </p:txBody>
      </p:sp>
      <p:sp>
        <p:nvSpPr>
          <p:cNvPr id="26" name="Rectangle 26"/>
          <p:cNvSpPr/>
          <p:nvPr/>
        </p:nvSpPr>
        <p:spPr>
          <a:xfrm>
            <a:off x="8191500" y="2190750"/>
            <a:ext cx="3048000" cy="1428750"/>
          </a:xfrm>
          <a:prstGeom prst="roundRect">
            <a:avLst>
              <a:gd name="adj" fmla="val 8000"/>
            </a:avLst>
          </a:prstGeom>
          <a:solidFill>
            <a:srgbClr val="1E293B"/>
          </a:solidFill>
          <a:ln w="9525">
            <a:solidFill>
              <a:srgbClr val="334155"/>
            </a:solidFill>
          </a:ln>
        </p:spPr>
      </p:sp>
      <p:sp>
        <p:nvSpPr>
          <p:cNvPr id="27" name="Rectangle 27"/>
          <p:cNvSpPr/>
          <p:nvPr/>
        </p:nvSpPr>
        <p:spPr>
          <a:xfrm>
            <a:off x="8191500" y="2190750"/>
            <a:ext cx="38100" cy="1428750"/>
          </a:xfrm>
          <a:prstGeom prst="roundRect">
            <a:avLst>
              <a:gd name="adj" fmla="val 50000"/>
            </a:avLst>
          </a:prstGeom>
          <a:solidFill>
            <a:srgbClr val="8B5CF6"/>
          </a:solidFill>
          <a:ln>
            <a:noFill/>
          </a:ln>
        </p:spPr>
      </p:sp>
      <p:sp>
        <p:nvSpPr>
          <p:cNvPr id="28" name="TextBox 28"/>
          <p:cNvSpPr txBox="1"/>
          <p:nvPr/>
        </p:nvSpPr>
        <p:spPr>
          <a:xfrm>
            <a:off x="8403908" y="2415064"/>
            <a:ext cx="1586804"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Assesses Impact</a:t>
            </a:r>
          </a:p>
        </p:txBody>
      </p:sp>
      <p:sp>
        <p:nvSpPr>
          <p:cNvPr id="29" name="TextBox 29"/>
          <p:cNvSpPr txBox="1"/>
          <p:nvPr/>
        </p:nvSpPr>
        <p:spPr>
          <a:xfrm>
            <a:off x="8406765" y="2725102"/>
            <a:ext cx="2518648"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Measures how each input variable</a:t>
            </a:r>
          </a:p>
        </p:txBody>
      </p:sp>
      <p:sp>
        <p:nvSpPr>
          <p:cNvPr id="30" name="TextBox 30"/>
          <p:cNvSpPr txBox="1"/>
          <p:nvPr/>
        </p:nvSpPr>
        <p:spPr>
          <a:xfrm>
            <a:off x="8406765" y="2934652"/>
            <a:ext cx="215060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influences the final network</a:t>
            </a:r>
          </a:p>
        </p:txBody>
      </p:sp>
      <p:sp>
        <p:nvSpPr>
          <p:cNvPr id="31" name="TextBox 31"/>
          <p:cNvSpPr txBox="1"/>
          <p:nvPr/>
        </p:nvSpPr>
        <p:spPr>
          <a:xfrm>
            <a:off x="8406765" y="3144202"/>
            <a:ext cx="125349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output accuracy</a:t>
            </a:r>
          </a:p>
        </p:txBody>
      </p:sp>
      <p:sp>
        <p:nvSpPr>
          <p:cNvPr id="32" name="Rectangle 32"/>
          <p:cNvSpPr/>
          <p:nvPr/>
        </p:nvSpPr>
        <p:spPr>
          <a:xfrm>
            <a:off x="952500" y="4000500"/>
            <a:ext cx="3048000" cy="1428750"/>
          </a:xfrm>
          <a:prstGeom prst="roundRect">
            <a:avLst>
              <a:gd name="adj" fmla="val 8000"/>
            </a:avLst>
          </a:prstGeom>
          <a:solidFill>
            <a:srgbClr val="1E293B"/>
          </a:solidFill>
          <a:ln w="9525">
            <a:solidFill>
              <a:srgbClr val="334155"/>
            </a:solidFill>
          </a:ln>
        </p:spPr>
      </p:sp>
      <p:sp>
        <p:nvSpPr>
          <p:cNvPr id="33" name="Rectangle 33"/>
          <p:cNvSpPr/>
          <p:nvPr/>
        </p:nvSpPr>
        <p:spPr>
          <a:xfrm>
            <a:off x="952500" y="4000500"/>
            <a:ext cx="38100" cy="1428750"/>
          </a:xfrm>
          <a:prstGeom prst="roundRect">
            <a:avLst>
              <a:gd name="adj" fmla="val 50000"/>
            </a:avLst>
          </a:prstGeom>
          <a:solidFill>
            <a:srgbClr val="10B981"/>
          </a:solidFill>
          <a:ln>
            <a:noFill/>
          </a:ln>
        </p:spPr>
      </p:sp>
      <p:sp>
        <p:nvSpPr>
          <p:cNvPr id="34" name="TextBox 34"/>
          <p:cNvSpPr txBox="1"/>
          <p:nvPr/>
        </p:nvSpPr>
        <p:spPr>
          <a:xfrm>
            <a:off x="1164908" y="4224814"/>
            <a:ext cx="2241811"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Deep Network Essential</a:t>
            </a:r>
          </a:p>
        </p:txBody>
      </p:sp>
      <p:sp>
        <p:nvSpPr>
          <p:cNvPr id="35" name="TextBox 35"/>
          <p:cNvSpPr txBox="1"/>
          <p:nvPr/>
        </p:nvSpPr>
        <p:spPr>
          <a:xfrm>
            <a:off x="1167765" y="4534852"/>
            <a:ext cx="2533983"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Critical for deep neural networks</a:t>
            </a:r>
          </a:p>
        </p:txBody>
      </p:sp>
      <p:sp>
        <p:nvSpPr>
          <p:cNvPr id="36" name="TextBox 36"/>
          <p:cNvSpPr txBox="1"/>
          <p:nvPr/>
        </p:nvSpPr>
        <p:spPr>
          <a:xfrm>
            <a:off x="1167765" y="4744402"/>
            <a:ext cx="205859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in error-prone and complex</a:t>
            </a:r>
          </a:p>
        </p:txBody>
      </p:sp>
      <p:sp>
        <p:nvSpPr>
          <p:cNvPr id="37" name="TextBox 37"/>
          <p:cNvSpPr txBox="1"/>
          <p:nvPr/>
        </p:nvSpPr>
        <p:spPr>
          <a:xfrm>
            <a:off x="1167765" y="4953952"/>
            <a:ext cx="150652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real-world projects</a:t>
            </a:r>
          </a:p>
        </p:txBody>
      </p:sp>
      <p:sp>
        <p:nvSpPr>
          <p:cNvPr id="38" name="Rectangle 38"/>
          <p:cNvSpPr/>
          <p:nvPr/>
        </p:nvSpPr>
        <p:spPr>
          <a:xfrm>
            <a:off x="4572000" y="4000500"/>
            <a:ext cx="3048000" cy="1428750"/>
          </a:xfrm>
          <a:prstGeom prst="roundRect">
            <a:avLst>
              <a:gd name="adj" fmla="val 8000"/>
            </a:avLst>
          </a:prstGeom>
          <a:solidFill>
            <a:srgbClr val="1E293B"/>
          </a:solidFill>
          <a:ln w="9525">
            <a:solidFill>
              <a:srgbClr val="334155"/>
            </a:solidFill>
          </a:ln>
        </p:spPr>
      </p:sp>
      <p:sp>
        <p:nvSpPr>
          <p:cNvPr id="39" name="Rectangle 39"/>
          <p:cNvSpPr/>
          <p:nvPr/>
        </p:nvSpPr>
        <p:spPr>
          <a:xfrm>
            <a:off x="4572000" y="4000500"/>
            <a:ext cx="38100" cy="1428750"/>
          </a:xfrm>
          <a:prstGeom prst="roundRect">
            <a:avLst>
              <a:gd name="adj" fmla="val 50000"/>
            </a:avLst>
          </a:prstGeom>
          <a:solidFill>
            <a:srgbClr val="F59E0B"/>
          </a:solidFill>
          <a:ln>
            <a:noFill/>
          </a:ln>
        </p:spPr>
      </p:sp>
      <p:sp>
        <p:nvSpPr>
          <p:cNvPr id="40" name="TextBox 40"/>
          <p:cNvSpPr txBox="1"/>
          <p:nvPr/>
        </p:nvSpPr>
        <p:spPr>
          <a:xfrm>
            <a:off x="4784408" y="4224814"/>
            <a:ext cx="2173378"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Mathematical Elegance</a:t>
            </a:r>
          </a:p>
        </p:txBody>
      </p:sp>
      <p:sp>
        <p:nvSpPr>
          <p:cNvPr id="41" name="TextBox 41"/>
          <p:cNvSpPr txBox="1"/>
          <p:nvPr/>
        </p:nvSpPr>
        <p:spPr>
          <a:xfrm>
            <a:off x="4787265" y="4534852"/>
            <a:ext cx="244197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Leverages chain and power rules</a:t>
            </a:r>
          </a:p>
        </p:txBody>
      </p:sp>
      <p:sp>
        <p:nvSpPr>
          <p:cNvPr id="42" name="TextBox 42"/>
          <p:cNvSpPr txBox="1"/>
          <p:nvPr/>
        </p:nvSpPr>
        <p:spPr>
          <a:xfrm>
            <a:off x="4787265" y="4744402"/>
            <a:ext cx="2656665"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for efficient gradient computation</a:t>
            </a:r>
          </a:p>
        </p:txBody>
      </p:sp>
      <p:sp>
        <p:nvSpPr>
          <p:cNvPr id="43" name="TextBox 43"/>
          <p:cNvSpPr txBox="1"/>
          <p:nvPr/>
        </p:nvSpPr>
        <p:spPr>
          <a:xfrm>
            <a:off x="4787265" y="4953952"/>
            <a:ext cx="226561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across any number of outputs</a:t>
            </a:r>
          </a:p>
        </p:txBody>
      </p:sp>
      <p:sp>
        <p:nvSpPr>
          <p:cNvPr id="44" name="Rectangle 44"/>
          <p:cNvSpPr/>
          <p:nvPr/>
        </p:nvSpPr>
        <p:spPr>
          <a:xfrm>
            <a:off x="8191500" y="4000500"/>
            <a:ext cx="3048000" cy="1428750"/>
          </a:xfrm>
          <a:prstGeom prst="roundRect">
            <a:avLst>
              <a:gd name="adj" fmla="val 8000"/>
            </a:avLst>
          </a:prstGeom>
          <a:solidFill>
            <a:srgbClr val="1E293B"/>
          </a:solidFill>
          <a:ln w="9525">
            <a:solidFill>
              <a:srgbClr val="334155"/>
            </a:solidFill>
          </a:ln>
        </p:spPr>
      </p:sp>
      <p:sp>
        <p:nvSpPr>
          <p:cNvPr id="45" name="Rectangle 45"/>
          <p:cNvSpPr/>
          <p:nvPr/>
        </p:nvSpPr>
        <p:spPr>
          <a:xfrm>
            <a:off x="8191500" y="4000500"/>
            <a:ext cx="38100" cy="1428750"/>
          </a:xfrm>
          <a:prstGeom prst="roundRect">
            <a:avLst>
              <a:gd name="adj" fmla="val 50000"/>
            </a:avLst>
          </a:prstGeom>
          <a:solidFill>
            <a:srgbClr val="3B82F6"/>
          </a:solidFill>
          <a:ln>
            <a:noFill/>
          </a:ln>
        </p:spPr>
      </p:sp>
      <p:sp>
        <p:nvSpPr>
          <p:cNvPr id="46" name="TextBox 46"/>
          <p:cNvSpPr txBox="1"/>
          <p:nvPr/>
        </p:nvSpPr>
        <p:spPr>
          <a:xfrm>
            <a:off x="8403908" y="4224814"/>
            <a:ext cx="2349350"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Computational Necessity</a:t>
            </a:r>
          </a:p>
        </p:txBody>
      </p:sp>
      <p:sp>
        <p:nvSpPr>
          <p:cNvPr id="47" name="TextBox 47"/>
          <p:cNvSpPr txBox="1"/>
          <p:nvPr/>
        </p:nvSpPr>
        <p:spPr>
          <a:xfrm>
            <a:off x="8406765" y="4534852"/>
            <a:ext cx="261066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Without backpropagation, training</a:t>
            </a:r>
          </a:p>
        </p:txBody>
      </p:sp>
      <p:sp>
        <p:nvSpPr>
          <p:cNvPr id="48" name="TextBox 48"/>
          <p:cNvSpPr txBox="1"/>
          <p:nvPr/>
        </p:nvSpPr>
        <p:spPr>
          <a:xfrm>
            <a:off x="8406765" y="4744402"/>
            <a:ext cx="179022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deep networks would be</a:t>
            </a:r>
          </a:p>
        </p:txBody>
      </p:sp>
      <p:sp>
        <p:nvSpPr>
          <p:cNvPr id="49" name="TextBox 49"/>
          <p:cNvSpPr txBox="1"/>
          <p:nvPr/>
        </p:nvSpPr>
        <p:spPr>
          <a:xfrm>
            <a:off x="8406765" y="4953952"/>
            <a:ext cx="198191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computationally infeasible</a:t>
            </a:r>
          </a:p>
        </p:txBody>
      </p:sp>
      <p:sp>
        <p:nvSpPr>
          <p:cNvPr id="50" name="Rectangle 50"/>
          <p:cNvSpPr/>
          <p:nvPr/>
        </p:nvSpPr>
        <p:spPr>
          <a:xfrm>
            <a:off x="5143500" y="6000750"/>
            <a:ext cx="1905000" cy="28575"/>
          </a:xfrm>
          <a:prstGeom prst="roundRect">
            <a:avLst>
              <a:gd name="adj" fmla="val 50000"/>
            </a:avLst>
          </a:prstGeom>
          <a:gradFill>
            <a:gsLst>
              <a:gs pos="0">
                <a:srgbClr val="3B82F6">
                  <a:alpha val="40000"/>
                </a:srgbClr>
              </a:gs>
              <a:gs pos="100000">
                <a:srgbClr val="22D3EE">
                  <a:alpha val="40000"/>
                </a:srgbClr>
              </a:gs>
            </a:gsLst>
            <a:lin ang="0" scaled="1"/>
          </a:gradFill>
          <a:ln>
            <a:noFill/>
          </a:ln>
        </p:spPr>
      </p:sp>
      <p:sp>
        <p:nvSpPr>
          <p:cNvPr id="51" name="TextBox 51"/>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14</a:t>
            </a:r>
          </a:p>
        </p:txBody>
      </p:sp>
      <p:pic>
        <p:nvPicPr>
          <p:cNvPr id="52" name="narration1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0156">
    <p:fade/>
  </p:transition>
  <p:timing>
    <p:tnLst>
      <p:par>
        <p:cTn id="1" dur="indefinite" restart="never" nodeType="tmRoot">
          <p:childTnLst>
            <p:audio>
              <p:cMediaNode vol="80000">
                <p:cTn id="2" fill="hold" display="0">
                  <p:stCondLst>
                    <p:cond delay="0"/>
                  </p:stCondLst>
                </p:cTn>
                <p:tgtEl>
                  <p:spTgt spid="5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F172A">
                  <a:alpha val="40000"/>
                </a:srgbClr>
              </a:gs>
              <a:gs pos="40000">
                <a:srgbClr val="0F172A">
                  <a:alpha val="60000"/>
                </a:srgbClr>
              </a:gs>
              <a:gs pos="100000">
                <a:srgbClr val="0F172A">
                  <a:alpha val="92000"/>
                </a:srgbClr>
              </a:gs>
            </a:gsLst>
            <a:lin ang="5400000" scaled="1"/>
          </a:gradFill>
          <a:ln>
            <a:noFill/>
          </a:ln>
        </p:spPr>
      </p:sp>
      <p:sp>
        <p:nvSpPr>
          <p:cNvPr id="4" name="Rectangle 4"/>
          <p:cNvSpPr/>
          <p:nvPr/>
        </p:nvSpPr>
        <p:spPr>
          <a:xfrm>
            <a:off x="5143500" y="3048000"/>
            <a:ext cx="1905000" cy="38100"/>
          </a:xfrm>
          <a:prstGeom prst="roundRect">
            <a:avLst>
              <a:gd name="adj" fmla="val 50000"/>
            </a:avLst>
          </a:prstGeom>
          <a:gradFill>
            <a:gsLst>
              <a:gs pos="0">
                <a:srgbClr val="3B82F6"/>
              </a:gs>
              <a:gs pos="100000">
                <a:srgbClr val="22D3EE"/>
              </a:gs>
            </a:gsLst>
            <a:lin ang="0" scaled="1"/>
          </a:gradFill>
          <a:ln>
            <a:noFill/>
          </a:ln>
        </p:spPr>
      </p:sp>
      <p:sp>
        <p:nvSpPr>
          <p:cNvPr id="5" name="TextBox 5"/>
          <p:cNvSpPr txBox="1"/>
          <p:nvPr/>
        </p:nvSpPr>
        <p:spPr>
          <a:xfrm>
            <a:off x="5782818" y="3394710"/>
            <a:ext cx="626364" cy="243840"/>
          </a:xfrm>
          <a:prstGeom prst="rect">
            <a:avLst/>
          </a:prstGeom>
          <a:noFill/>
          <a:ln>
            <a:noFill/>
          </a:ln>
        </p:spPr>
        <p:txBody>
          <a:bodyPr wrap="none" lIns="0" tIns="0" rIns="0" bIns="0" anchor="t" anchorCtr="0">
            <a:spAutoFit/>
          </a:bodyPr>
          <a:lstStyle/>
          <a:p>
            <a:pPr algn="ctr"/>
            <a:r>
              <a:rPr lang="zh-CN" sz="1200" dirty="0">
                <a:solidFill>
                  <a:srgbClr val="22D3EE">
                    <a:alphaMod val="80000"/>
                  </a:srgbClr>
                </a:solidFill>
                <a:latin typeface="Arial"/>
                <a:ea typeface="Microsoft YaHei"/>
                <a:cs typeface="Arial"/>
              </a:rPr>
              <a:t>PART III</a:t>
            </a:r>
          </a:p>
        </p:txBody>
      </p:sp>
      <p:sp>
        <p:nvSpPr>
          <p:cNvPr id="6" name="TextBox 6"/>
          <p:cNvSpPr txBox="1"/>
          <p:nvPr/>
        </p:nvSpPr>
        <p:spPr>
          <a:xfrm>
            <a:off x="2652396" y="3674745"/>
            <a:ext cx="6887208" cy="792480"/>
          </a:xfrm>
          <a:prstGeom prst="rect">
            <a:avLst/>
          </a:prstGeom>
          <a:noFill/>
          <a:ln>
            <a:noFill/>
          </a:ln>
        </p:spPr>
        <p:txBody>
          <a:bodyPr wrap="none" lIns="0" tIns="0" rIns="0" bIns="0" anchor="t" anchorCtr="0">
            <a:spAutoFit/>
          </a:bodyPr>
          <a:lstStyle/>
          <a:p>
            <a:pPr algn="ctr"/>
            <a:r>
              <a:rPr lang="zh-CN" sz="3900" b="1" dirty="0">
                <a:solidFill>
                  <a:srgbClr val="F1F5F9"/>
                </a:solidFill>
                <a:latin typeface="Georgia"/>
                <a:ea typeface="Microsoft YaHei"/>
                <a:cs typeface="Georgia"/>
              </a:rPr>
              <a:t>Real-World Applications</a:t>
            </a:r>
          </a:p>
        </p:txBody>
      </p:sp>
      <p:sp>
        <p:nvSpPr>
          <p:cNvPr id="7" name="TextBox 7"/>
          <p:cNvSpPr txBox="1"/>
          <p:nvPr/>
        </p:nvSpPr>
        <p:spPr>
          <a:xfrm>
            <a:off x="2730579" y="4410075"/>
            <a:ext cx="6730841" cy="304800"/>
          </a:xfrm>
          <a:prstGeom prst="rect">
            <a:avLst/>
          </a:prstGeom>
          <a:noFill/>
          <a:ln>
            <a:noFill/>
          </a:ln>
        </p:spPr>
        <p:txBody>
          <a:bodyPr wrap="none" lIns="0" tIns="0" rIns="0" bIns="0" anchor="t" anchorCtr="0">
            <a:spAutoFit/>
          </a:bodyPr>
          <a:lstStyle/>
          <a:p>
            <a:pPr algn="ctr"/>
            <a:r>
              <a:rPr lang="zh-CN" sz="1500" dirty="0">
                <a:solidFill>
                  <a:srgbClr val="94A3B8"/>
                </a:solidFill>
                <a:latin typeface="Arial"/>
                <a:ea typeface="Microsoft YaHei"/>
                <a:cs typeface="Arial"/>
              </a:rPr>
              <a:t>Pattern Recognition, Face Recognition, and Speech Recognition</a:t>
            </a:r>
          </a:p>
        </p:txBody>
      </p:sp>
      <p:sp>
        <p:nvSpPr>
          <p:cNvPr id="8" name="Ellipse 8"/>
          <p:cNvSpPr/>
          <p:nvPr/>
        </p:nvSpPr>
        <p:spPr>
          <a:xfrm>
            <a:off x="5876925" y="5114925"/>
            <a:ext cx="57150" cy="57150"/>
          </a:xfrm>
          <a:prstGeom prst="ellipse">
            <a:avLst/>
          </a:prstGeom>
          <a:solidFill>
            <a:srgbClr val="3B82F6">
              <a:alpha val="60000"/>
            </a:srgbClr>
          </a:solidFill>
          <a:ln>
            <a:noFill/>
          </a:ln>
        </p:spPr>
      </p:sp>
      <p:sp>
        <p:nvSpPr>
          <p:cNvPr id="9" name="Ellipse 9"/>
          <p:cNvSpPr/>
          <p:nvPr/>
        </p:nvSpPr>
        <p:spPr>
          <a:xfrm>
            <a:off x="6067425" y="5114925"/>
            <a:ext cx="57150" cy="57150"/>
          </a:xfrm>
          <a:prstGeom prst="ellipse">
            <a:avLst/>
          </a:prstGeom>
          <a:solidFill>
            <a:srgbClr val="22D3EE">
              <a:alpha val="60000"/>
            </a:srgbClr>
          </a:solidFill>
          <a:ln>
            <a:noFill/>
          </a:ln>
        </p:spPr>
      </p:sp>
      <p:sp>
        <p:nvSpPr>
          <p:cNvPr id="10" name="Ellipse 10"/>
          <p:cNvSpPr/>
          <p:nvPr/>
        </p:nvSpPr>
        <p:spPr>
          <a:xfrm>
            <a:off x="6257925" y="5114925"/>
            <a:ext cx="57150" cy="57150"/>
          </a:xfrm>
          <a:prstGeom prst="ellipse">
            <a:avLst/>
          </a:prstGeom>
          <a:solidFill>
            <a:srgbClr val="8B5CF6">
              <a:alpha val="60000"/>
            </a:srgbClr>
          </a:solidFill>
          <a:ln>
            <a:noFill/>
          </a:ln>
        </p:spPr>
      </p:sp>
      <p:sp>
        <p:nvSpPr>
          <p:cNvPr id="11" name="TextBox 11"/>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15</a:t>
            </a:r>
          </a:p>
        </p:txBody>
      </p:sp>
      <p:pic>
        <p:nvPicPr>
          <p:cNvPr id="12" name="narration1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0" y="0"/>
            <a:ext cx="1" cy="1"/>
          </a:xfrm>
          <a:prstGeom prst="rect">
            <a:avLst/>
          </a:prstGeom>
        </p:spPr>
      </p:pic>
    </p:spTree>
  </p:cSld>
  <p:clrMapOvr>
    <a:masterClrMapping/>
  </p:clrMapOvr>
  <p:transition xmlns:p14="http://schemas.microsoft.com/office/powerpoint/2010/main" p14:dur="400" advTm="21788">
    <p:fade/>
  </p:transition>
  <p:timing>
    <p:tnLst>
      <p:par>
        <p:cTn id="1" dur="indefinite" restart="never" nodeType="tmRoot">
          <p:childTnLst>
            <p:audio>
              <p:cMediaNode vol="80000">
                <p:cTn id="2" fill="hold" display="0">
                  <p:stCondLst>
                    <p:cond delay="0"/>
                  </p:stCondLst>
                </p:cTn>
                <p:tgtEl>
                  <p:spTgt spid="1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582887" y="695325"/>
            <a:ext cx="262444" cy="190500"/>
          </a:xfrm>
          <a:custGeom>
            <a:avLst/>
            <a:gdLst/>
            <a:ahLst/>
            <a:cxnLst/>
            <a:rect l="l" t="t" r="r" b="b"/>
            <a:pathLst>
              <a:path w="262444" h="190500">
                <a:moveTo>
                  <a:pt x="131488" y="0"/>
                </a:moveTo>
                <a:cubicBezTo>
                  <a:pt x="182565" y="0"/>
                  <a:pt x="225106" y="28920"/>
                  <a:pt x="258468" y="85177"/>
                </a:cubicBezTo>
                <a:lnTo>
                  <a:pt x="261087" y="89690"/>
                </a:lnTo>
                <a:lnTo>
                  <a:pt x="261623" y="90880"/>
                </a:lnTo>
                <a:lnTo>
                  <a:pt x="261980" y="91869"/>
                </a:lnTo>
                <a:lnTo>
                  <a:pt x="262147" y="92523"/>
                </a:lnTo>
                <a:lnTo>
                  <a:pt x="262313" y="93500"/>
                </a:lnTo>
                <a:lnTo>
                  <a:pt x="262444" y="94690"/>
                </a:lnTo>
                <a:lnTo>
                  <a:pt x="262444" y="96000"/>
                </a:lnTo>
                <a:lnTo>
                  <a:pt x="262278" y="97322"/>
                </a:lnTo>
                <a:cubicBezTo>
                  <a:pt x="262199" y="97764"/>
                  <a:pt x="262096" y="98201"/>
                  <a:pt x="261968" y="98631"/>
                </a:cubicBezTo>
                <a:lnTo>
                  <a:pt x="261504" y="99917"/>
                </a:lnTo>
                <a:lnTo>
                  <a:pt x="261075" y="100810"/>
                </a:lnTo>
                <a:lnTo>
                  <a:pt x="260885" y="101167"/>
                </a:lnTo>
                <a:cubicBezTo>
                  <a:pt x="227976" y="158746"/>
                  <a:pt x="185875" y="189036"/>
                  <a:pt x="135214" y="190452"/>
                </a:cubicBezTo>
                <a:lnTo>
                  <a:pt x="131488" y="190500"/>
                </a:lnTo>
                <a:cubicBezTo>
                  <a:pt x="79148" y="190500"/>
                  <a:pt x="35797" y="160151"/>
                  <a:pt x="2090" y="101156"/>
                </a:cubicBezTo>
                <a:cubicBezTo>
                  <a:pt x="0" y="97496"/>
                  <a:pt x="0" y="93004"/>
                  <a:pt x="2090" y="89344"/>
                </a:cubicBezTo>
                <a:cubicBezTo>
                  <a:pt x="35797" y="30349"/>
                  <a:pt x="79148" y="0"/>
                  <a:pt x="131488" y="0"/>
                </a:cubicBezTo>
                <a:close/>
                <a:moveTo>
                  <a:pt x="131488" y="59531"/>
                </a:moveTo>
                <a:cubicBezTo>
                  <a:pt x="111761" y="59531"/>
                  <a:pt x="95769" y="75523"/>
                  <a:pt x="95769" y="95250"/>
                </a:cubicBezTo>
                <a:cubicBezTo>
                  <a:pt x="95769" y="114977"/>
                  <a:pt x="111761" y="130969"/>
                  <a:pt x="131488" y="130969"/>
                </a:cubicBezTo>
                <a:cubicBezTo>
                  <a:pt x="151214" y="130969"/>
                  <a:pt x="167206" y="114977"/>
                  <a:pt x="167206" y="95250"/>
                </a:cubicBezTo>
                <a:cubicBezTo>
                  <a:pt x="167206" y="75523"/>
                  <a:pt x="151214" y="59531"/>
                  <a:pt x="131488" y="59531"/>
                </a:cubicBezTo>
              </a:path>
            </a:pathLst>
          </a:custGeom>
          <a:solidFill>
            <a:srgbClr val="3B82F6"/>
          </a:solidFill>
          <a:ln>
            <a:noFill/>
          </a:ln>
        </p:spPr>
      </p:sp>
      <p:sp>
        <p:nvSpPr>
          <p:cNvPr id="5" name="TextBox 5"/>
          <p:cNvSpPr txBox="1"/>
          <p:nvPr/>
        </p:nvSpPr>
        <p:spPr>
          <a:xfrm>
            <a:off x="923925" y="633412"/>
            <a:ext cx="3404068"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Pattern Recognition</a:t>
            </a:r>
          </a:p>
        </p:txBody>
      </p:sp>
      <p:sp>
        <p:nvSpPr>
          <p:cNvPr id="6" name="Rectangle 6"/>
          <p:cNvSpPr/>
          <p:nvPr/>
        </p:nvSpPr>
        <p:spPr>
          <a:xfrm>
            <a:off x="571500" y="1143000"/>
            <a:ext cx="3524250" cy="5143500"/>
          </a:xfrm>
          <a:prstGeom prst="roundRect">
            <a:avLst>
              <a:gd name="adj" fmla="val 3243"/>
            </a:avLst>
          </a:prstGeom>
          <a:solidFill>
            <a:srgbClr val="1E293B"/>
          </a:solidFill>
          <a:ln w="9525">
            <a:solidFill>
              <a:srgbClr val="334155"/>
            </a:solidFill>
          </a:ln>
        </p:spPr>
      </p:sp>
      <p:sp>
        <p:nvSpPr>
          <p:cNvPr id="7" name="Rectangle 7"/>
          <p:cNvSpPr/>
          <p:nvPr/>
        </p:nvSpPr>
        <p:spPr>
          <a:xfrm>
            <a:off x="571500" y="1143000"/>
            <a:ext cx="3524250" cy="57150"/>
          </a:xfrm>
          <a:prstGeom prst="roundRect">
            <a:avLst>
              <a:gd name="adj" fmla="val 50000"/>
            </a:avLst>
          </a:prstGeom>
          <a:solidFill>
            <a:srgbClr val="3B82F6"/>
          </a:solidFill>
          <a:ln>
            <a:noFill/>
          </a:ln>
        </p:spPr>
      </p:sp>
      <p:sp>
        <p:nvSpPr>
          <p:cNvPr id="8" name="TextBox 8"/>
          <p:cNvSpPr txBox="1"/>
          <p:nvPr/>
        </p:nvSpPr>
        <p:spPr>
          <a:xfrm>
            <a:off x="742950" y="1409700"/>
            <a:ext cx="2131362"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Georgia"/>
                <a:ea typeface="Microsoft YaHei"/>
                <a:cs typeface="Georgia"/>
              </a:rPr>
              <a:t>What is a Pattern?</a:t>
            </a:r>
          </a:p>
        </p:txBody>
      </p:sp>
      <p:sp>
        <p:nvSpPr>
          <p:cNvPr id="9" name="Line 9"/>
          <p:cNvSpPr/>
          <p:nvPr/>
        </p:nvSpPr>
        <p:spPr>
          <a:xfrm>
            <a:off x="762000" y="1714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10" name="TextBox 10"/>
          <p:cNvSpPr txBox="1"/>
          <p:nvPr/>
        </p:nvSpPr>
        <p:spPr>
          <a:xfrm>
            <a:off x="747712" y="1878806"/>
            <a:ext cx="243566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A set of objects or phenomena</a:t>
            </a:r>
          </a:p>
        </p:txBody>
      </p:sp>
      <p:sp>
        <p:nvSpPr>
          <p:cNvPr id="11" name="TextBox 11"/>
          <p:cNvSpPr txBox="1"/>
          <p:nvPr/>
        </p:nvSpPr>
        <p:spPr>
          <a:xfrm>
            <a:off x="747712" y="2107406"/>
            <a:ext cx="209883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where the elements share</a:t>
            </a:r>
          </a:p>
        </p:txBody>
      </p:sp>
      <p:sp>
        <p:nvSpPr>
          <p:cNvPr id="12" name="TextBox 12"/>
          <p:cNvSpPr txBox="1"/>
          <p:nvPr/>
        </p:nvSpPr>
        <p:spPr>
          <a:xfrm>
            <a:off x="747712" y="2336006"/>
            <a:ext cx="276427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similar traits or characteristics.</a:t>
            </a:r>
          </a:p>
        </p:txBody>
      </p:sp>
      <p:sp>
        <p:nvSpPr>
          <p:cNvPr id="13" name="Rectangle 13"/>
          <p:cNvSpPr/>
          <p:nvPr/>
        </p:nvSpPr>
        <p:spPr>
          <a:xfrm>
            <a:off x="762000" y="2762250"/>
            <a:ext cx="3143250" cy="666750"/>
          </a:xfrm>
          <a:prstGeom prst="roundRect">
            <a:avLst>
              <a:gd name="adj" fmla="val 11429"/>
            </a:avLst>
          </a:prstGeom>
          <a:solidFill>
            <a:srgbClr val="3B82F6">
              <a:alpha val="8000"/>
            </a:srgbClr>
          </a:solidFill>
          <a:ln w="9525">
            <a:solidFill>
              <a:srgbClr val="3B82F6">
                <a:alpha val="30000"/>
              </a:srgbClr>
            </a:solidFill>
          </a:ln>
        </p:spPr>
      </p:sp>
      <p:sp>
        <p:nvSpPr>
          <p:cNvPr id="14" name="TextBox 14"/>
          <p:cNvSpPr txBox="1"/>
          <p:nvPr/>
        </p:nvSpPr>
        <p:spPr>
          <a:xfrm>
            <a:off x="901065" y="2915602"/>
            <a:ext cx="1514189" cy="213360"/>
          </a:xfrm>
          <a:prstGeom prst="rect">
            <a:avLst/>
          </a:prstGeom>
          <a:noFill/>
          <a:ln>
            <a:noFill/>
          </a:ln>
        </p:spPr>
        <p:txBody>
          <a:bodyPr wrap="none" lIns="0" tIns="0" rIns="0" bIns="0" anchor="t" anchorCtr="0">
            <a:spAutoFit/>
          </a:bodyPr>
          <a:lstStyle/>
          <a:p>
            <a:pPr algn="l"/>
            <a:r>
              <a:rPr lang="zh-CN" sz="1050" dirty="0">
                <a:solidFill>
                  <a:srgbClr val="F1F5F9"/>
                </a:solidFill>
                <a:latin typeface="Arial"/>
                <a:ea typeface="Microsoft YaHei"/>
                <a:cs typeface="Arial"/>
              </a:rPr>
              <a:t>Biological Examples:</a:t>
            </a:r>
          </a:p>
        </p:txBody>
      </p:sp>
      <p:sp>
        <p:nvSpPr>
          <p:cNvPr id="15" name="TextBox 15"/>
          <p:cNvSpPr txBox="1"/>
          <p:nvPr/>
        </p:nvSpPr>
        <p:spPr>
          <a:xfrm>
            <a:off x="902018" y="3152299"/>
            <a:ext cx="2082427" cy="198120"/>
          </a:xfrm>
          <a:prstGeom prst="rect">
            <a:avLst/>
          </a:prstGeom>
          <a:noFill/>
          <a:ln>
            <a:noFill/>
          </a:ln>
        </p:spPr>
        <p:txBody>
          <a:bodyPr wrap="none" lIns="0" tIns="0" rIns="0" bIns="0" anchor="t" anchorCtr="0">
            <a:spAutoFit/>
          </a:bodyPr>
          <a:lstStyle/>
          <a:p>
            <a:pPr algn="l"/>
            <a:r>
              <a:rPr lang="zh-CN" sz="975" dirty="0">
                <a:solidFill>
                  <a:srgbClr val="3B82F6"/>
                </a:solidFill>
                <a:latin typeface="Consolas"/>
                <a:ea typeface="Microsoft YaHei"/>
                <a:cs typeface="Consolas"/>
              </a:rPr>
              <a:t>Paramecium, Amoeba, Euglena</a:t>
            </a:r>
          </a:p>
        </p:txBody>
      </p:sp>
      <p:sp>
        <p:nvSpPr>
          <p:cNvPr id="16" name="Rectangle 16"/>
          <p:cNvSpPr/>
          <p:nvPr/>
        </p:nvSpPr>
        <p:spPr>
          <a:xfrm>
            <a:off x="762000" y="3619500"/>
            <a:ext cx="3143250" cy="666750"/>
          </a:xfrm>
          <a:prstGeom prst="roundRect">
            <a:avLst>
              <a:gd name="adj" fmla="val 11429"/>
            </a:avLst>
          </a:prstGeom>
          <a:solidFill>
            <a:srgbClr val="8B5CF6">
              <a:alpha val="8000"/>
            </a:srgbClr>
          </a:solidFill>
          <a:ln w="9525">
            <a:solidFill>
              <a:srgbClr val="8B5CF6">
                <a:alpha val="30000"/>
              </a:srgbClr>
            </a:solidFill>
          </a:ln>
        </p:spPr>
      </p:sp>
      <p:sp>
        <p:nvSpPr>
          <p:cNvPr id="17" name="TextBox 17"/>
          <p:cNvSpPr txBox="1"/>
          <p:nvPr/>
        </p:nvSpPr>
        <p:spPr>
          <a:xfrm>
            <a:off x="901065" y="3772852"/>
            <a:ext cx="1468184" cy="213360"/>
          </a:xfrm>
          <a:prstGeom prst="rect">
            <a:avLst/>
          </a:prstGeom>
          <a:noFill/>
          <a:ln>
            <a:noFill/>
          </a:ln>
        </p:spPr>
        <p:txBody>
          <a:bodyPr wrap="none" lIns="0" tIns="0" rIns="0" bIns="0" anchor="t" anchorCtr="0">
            <a:spAutoFit/>
          </a:bodyPr>
          <a:lstStyle/>
          <a:p>
            <a:pPr algn="l"/>
            <a:r>
              <a:rPr lang="zh-CN" sz="1050" dirty="0">
                <a:solidFill>
                  <a:srgbClr val="F1F5F9"/>
                </a:solidFill>
                <a:latin typeface="Arial"/>
                <a:ea typeface="Microsoft YaHei"/>
                <a:cs typeface="Arial"/>
              </a:rPr>
              <a:t>Celestial Examples:</a:t>
            </a:r>
          </a:p>
        </p:txBody>
      </p:sp>
      <p:sp>
        <p:nvSpPr>
          <p:cNvPr id="18" name="TextBox 18"/>
          <p:cNvSpPr txBox="1"/>
          <p:nvPr/>
        </p:nvSpPr>
        <p:spPr>
          <a:xfrm>
            <a:off x="902018" y="4009549"/>
            <a:ext cx="2210586" cy="198120"/>
          </a:xfrm>
          <a:prstGeom prst="rect">
            <a:avLst/>
          </a:prstGeom>
          <a:noFill/>
          <a:ln>
            <a:noFill/>
          </a:ln>
        </p:spPr>
        <p:txBody>
          <a:bodyPr wrap="none" lIns="0" tIns="0" rIns="0" bIns="0" anchor="t" anchorCtr="0">
            <a:spAutoFit/>
          </a:bodyPr>
          <a:lstStyle/>
          <a:p>
            <a:pPr algn="l"/>
            <a:r>
              <a:rPr lang="zh-CN" sz="975" dirty="0">
                <a:solidFill>
                  <a:srgbClr val="8B5CF6"/>
                </a:solidFill>
                <a:latin typeface="Consolas"/>
                <a:ea typeface="Microsoft YaHei"/>
                <a:cs typeface="Consolas"/>
              </a:rPr>
              <a:t>Star constellations in night sky</a:t>
            </a:r>
          </a:p>
        </p:txBody>
      </p:sp>
      <p:sp>
        <p:nvSpPr>
          <p:cNvPr id="19" name="Rectangle 19"/>
          <p:cNvSpPr/>
          <p:nvPr/>
        </p:nvSpPr>
        <p:spPr>
          <a:xfrm>
            <a:off x="4333875" y="1143000"/>
            <a:ext cx="3524250" cy="5143500"/>
          </a:xfrm>
          <a:prstGeom prst="roundRect">
            <a:avLst>
              <a:gd name="adj" fmla="val 3243"/>
            </a:avLst>
          </a:prstGeom>
          <a:solidFill>
            <a:srgbClr val="1E293B"/>
          </a:solidFill>
          <a:ln w="9525">
            <a:solidFill>
              <a:srgbClr val="334155"/>
            </a:solidFill>
          </a:ln>
        </p:spPr>
      </p:sp>
      <p:sp>
        <p:nvSpPr>
          <p:cNvPr id="20" name="Rectangle 20"/>
          <p:cNvSpPr/>
          <p:nvPr/>
        </p:nvSpPr>
        <p:spPr>
          <a:xfrm>
            <a:off x="4333875" y="1143000"/>
            <a:ext cx="3524250" cy="57150"/>
          </a:xfrm>
          <a:prstGeom prst="roundRect">
            <a:avLst>
              <a:gd name="adj" fmla="val 50000"/>
            </a:avLst>
          </a:prstGeom>
          <a:solidFill>
            <a:srgbClr val="22D3EE"/>
          </a:solidFill>
          <a:ln>
            <a:noFill/>
          </a:ln>
        </p:spPr>
      </p:sp>
      <p:sp>
        <p:nvSpPr>
          <p:cNvPr id="21" name="TextBox 21"/>
          <p:cNvSpPr txBox="1"/>
          <p:nvPr/>
        </p:nvSpPr>
        <p:spPr>
          <a:xfrm>
            <a:off x="4505325" y="1409700"/>
            <a:ext cx="1993344" cy="304800"/>
          </a:xfrm>
          <a:prstGeom prst="rect">
            <a:avLst/>
          </a:prstGeom>
          <a:noFill/>
          <a:ln>
            <a:noFill/>
          </a:ln>
        </p:spPr>
        <p:txBody>
          <a:bodyPr wrap="none" lIns="0" tIns="0" rIns="0" bIns="0" anchor="t" anchorCtr="0">
            <a:spAutoFit/>
          </a:bodyPr>
          <a:lstStyle/>
          <a:p>
            <a:pPr algn="l"/>
            <a:r>
              <a:rPr lang="zh-CN" sz="1500" b="1" dirty="0">
                <a:solidFill>
                  <a:srgbClr val="22D3EE"/>
                </a:solidFill>
                <a:latin typeface="Georgia"/>
                <a:ea typeface="Microsoft YaHei"/>
                <a:cs typeface="Georgia"/>
              </a:rPr>
              <a:t>Human Perception</a:t>
            </a:r>
          </a:p>
        </p:txBody>
      </p:sp>
      <p:sp>
        <p:nvSpPr>
          <p:cNvPr id="22" name="Line 22"/>
          <p:cNvSpPr/>
          <p:nvPr/>
        </p:nvSpPr>
        <p:spPr>
          <a:xfrm>
            <a:off x="4524375" y="1714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23" name="TextBox 23"/>
          <p:cNvSpPr txBox="1"/>
          <p:nvPr/>
        </p:nvSpPr>
        <p:spPr>
          <a:xfrm>
            <a:off x="4510088" y="1878806"/>
            <a:ext cx="252603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Humans naturally find patterns</a:t>
            </a:r>
          </a:p>
        </p:txBody>
      </p:sp>
      <p:sp>
        <p:nvSpPr>
          <p:cNvPr id="24" name="TextBox 24"/>
          <p:cNvSpPr txBox="1"/>
          <p:nvPr/>
        </p:nvSpPr>
        <p:spPr>
          <a:xfrm>
            <a:off x="4510088" y="2107406"/>
            <a:ext cx="210704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even in completely random</a:t>
            </a:r>
          </a:p>
        </p:txBody>
      </p:sp>
      <p:sp>
        <p:nvSpPr>
          <p:cNvPr id="25" name="TextBox 25"/>
          <p:cNvSpPr txBox="1"/>
          <p:nvPr/>
        </p:nvSpPr>
        <p:spPr>
          <a:xfrm>
            <a:off x="4510088" y="2336006"/>
            <a:ext cx="177022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noise and visual data.</a:t>
            </a:r>
          </a:p>
        </p:txBody>
      </p:sp>
      <p:sp>
        <p:nvSpPr>
          <p:cNvPr id="26" name="Rectangle 26"/>
          <p:cNvSpPr/>
          <p:nvPr/>
        </p:nvSpPr>
        <p:spPr>
          <a:xfrm>
            <a:off x="4524375" y="2762250"/>
            <a:ext cx="3143250" cy="857250"/>
          </a:xfrm>
          <a:prstGeom prst="roundRect">
            <a:avLst>
              <a:gd name="adj" fmla="val 8889"/>
            </a:avLst>
          </a:prstGeom>
          <a:solidFill>
            <a:srgbClr val="22D3EE">
              <a:alpha val="8000"/>
            </a:srgbClr>
          </a:solidFill>
          <a:ln w="9525">
            <a:solidFill>
              <a:srgbClr val="22D3EE">
                <a:alpha val="30000"/>
              </a:srgbClr>
            </a:solidFill>
          </a:ln>
        </p:spPr>
      </p:sp>
      <p:sp>
        <p:nvSpPr>
          <p:cNvPr id="27" name="TextBox 27"/>
          <p:cNvSpPr txBox="1"/>
          <p:nvPr/>
        </p:nvSpPr>
        <p:spPr>
          <a:xfrm>
            <a:off x="4663440" y="2915602"/>
            <a:ext cx="1307163" cy="213360"/>
          </a:xfrm>
          <a:prstGeom prst="rect">
            <a:avLst/>
          </a:prstGeom>
          <a:noFill/>
          <a:ln>
            <a:noFill/>
          </a:ln>
        </p:spPr>
        <p:txBody>
          <a:bodyPr wrap="none" lIns="0" tIns="0" rIns="0" bIns="0" anchor="t" anchorCtr="0">
            <a:spAutoFit/>
          </a:bodyPr>
          <a:lstStyle/>
          <a:p>
            <a:pPr algn="l"/>
            <a:r>
              <a:rPr lang="zh-CN" sz="1050" dirty="0">
                <a:solidFill>
                  <a:srgbClr val="F1F5F9"/>
                </a:solidFill>
                <a:latin typeface="Arial"/>
                <a:ea typeface="Microsoft YaHei"/>
                <a:cs typeface="Arial"/>
              </a:rPr>
              <a:t>Pareidolia Effect</a:t>
            </a:r>
          </a:p>
        </p:txBody>
      </p:sp>
      <p:sp>
        <p:nvSpPr>
          <p:cNvPr id="28" name="TextBox 28"/>
          <p:cNvSpPr txBox="1"/>
          <p:nvPr/>
        </p:nvSpPr>
        <p:spPr>
          <a:xfrm>
            <a:off x="4664392" y="3152299"/>
            <a:ext cx="2196346"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Perceiving meaningful shapes in</a:t>
            </a:r>
          </a:p>
        </p:txBody>
      </p:sp>
      <p:sp>
        <p:nvSpPr>
          <p:cNvPr id="29" name="TextBox 29"/>
          <p:cNvSpPr txBox="1"/>
          <p:nvPr/>
        </p:nvSpPr>
        <p:spPr>
          <a:xfrm>
            <a:off x="4664392" y="3342799"/>
            <a:ext cx="2189226"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clouds, rock formations, noise</a:t>
            </a:r>
          </a:p>
        </p:txBody>
      </p:sp>
      <p:sp>
        <p:nvSpPr>
          <p:cNvPr id="30" name="Rectangle 30"/>
          <p:cNvSpPr/>
          <p:nvPr/>
        </p:nvSpPr>
        <p:spPr>
          <a:xfrm>
            <a:off x="4524375" y="3810000"/>
            <a:ext cx="3143250" cy="666750"/>
          </a:xfrm>
          <a:prstGeom prst="roundRect">
            <a:avLst>
              <a:gd name="adj" fmla="val 11429"/>
            </a:avLst>
          </a:prstGeom>
          <a:solidFill>
            <a:srgbClr val="F59E0B">
              <a:alpha val="8000"/>
            </a:srgbClr>
          </a:solidFill>
          <a:ln w="9525">
            <a:solidFill>
              <a:srgbClr val="F59E0B">
                <a:alpha val="30000"/>
              </a:srgbClr>
            </a:solidFill>
          </a:ln>
        </p:spPr>
      </p:sp>
      <p:sp>
        <p:nvSpPr>
          <p:cNvPr id="31" name="Freeform 31"/>
          <p:cNvSpPr/>
          <p:nvPr/>
        </p:nvSpPr>
        <p:spPr>
          <a:xfrm>
            <a:off x="4683588" y="3966131"/>
            <a:ext cx="176782" cy="153400"/>
          </a:xfrm>
          <a:custGeom>
            <a:avLst/>
            <a:gdLst/>
            <a:ahLst/>
            <a:cxnLst/>
            <a:rect l="l" t="t" r="r" b="b"/>
            <a:pathLst>
              <a:path w="176782" h="153400">
                <a:moveTo>
                  <a:pt x="88437" y="0"/>
                </a:moveTo>
                <a:cubicBezTo>
                  <a:pt x="96018" y="0"/>
                  <a:pt x="103082" y="3707"/>
                  <a:pt x="107408" y="9898"/>
                </a:cubicBezTo>
                <a:lnTo>
                  <a:pt x="108241" y="11168"/>
                </a:lnTo>
                <a:lnTo>
                  <a:pt x="172646" y="118705"/>
                </a:lnTo>
                <a:cubicBezTo>
                  <a:pt x="176625" y="125596"/>
                  <a:pt x="176782" y="134048"/>
                  <a:pt x="173063" y="141083"/>
                </a:cubicBezTo>
                <a:cubicBezTo>
                  <a:pt x="169343" y="148117"/>
                  <a:pt x="162269" y="152745"/>
                  <a:pt x="154334" y="153337"/>
                </a:cubicBezTo>
                <a:lnTo>
                  <a:pt x="152787" y="153400"/>
                </a:lnTo>
                <a:lnTo>
                  <a:pt x="24001" y="153400"/>
                </a:lnTo>
                <a:cubicBezTo>
                  <a:pt x="16058" y="153311"/>
                  <a:pt x="8717" y="149152"/>
                  <a:pt x="4557" y="142385"/>
                </a:cubicBezTo>
                <a:cubicBezTo>
                  <a:pt x="397" y="135618"/>
                  <a:pt x="0" y="127190"/>
                  <a:pt x="3506" y="120063"/>
                </a:cubicBezTo>
                <a:lnTo>
                  <a:pt x="4292" y="118594"/>
                </a:lnTo>
                <a:lnTo>
                  <a:pt x="68665" y="11136"/>
                </a:lnTo>
                <a:cubicBezTo>
                  <a:pt x="72857" y="4224"/>
                  <a:pt x="80353" y="2"/>
                  <a:pt x="88437" y="0"/>
                </a:cubicBezTo>
                <a:close/>
                <a:moveTo>
                  <a:pt x="88517" y="105807"/>
                </a:moveTo>
                <a:lnTo>
                  <a:pt x="87509" y="105862"/>
                </a:lnTo>
                <a:cubicBezTo>
                  <a:pt x="83516" y="106337"/>
                  <a:pt x="80509" y="109723"/>
                  <a:pt x="80509" y="113744"/>
                </a:cubicBezTo>
                <a:cubicBezTo>
                  <a:pt x="80509" y="117765"/>
                  <a:pt x="83516" y="121151"/>
                  <a:pt x="87509" y="121626"/>
                </a:cubicBezTo>
                <a:lnTo>
                  <a:pt x="88437" y="121682"/>
                </a:lnTo>
                <a:lnTo>
                  <a:pt x="89445" y="121626"/>
                </a:lnTo>
                <a:cubicBezTo>
                  <a:pt x="93438" y="121151"/>
                  <a:pt x="96445" y="117765"/>
                  <a:pt x="96445" y="113744"/>
                </a:cubicBezTo>
                <a:cubicBezTo>
                  <a:pt x="96445" y="109723"/>
                  <a:pt x="93438" y="106337"/>
                  <a:pt x="89445" y="105862"/>
                </a:cubicBezTo>
                <a:lnTo>
                  <a:pt x="88517" y="105807"/>
                </a:lnTo>
                <a:close/>
                <a:moveTo>
                  <a:pt x="88437" y="50244"/>
                </a:moveTo>
                <a:cubicBezTo>
                  <a:pt x="84413" y="50245"/>
                  <a:pt x="81026" y="53257"/>
                  <a:pt x="80555" y="57253"/>
                </a:cubicBezTo>
                <a:lnTo>
                  <a:pt x="80500" y="58182"/>
                </a:lnTo>
                <a:lnTo>
                  <a:pt x="80500" y="89932"/>
                </a:lnTo>
                <a:lnTo>
                  <a:pt x="80555" y="90861"/>
                </a:lnTo>
                <a:cubicBezTo>
                  <a:pt x="81030" y="94854"/>
                  <a:pt x="84416" y="97861"/>
                  <a:pt x="88437" y="97861"/>
                </a:cubicBezTo>
                <a:cubicBezTo>
                  <a:pt x="92458" y="97861"/>
                  <a:pt x="95844" y="94854"/>
                  <a:pt x="96319" y="90861"/>
                </a:cubicBezTo>
                <a:lnTo>
                  <a:pt x="96375" y="89932"/>
                </a:lnTo>
                <a:lnTo>
                  <a:pt x="96375" y="58182"/>
                </a:lnTo>
                <a:lnTo>
                  <a:pt x="96319" y="57253"/>
                </a:lnTo>
                <a:cubicBezTo>
                  <a:pt x="95848" y="53257"/>
                  <a:pt x="92461" y="50245"/>
                  <a:pt x="88437" y="50244"/>
                </a:cubicBezTo>
                <a:close/>
              </a:path>
            </a:pathLst>
          </a:custGeom>
          <a:solidFill>
            <a:srgbClr val="F59E0B"/>
          </a:solidFill>
          <a:ln>
            <a:noFill/>
          </a:ln>
        </p:spPr>
      </p:sp>
      <p:sp>
        <p:nvSpPr>
          <p:cNvPr id="32" name="TextBox 32"/>
          <p:cNvSpPr txBox="1"/>
          <p:nvPr/>
        </p:nvSpPr>
        <p:spPr>
          <a:xfrm>
            <a:off x="4930140" y="4001452"/>
            <a:ext cx="1997250" cy="213360"/>
          </a:xfrm>
          <a:prstGeom prst="rect">
            <a:avLst/>
          </a:prstGeom>
          <a:noFill/>
          <a:ln>
            <a:noFill/>
          </a:ln>
        </p:spPr>
        <p:txBody>
          <a:bodyPr wrap="none" lIns="0" tIns="0" rIns="0" bIns="0" anchor="t" anchorCtr="0">
            <a:spAutoFit/>
          </a:bodyPr>
          <a:lstStyle/>
          <a:p>
            <a:pPr algn="l"/>
            <a:r>
              <a:rPr lang="zh-CN" sz="1050" dirty="0">
                <a:solidFill>
                  <a:srgbClr val="F59E0B"/>
                </a:solidFill>
                <a:latin typeface="Arial"/>
                <a:ea typeface="Microsoft YaHei"/>
                <a:cs typeface="Arial"/>
              </a:rPr>
              <a:t>Can lead to false positives</a:t>
            </a:r>
          </a:p>
        </p:txBody>
      </p:sp>
      <p:sp>
        <p:nvSpPr>
          <p:cNvPr id="33" name="TextBox 33"/>
          <p:cNvSpPr txBox="1"/>
          <p:nvPr/>
        </p:nvSpPr>
        <p:spPr>
          <a:xfrm>
            <a:off x="4664392" y="4219099"/>
            <a:ext cx="2281785"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Subjective, inconsistent results</a:t>
            </a:r>
          </a:p>
        </p:txBody>
      </p:sp>
      <p:sp>
        <p:nvSpPr>
          <p:cNvPr id="34" name="Rectangle 34"/>
          <p:cNvSpPr/>
          <p:nvPr/>
        </p:nvSpPr>
        <p:spPr>
          <a:xfrm>
            <a:off x="8096250" y="1143000"/>
            <a:ext cx="3524250" cy="5143500"/>
          </a:xfrm>
          <a:prstGeom prst="roundRect">
            <a:avLst>
              <a:gd name="adj" fmla="val 3243"/>
            </a:avLst>
          </a:prstGeom>
          <a:solidFill>
            <a:srgbClr val="1E293B"/>
          </a:solidFill>
          <a:ln w="9525">
            <a:solidFill>
              <a:srgbClr val="334155"/>
            </a:solidFill>
          </a:ln>
        </p:spPr>
      </p:sp>
      <p:sp>
        <p:nvSpPr>
          <p:cNvPr id="35" name="Rectangle 35"/>
          <p:cNvSpPr/>
          <p:nvPr/>
        </p:nvSpPr>
        <p:spPr>
          <a:xfrm>
            <a:off x="8096250" y="1143000"/>
            <a:ext cx="3524250" cy="57150"/>
          </a:xfrm>
          <a:prstGeom prst="roundRect">
            <a:avLst>
              <a:gd name="adj" fmla="val 50000"/>
            </a:avLst>
          </a:prstGeom>
          <a:solidFill>
            <a:srgbClr val="8B5CF6"/>
          </a:solidFill>
          <a:ln>
            <a:noFill/>
          </a:ln>
        </p:spPr>
      </p:sp>
      <p:sp>
        <p:nvSpPr>
          <p:cNvPr id="36" name="TextBox 36"/>
          <p:cNvSpPr txBox="1"/>
          <p:nvPr/>
        </p:nvSpPr>
        <p:spPr>
          <a:xfrm>
            <a:off x="8267700" y="1409700"/>
            <a:ext cx="2821448" cy="304800"/>
          </a:xfrm>
          <a:prstGeom prst="rect">
            <a:avLst/>
          </a:prstGeom>
          <a:noFill/>
          <a:ln>
            <a:noFill/>
          </a:ln>
        </p:spPr>
        <p:txBody>
          <a:bodyPr wrap="none" lIns="0" tIns="0" rIns="0" bIns="0" anchor="t" anchorCtr="0">
            <a:spAutoFit/>
          </a:bodyPr>
          <a:lstStyle/>
          <a:p>
            <a:pPr algn="l"/>
            <a:r>
              <a:rPr lang="zh-CN" sz="1500" b="1" dirty="0">
                <a:solidFill>
                  <a:srgbClr val="8B5CF6"/>
                </a:solidFill>
                <a:latin typeface="Georgia"/>
                <a:ea typeface="Microsoft YaHei"/>
                <a:cs typeface="Georgia"/>
              </a:rPr>
              <a:t>Neural Network Approach</a:t>
            </a:r>
          </a:p>
        </p:txBody>
      </p:sp>
      <p:sp>
        <p:nvSpPr>
          <p:cNvPr id="37" name="Line 37"/>
          <p:cNvSpPr/>
          <p:nvPr/>
        </p:nvSpPr>
        <p:spPr>
          <a:xfrm>
            <a:off x="8286750" y="1714500"/>
            <a:ext cx="3048000" cy="9525"/>
          </a:xfrm>
          <a:custGeom>
            <a:avLst/>
            <a:gdLst/>
            <a:ahLst/>
            <a:cxnLst/>
            <a:rect l="l" t="t" r="r" b="b"/>
            <a:pathLst>
              <a:path w="3048000" h="9525">
                <a:moveTo>
                  <a:pt x="0" y="0"/>
                </a:moveTo>
                <a:lnTo>
                  <a:pt x="3048000" y="0"/>
                </a:lnTo>
              </a:path>
            </a:pathLst>
          </a:custGeom>
          <a:noFill/>
          <a:ln w="9525">
            <a:solidFill>
              <a:srgbClr val="334155"/>
            </a:solidFill>
          </a:ln>
        </p:spPr>
      </p:sp>
      <p:sp>
        <p:nvSpPr>
          <p:cNvPr id="38" name="TextBox 38"/>
          <p:cNvSpPr txBox="1"/>
          <p:nvPr/>
        </p:nvSpPr>
        <p:spPr>
          <a:xfrm>
            <a:off x="8272462" y="1878806"/>
            <a:ext cx="248495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Neural networks trained via BP</a:t>
            </a:r>
          </a:p>
        </p:txBody>
      </p:sp>
      <p:sp>
        <p:nvSpPr>
          <p:cNvPr id="39" name="TextBox 39"/>
          <p:cNvSpPr txBox="1"/>
          <p:nvPr/>
        </p:nvSpPr>
        <p:spPr>
          <a:xfrm>
            <a:off x="8272462" y="2107406"/>
            <a:ext cx="256710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excel at automated, consistent</a:t>
            </a:r>
          </a:p>
        </p:txBody>
      </p:sp>
      <p:sp>
        <p:nvSpPr>
          <p:cNvPr id="40" name="TextBox 40"/>
          <p:cNvSpPr txBox="1"/>
          <p:nvPr/>
        </p:nvSpPr>
        <p:spPr>
          <a:xfrm>
            <a:off x="8272462" y="2336006"/>
            <a:ext cx="1712714"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pattern recognition.</a:t>
            </a:r>
          </a:p>
        </p:txBody>
      </p:sp>
      <p:sp>
        <p:nvSpPr>
          <p:cNvPr id="41" name="Rectangle 41"/>
          <p:cNvSpPr/>
          <p:nvPr/>
        </p:nvSpPr>
        <p:spPr>
          <a:xfrm>
            <a:off x="8286750" y="2762250"/>
            <a:ext cx="3143250" cy="476250"/>
          </a:xfrm>
          <a:prstGeom prst="roundRect">
            <a:avLst>
              <a:gd name="adj" fmla="val 16000"/>
            </a:avLst>
          </a:prstGeom>
          <a:solidFill>
            <a:srgbClr val="10B981">
              <a:alpha val="10000"/>
            </a:srgbClr>
          </a:solidFill>
          <a:ln w="9525">
            <a:solidFill>
              <a:srgbClr val="10B981">
                <a:alpha val="30000"/>
              </a:srgbClr>
            </a:solidFill>
          </a:ln>
        </p:spPr>
      </p:sp>
      <p:sp>
        <p:nvSpPr>
          <p:cNvPr id="42" name="Freeform 42"/>
          <p:cNvSpPr/>
          <p:nvPr/>
        </p:nvSpPr>
        <p:spPr>
          <a:xfrm>
            <a:off x="8416925" y="2898394"/>
            <a:ext cx="166926" cy="167199"/>
          </a:xfrm>
          <a:custGeom>
            <a:avLst/>
            <a:gdLst/>
            <a:ahLst/>
            <a:cxnLst/>
            <a:rect l="l" t="t" r="r" b="b"/>
            <a:pathLst>
              <a:path w="166926" h="167199">
                <a:moveTo>
                  <a:pt x="119062" y="14192"/>
                </a:moveTo>
                <a:cubicBezTo>
                  <a:pt x="152141" y="33291"/>
                  <a:pt x="166926" y="73242"/>
                  <a:pt x="154249" y="109274"/>
                </a:cubicBezTo>
                <a:cubicBezTo>
                  <a:pt x="141573" y="145306"/>
                  <a:pt x="105031" y="167199"/>
                  <a:pt x="67280" y="161380"/>
                </a:cubicBezTo>
                <a:cubicBezTo>
                  <a:pt x="29529" y="155561"/>
                  <a:pt x="1277" y="123679"/>
                  <a:pt x="40" y="85502"/>
                </a:cubicBezTo>
                <a:lnTo>
                  <a:pt x="0" y="82931"/>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8"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rgbClr val="10B981"/>
          </a:solidFill>
          <a:ln>
            <a:noFill/>
          </a:ln>
        </p:spPr>
      </p:sp>
      <p:sp>
        <p:nvSpPr>
          <p:cNvPr id="43" name="TextBox 43"/>
          <p:cNvSpPr txBox="1"/>
          <p:nvPr/>
        </p:nvSpPr>
        <p:spPr>
          <a:xfrm>
            <a:off x="8654415" y="2934652"/>
            <a:ext cx="1889903"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Objective and repeatable</a:t>
            </a:r>
          </a:p>
        </p:txBody>
      </p:sp>
      <p:sp>
        <p:nvSpPr>
          <p:cNvPr id="44" name="Rectangle 44"/>
          <p:cNvSpPr/>
          <p:nvPr/>
        </p:nvSpPr>
        <p:spPr>
          <a:xfrm>
            <a:off x="8286750" y="3381375"/>
            <a:ext cx="3143250" cy="476250"/>
          </a:xfrm>
          <a:prstGeom prst="roundRect">
            <a:avLst>
              <a:gd name="adj" fmla="val 16000"/>
            </a:avLst>
          </a:prstGeom>
          <a:solidFill>
            <a:srgbClr val="10B981">
              <a:alpha val="10000"/>
            </a:srgbClr>
          </a:solidFill>
          <a:ln w="9525">
            <a:solidFill>
              <a:srgbClr val="10B981">
                <a:alpha val="30000"/>
              </a:srgbClr>
            </a:solidFill>
          </a:ln>
        </p:spPr>
      </p:sp>
      <p:sp>
        <p:nvSpPr>
          <p:cNvPr id="45" name="Freeform 45"/>
          <p:cNvSpPr/>
          <p:nvPr/>
        </p:nvSpPr>
        <p:spPr>
          <a:xfrm>
            <a:off x="8416925" y="3517519"/>
            <a:ext cx="166926" cy="167199"/>
          </a:xfrm>
          <a:custGeom>
            <a:avLst/>
            <a:gdLst/>
            <a:ahLst/>
            <a:cxnLst/>
            <a:rect l="l" t="t" r="r" b="b"/>
            <a:pathLst>
              <a:path w="166926" h="167199">
                <a:moveTo>
                  <a:pt x="119062" y="14192"/>
                </a:moveTo>
                <a:cubicBezTo>
                  <a:pt x="152141" y="33291"/>
                  <a:pt x="166926" y="73242"/>
                  <a:pt x="154249" y="109274"/>
                </a:cubicBezTo>
                <a:cubicBezTo>
                  <a:pt x="141573" y="145306"/>
                  <a:pt x="105031" y="167199"/>
                  <a:pt x="67280" y="161380"/>
                </a:cubicBezTo>
                <a:cubicBezTo>
                  <a:pt x="29529" y="155561"/>
                  <a:pt x="1277" y="123679"/>
                  <a:pt x="40" y="85502"/>
                </a:cubicBezTo>
                <a:lnTo>
                  <a:pt x="0" y="82931"/>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8"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rgbClr val="10B981"/>
          </a:solidFill>
          <a:ln>
            <a:noFill/>
          </a:ln>
        </p:spPr>
      </p:sp>
      <p:sp>
        <p:nvSpPr>
          <p:cNvPr id="46" name="TextBox 46"/>
          <p:cNvSpPr txBox="1"/>
          <p:nvPr/>
        </p:nvSpPr>
        <p:spPr>
          <a:xfrm>
            <a:off x="8654415" y="3553778"/>
            <a:ext cx="2150602"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Scales to millions of samples</a:t>
            </a:r>
          </a:p>
        </p:txBody>
      </p:sp>
      <p:sp>
        <p:nvSpPr>
          <p:cNvPr id="47" name="Rectangle 47"/>
          <p:cNvSpPr/>
          <p:nvPr/>
        </p:nvSpPr>
        <p:spPr>
          <a:xfrm>
            <a:off x="8286750" y="4000500"/>
            <a:ext cx="3143250" cy="476250"/>
          </a:xfrm>
          <a:prstGeom prst="roundRect">
            <a:avLst>
              <a:gd name="adj" fmla="val 16000"/>
            </a:avLst>
          </a:prstGeom>
          <a:solidFill>
            <a:srgbClr val="10B981">
              <a:alpha val="10000"/>
            </a:srgbClr>
          </a:solidFill>
          <a:ln w="9525">
            <a:solidFill>
              <a:srgbClr val="10B981">
                <a:alpha val="30000"/>
              </a:srgbClr>
            </a:solidFill>
          </a:ln>
        </p:spPr>
      </p:sp>
      <p:sp>
        <p:nvSpPr>
          <p:cNvPr id="48" name="Freeform 48"/>
          <p:cNvSpPr/>
          <p:nvPr/>
        </p:nvSpPr>
        <p:spPr>
          <a:xfrm>
            <a:off x="8416925" y="4136644"/>
            <a:ext cx="166926" cy="167199"/>
          </a:xfrm>
          <a:custGeom>
            <a:avLst/>
            <a:gdLst/>
            <a:ahLst/>
            <a:cxnLst/>
            <a:rect l="l" t="t" r="r" b="b"/>
            <a:pathLst>
              <a:path w="166926" h="167199">
                <a:moveTo>
                  <a:pt x="119062" y="14192"/>
                </a:moveTo>
                <a:cubicBezTo>
                  <a:pt x="152141" y="33291"/>
                  <a:pt x="166926" y="73242"/>
                  <a:pt x="154249" y="109274"/>
                </a:cubicBezTo>
                <a:cubicBezTo>
                  <a:pt x="141573" y="145306"/>
                  <a:pt x="105031" y="167199"/>
                  <a:pt x="67280" y="161380"/>
                </a:cubicBezTo>
                <a:cubicBezTo>
                  <a:pt x="29529" y="155561"/>
                  <a:pt x="1277" y="123679"/>
                  <a:pt x="40" y="85502"/>
                </a:cubicBezTo>
                <a:lnTo>
                  <a:pt x="0" y="82931"/>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8"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rgbClr val="10B981"/>
          </a:solidFill>
          <a:ln>
            <a:noFill/>
          </a:ln>
        </p:spPr>
      </p:sp>
      <p:sp>
        <p:nvSpPr>
          <p:cNvPr id="49" name="TextBox 49"/>
          <p:cNvSpPr txBox="1"/>
          <p:nvPr/>
        </p:nvSpPr>
        <p:spPr>
          <a:xfrm>
            <a:off x="8654415" y="4172902"/>
            <a:ext cx="2311622"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Learns features automatically</a:t>
            </a:r>
          </a:p>
        </p:txBody>
      </p:sp>
      <p:sp>
        <p:nvSpPr>
          <p:cNvPr id="50" name="Rectangle 50"/>
          <p:cNvSpPr/>
          <p:nvPr/>
        </p:nvSpPr>
        <p:spPr>
          <a:xfrm>
            <a:off x="8286750" y="4619625"/>
            <a:ext cx="3143250" cy="476250"/>
          </a:xfrm>
          <a:prstGeom prst="roundRect">
            <a:avLst>
              <a:gd name="adj" fmla="val 16000"/>
            </a:avLst>
          </a:prstGeom>
          <a:solidFill>
            <a:srgbClr val="10B981">
              <a:alpha val="10000"/>
            </a:srgbClr>
          </a:solidFill>
          <a:ln w="9525">
            <a:solidFill>
              <a:srgbClr val="10B981">
                <a:alpha val="30000"/>
              </a:srgbClr>
            </a:solidFill>
          </a:ln>
        </p:spPr>
      </p:sp>
      <p:sp>
        <p:nvSpPr>
          <p:cNvPr id="51" name="Freeform 51"/>
          <p:cNvSpPr/>
          <p:nvPr/>
        </p:nvSpPr>
        <p:spPr>
          <a:xfrm>
            <a:off x="8416925" y="4755769"/>
            <a:ext cx="166926" cy="167199"/>
          </a:xfrm>
          <a:custGeom>
            <a:avLst/>
            <a:gdLst/>
            <a:ahLst/>
            <a:cxnLst/>
            <a:rect l="l" t="t" r="r" b="b"/>
            <a:pathLst>
              <a:path w="166926" h="167199">
                <a:moveTo>
                  <a:pt x="119062" y="14192"/>
                </a:moveTo>
                <a:cubicBezTo>
                  <a:pt x="152141" y="33291"/>
                  <a:pt x="166926" y="73242"/>
                  <a:pt x="154249" y="109274"/>
                </a:cubicBezTo>
                <a:cubicBezTo>
                  <a:pt x="141573" y="145306"/>
                  <a:pt x="105031" y="167199"/>
                  <a:pt x="67280" y="161380"/>
                </a:cubicBezTo>
                <a:cubicBezTo>
                  <a:pt x="29529" y="155561"/>
                  <a:pt x="1277" y="123679"/>
                  <a:pt x="40" y="85502"/>
                </a:cubicBezTo>
                <a:lnTo>
                  <a:pt x="0" y="82931"/>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8"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rgbClr val="10B981"/>
          </a:solidFill>
          <a:ln>
            <a:noFill/>
          </a:ln>
        </p:spPr>
      </p:sp>
      <p:sp>
        <p:nvSpPr>
          <p:cNvPr id="52" name="TextBox 52"/>
          <p:cNvSpPr txBox="1"/>
          <p:nvPr/>
        </p:nvSpPr>
        <p:spPr>
          <a:xfrm>
            <a:off x="8654415" y="4792028"/>
            <a:ext cx="1813227" cy="213360"/>
          </a:xfrm>
          <a:prstGeom prst="rect">
            <a:avLst/>
          </a:prstGeom>
          <a:noFill/>
          <a:ln>
            <a:noFill/>
          </a:ln>
        </p:spPr>
        <p:txBody>
          <a:bodyPr wrap="none" lIns="0" tIns="0" rIns="0" bIns="0" anchor="t" anchorCtr="0">
            <a:spAutoFit/>
          </a:bodyPr>
          <a:lstStyle/>
          <a:p>
            <a:pPr algn="l"/>
            <a:r>
              <a:rPr lang="zh-CN" sz="1050" dirty="0">
                <a:solidFill>
                  <a:srgbClr val="10B981"/>
                </a:solidFill>
                <a:latin typeface="Arial"/>
                <a:ea typeface="Microsoft YaHei"/>
                <a:cs typeface="Arial"/>
              </a:rPr>
              <a:t>Real-time classification</a:t>
            </a:r>
          </a:p>
        </p:txBody>
      </p:sp>
      <p:sp>
        <p:nvSpPr>
          <p:cNvPr id="53" name="TextBox 53"/>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16</a:t>
            </a:r>
          </a:p>
        </p:txBody>
      </p:sp>
      <p:pic>
        <p:nvPicPr>
          <p:cNvPr id="54" name="narration1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5844">
    <p:fade/>
  </p:transition>
  <p:timing>
    <p:tnLst>
      <p:par>
        <p:cTn id="1" dur="indefinite" restart="never" nodeType="tmRoot">
          <p:childTnLst>
            <p:audio>
              <p:cMediaNode vol="80000">
                <p:cTn id="2" fill="hold" display="0">
                  <p:stCondLst>
                    <p:cond delay="0"/>
                  </p:stCondLst>
                </p:cTn>
                <p:tgtEl>
                  <p:spTgt spid="5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595312" y="671512"/>
            <a:ext cx="238125" cy="238125"/>
          </a:xfrm>
          <a:custGeom>
            <a:avLst/>
            <a:gdLst/>
            <a:ahLst/>
            <a:cxnLst/>
            <a:rect l="l" t="t" r="r" b="b"/>
            <a:pathLst>
              <a:path w="238125" h="238125">
                <a:moveTo>
                  <a:pt x="81117" y="114443"/>
                </a:moveTo>
                <a:cubicBezTo>
                  <a:pt x="86558" y="109919"/>
                  <a:pt x="92047" y="109919"/>
                  <a:pt x="97619" y="114574"/>
                </a:cubicBezTo>
                <a:lnTo>
                  <a:pt x="98905" y="115741"/>
                </a:lnTo>
                <a:lnTo>
                  <a:pt x="158270" y="175105"/>
                </a:lnTo>
                <a:lnTo>
                  <a:pt x="159389" y="176093"/>
                </a:lnTo>
                <a:cubicBezTo>
                  <a:pt x="164129" y="179767"/>
                  <a:pt x="170862" y="179343"/>
                  <a:pt x="175102" y="175102"/>
                </a:cubicBezTo>
                <a:cubicBezTo>
                  <a:pt x="179343" y="170862"/>
                  <a:pt x="179767" y="164129"/>
                  <a:pt x="176093" y="159389"/>
                </a:cubicBezTo>
                <a:lnTo>
                  <a:pt x="175105" y="158270"/>
                </a:lnTo>
                <a:lnTo>
                  <a:pt x="159722" y="142875"/>
                </a:lnTo>
                <a:lnTo>
                  <a:pt x="163199" y="139386"/>
                </a:lnTo>
                <a:lnTo>
                  <a:pt x="164461" y="138255"/>
                </a:lnTo>
                <a:cubicBezTo>
                  <a:pt x="169902" y="133731"/>
                  <a:pt x="175391" y="133731"/>
                  <a:pt x="180963" y="138386"/>
                </a:cubicBezTo>
                <a:lnTo>
                  <a:pt x="182249" y="139553"/>
                </a:lnTo>
                <a:lnTo>
                  <a:pt x="237899" y="195215"/>
                </a:lnTo>
                <a:cubicBezTo>
                  <a:pt x="235569" y="218645"/>
                  <a:pt x="216467" y="236857"/>
                  <a:pt x="192953" y="238065"/>
                </a:cubicBezTo>
                <a:lnTo>
                  <a:pt x="190500" y="238125"/>
                </a:lnTo>
                <a:lnTo>
                  <a:pt x="47625" y="238125"/>
                </a:lnTo>
                <a:cubicBezTo>
                  <a:pt x="23154" y="238123"/>
                  <a:pt x="2667" y="219577"/>
                  <a:pt x="238" y="195227"/>
                </a:cubicBezTo>
                <a:lnTo>
                  <a:pt x="79855" y="115574"/>
                </a:lnTo>
                <a:lnTo>
                  <a:pt x="81117" y="114443"/>
                </a:lnTo>
                <a:close/>
                <a:moveTo>
                  <a:pt x="190500" y="0"/>
                </a:moveTo>
                <a:cubicBezTo>
                  <a:pt x="215877" y="0"/>
                  <a:pt x="236797" y="19899"/>
                  <a:pt x="238065" y="45244"/>
                </a:cubicBezTo>
                <a:lnTo>
                  <a:pt x="238125" y="47625"/>
                </a:lnTo>
                <a:lnTo>
                  <a:pt x="238125" y="161746"/>
                </a:lnTo>
                <a:lnTo>
                  <a:pt x="198918" y="122551"/>
                </a:lnTo>
                <a:lnTo>
                  <a:pt x="197132" y="120920"/>
                </a:lnTo>
                <a:cubicBezTo>
                  <a:pt x="182178" y="107883"/>
                  <a:pt x="163199" y="107859"/>
                  <a:pt x="148364" y="120717"/>
                </a:cubicBezTo>
                <a:lnTo>
                  <a:pt x="146530" y="122384"/>
                </a:lnTo>
                <a:lnTo>
                  <a:pt x="142875" y="126028"/>
                </a:lnTo>
                <a:lnTo>
                  <a:pt x="115574" y="98739"/>
                </a:lnTo>
                <a:lnTo>
                  <a:pt x="113788" y="97107"/>
                </a:lnTo>
                <a:cubicBezTo>
                  <a:pt x="98834" y="84070"/>
                  <a:pt x="79855" y="84046"/>
                  <a:pt x="65020" y="96905"/>
                </a:cubicBezTo>
                <a:lnTo>
                  <a:pt x="63186" y="98572"/>
                </a:lnTo>
                <a:lnTo>
                  <a:pt x="0" y="161746"/>
                </a:lnTo>
                <a:lnTo>
                  <a:pt x="0" y="47625"/>
                </a:lnTo>
                <a:cubicBezTo>
                  <a:pt x="0" y="22248"/>
                  <a:pt x="19899" y="1328"/>
                  <a:pt x="45244" y="60"/>
                </a:cubicBezTo>
                <a:lnTo>
                  <a:pt x="47625" y="0"/>
                </a:lnTo>
                <a:lnTo>
                  <a:pt x="190500" y="0"/>
                </a:lnTo>
                <a:close/>
                <a:moveTo>
                  <a:pt x="154900" y="59531"/>
                </a:moveTo>
                <a:lnTo>
                  <a:pt x="153388" y="59615"/>
                </a:lnTo>
                <a:cubicBezTo>
                  <a:pt x="147399" y="60327"/>
                  <a:pt x="142888" y="65406"/>
                  <a:pt x="142888" y="71438"/>
                </a:cubicBezTo>
                <a:cubicBezTo>
                  <a:pt x="142888" y="77469"/>
                  <a:pt x="147399" y="82548"/>
                  <a:pt x="153388" y="83260"/>
                </a:cubicBezTo>
                <a:lnTo>
                  <a:pt x="154781" y="83344"/>
                </a:lnTo>
                <a:lnTo>
                  <a:pt x="156293" y="83260"/>
                </a:lnTo>
                <a:cubicBezTo>
                  <a:pt x="162283" y="82548"/>
                  <a:pt x="166793" y="77469"/>
                  <a:pt x="166793" y="71438"/>
                </a:cubicBezTo>
                <a:cubicBezTo>
                  <a:pt x="166793" y="65406"/>
                  <a:pt x="162283" y="60327"/>
                  <a:pt x="156293" y="59615"/>
                </a:cubicBezTo>
                <a:lnTo>
                  <a:pt x="154900" y="59531"/>
                </a:lnTo>
                <a:close/>
              </a:path>
            </a:pathLst>
          </a:custGeom>
          <a:solidFill>
            <a:srgbClr val="3B82F6"/>
          </a:solidFill>
          <a:ln>
            <a:noFill/>
          </a:ln>
        </p:spPr>
      </p:sp>
      <p:sp>
        <p:nvSpPr>
          <p:cNvPr id="5" name="TextBox 5"/>
          <p:cNvSpPr txBox="1"/>
          <p:nvPr/>
        </p:nvSpPr>
        <p:spPr>
          <a:xfrm>
            <a:off x="923925" y="633412"/>
            <a:ext cx="6095405"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Backpropagation in Face Recognition</a:t>
            </a:r>
          </a:p>
        </p:txBody>
      </p:sp>
      <p:sp>
        <p:nvSpPr>
          <p:cNvPr id="6" name="Rectangle 6"/>
          <p:cNvSpPr/>
          <p:nvPr/>
        </p:nvSpPr>
        <p:spPr>
          <a:xfrm>
            <a:off x="571500" y="1143000"/>
            <a:ext cx="5334000" cy="2857500"/>
          </a:xfrm>
          <a:prstGeom prst="roundRect">
            <a:avLst>
              <a:gd name="adj" fmla="val 4000"/>
            </a:avLst>
          </a:prstGeom>
          <a:solidFill>
            <a:srgbClr val="1E293B"/>
          </a:solidFill>
          <a:ln w="9525">
            <a:solidFill>
              <a:srgbClr val="334155"/>
            </a:solidFill>
          </a:ln>
        </p:spPr>
      </p:sp>
      <p:sp>
        <p:nvSpPr>
          <p:cNvPr id="7" name="Rectangle 7"/>
          <p:cNvSpPr/>
          <p:nvPr/>
        </p:nvSpPr>
        <p:spPr>
          <a:xfrm>
            <a:off x="571500" y="1143000"/>
            <a:ext cx="5334000" cy="57150"/>
          </a:xfrm>
          <a:prstGeom prst="roundRect">
            <a:avLst>
              <a:gd name="adj" fmla="val 50000"/>
            </a:avLst>
          </a:prstGeom>
          <a:solidFill>
            <a:srgbClr val="3B82F6"/>
          </a:solidFill>
          <a:ln>
            <a:noFill/>
          </a:ln>
        </p:spPr>
      </p:sp>
      <p:sp>
        <p:nvSpPr>
          <p:cNvPr id="8" name="TextBox 8"/>
          <p:cNvSpPr txBox="1"/>
          <p:nvPr/>
        </p:nvSpPr>
        <p:spPr>
          <a:xfrm>
            <a:off x="742950" y="1362075"/>
            <a:ext cx="3154990" cy="304800"/>
          </a:xfrm>
          <a:prstGeom prst="rect">
            <a:avLst/>
          </a:prstGeom>
          <a:noFill/>
          <a:ln>
            <a:noFill/>
          </a:ln>
        </p:spPr>
        <p:txBody>
          <a:bodyPr wrap="none" lIns="0" tIns="0" rIns="0" bIns="0" anchor="t" anchorCtr="0">
            <a:spAutoFit/>
          </a:bodyPr>
          <a:lstStyle/>
          <a:p>
            <a:pPr algn="l"/>
            <a:r>
              <a:rPr lang="zh-CN" sz="1500" b="1" dirty="0">
                <a:solidFill>
                  <a:srgbClr val="3B82F6"/>
                </a:solidFill>
                <a:latin typeface="Georgia"/>
                <a:ea typeface="Microsoft YaHei"/>
                <a:cs typeface="Georgia"/>
              </a:rPr>
              <a:t>CNN Architecture (VGGFace)</a:t>
            </a:r>
          </a:p>
        </p:txBody>
      </p:sp>
      <p:sp>
        <p:nvSpPr>
          <p:cNvPr id="9" name="TextBox 9"/>
          <p:cNvSpPr txBox="1"/>
          <p:nvPr/>
        </p:nvSpPr>
        <p:spPr>
          <a:xfrm>
            <a:off x="748665" y="1658302"/>
            <a:ext cx="254165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Parkhi, Vidaldi &amp; Zisserman (2015)</a:t>
            </a:r>
          </a:p>
        </p:txBody>
      </p:sp>
      <p:sp>
        <p:nvSpPr>
          <p:cNvPr id="10" name="Line 10"/>
          <p:cNvSpPr/>
          <p:nvPr/>
        </p:nvSpPr>
        <p:spPr>
          <a:xfrm>
            <a:off x="762000" y="1905000"/>
            <a:ext cx="4953000" cy="9525"/>
          </a:xfrm>
          <a:custGeom>
            <a:avLst/>
            <a:gdLst/>
            <a:ahLst/>
            <a:cxnLst/>
            <a:rect l="l" t="t" r="r" b="b"/>
            <a:pathLst>
              <a:path w="4953000" h="9525">
                <a:moveTo>
                  <a:pt x="0" y="0"/>
                </a:moveTo>
                <a:lnTo>
                  <a:pt x="4953000" y="0"/>
                </a:lnTo>
              </a:path>
            </a:pathLst>
          </a:custGeom>
          <a:noFill/>
          <a:ln w="9525">
            <a:solidFill>
              <a:srgbClr val="334155"/>
            </a:solidFill>
          </a:ln>
        </p:spPr>
      </p:sp>
      <p:sp>
        <p:nvSpPr>
          <p:cNvPr id="11" name="Rectangle 11"/>
          <p:cNvSpPr/>
          <p:nvPr/>
        </p:nvSpPr>
        <p:spPr>
          <a:xfrm>
            <a:off x="857250" y="2095500"/>
            <a:ext cx="571500" cy="762000"/>
          </a:xfrm>
          <a:prstGeom prst="roundRect">
            <a:avLst>
              <a:gd name="adj" fmla="val 6667"/>
            </a:avLst>
          </a:prstGeom>
          <a:solidFill>
            <a:srgbClr val="3B82F6">
              <a:alpha val="20000"/>
            </a:srgbClr>
          </a:solidFill>
          <a:ln w="9525">
            <a:solidFill>
              <a:srgbClr val="3B82F6"/>
            </a:solidFill>
          </a:ln>
        </p:spPr>
      </p:sp>
      <p:sp>
        <p:nvSpPr>
          <p:cNvPr id="12" name="TextBox 12"/>
          <p:cNvSpPr txBox="1"/>
          <p:nvPr/>
        </p:nvSpPr>
        <p:spPr>
          <a:xfrm>
            <a:off x="1012984" y="2443162"/>
            <a:ext cx="260032" cy="152400"/>
          </a:xfrm>
          <a:prstGeom prst="rect">
            <a:avLst/>
          </a:prstGeom>
          <a:noFill/>
          <a:ln>
            <a:noFill/>
          </a:ln>
        </p:spPr>
        <p:txBody>
          <a:bodyPr wrap="none" lIns="0" tIns="0" rIns="0" bIns="0" anchor="t" anchorCtr="0">
            <a:spAutoFit/>
          </a:bodyPr>
          <a:lstStyle/>
          <a:p>
            <a:pPr algn="ctr"/>
            <a:r>
              <a:rPr lang="zh-CN" sz="750" dirty="0">
                <a:solidFill>
                  <a:srgbClr val="3B82F6"/>
                </a:solidFill>
                <a:latin typeface="Consolas"/>
                <a:ea typeface="Microsoft YaHei"/>
                <a:cs typeface="Consolas"/>
              </a:rPr>
              <a:t>Conv</a:t>
            </a:r>
          </a:p>
        </p:txBody>
      </p:sp>
      <p:sp>
        <p:nvSpPr>
          <p:cNvPr id="13" name="TextBox 13"/>
          <p:cNvSpPr txBox="1"/>
          <p:nvPr/>
        </p:nvSpPr>
        <p:spPr>
          <a:xfrm>
            <a:off x="1073229" y="2566988"/>
            <a:ext cx="139541" cy="152400"/>
          </a:xfrm>
          <a:prstGeom prst="rect">
            <a:avLst/>
          </a:prstGeom>
          <a:noFill/>
          <a:ln>
            <a:noFill/>
          </a:ln>
        </p:spPr>
        <p:txBody>
          <a:bodyPr wrap="none" lIns="0" tIns="0" rIns="0" bIns="0" anchor="t" anchorCtr="0">
            <a:spAutoFit/>
          </a:bodyPr>
          <a:lstStyle/>
          <a:p>
            <a:pPr algn="ctr"/>
            <a:r>
              <a:rPr lang="zh-CN" sz="750" dirty="0">
                <a:solidFill>
                  <a:srgbClr val="3B82F6"/>
                </a:solidFill>
                <a:latin typeface="Consolas"/>
                <a:ea typeface="Microsoft YaHei"/>
                <a:cs typeface="Consolas"/>
              </a:rPr>
              <a:t>x5</a:t>
            </a:r>
          </a:p>
        </p:txBody>
      </p:sp>
      <p:sp>
        <p:nvSpPr>
          <p:cNvPr id="14" name="Line 14"/>
          <p:cNvSpPr/>
          <p:nvPr/>
        </p:nvSpPr>
        <p:spPr>
          <a:xfrm>
            <a:off x="1428750" y="2476500"/>
            <a:ext cx="238125" cy="9525"/>
          </a:xfrm>
          <a:custGeom>
            <a:avLst/>
            <a:gdLst/>
            <a:ahLst/>
            <a:cxnLst/>
            <a:rect l="l" t="t" r="r" b="b"/>
            <a:pathLst>
              <a:path w="238125" h="9525">
                <a:moveTo>
                  <a:pt x="0" y="0"/>
                </a:moveTo>
                <a:lnTo>
                  <a:pt x="238125" y="0"/>
                </a:lnTo>
              </a:path>
            </a:pathLst>
          </a:custGeom>
          <a:noFill/>
          <a:ln w="9525">
            <a:solidFill>
              <a:srgbClr val="334155"/>
            </a:solidFill>
          </a:ln>
        </p:spPr>
      </p:sp>
      <p:sp>
        <p:nvSpPr>
          <p:cNvPr id="15" name="Rectangle 15"/>
          <p:cNvSpPr/>
          <p:nvPr/>
        </p:nvSpPr>
        <p:spPr>
          <a:xfrm>
            <a:off x="1695450" y="2171700"/>
            <a:ext cx="476250" cy="609600"/>
          </a:xfrm>
          <a:prstGeom prst="roundRect">
            <a:avLst>
              <a:gd name="adj" fmla="val 8000"/>
            </a:avLst>
          </a:prstGeom>
          <a:solidFill>
            <a:srgbClr val="22D3EE">
              <a:alpha val="20000"/>
            </a:srgbClr>
          </a:solidFill>
          <a:ln w="9525">
            <a:solidFill>
              <a:srgbClr val="22D3EE"/>
            </a:solidFill>
          </a:ln>
        </p:spPr>
      </p:sp>
      <p:sp>
        <p:nvSpPr>
          <p:cNvPr id="16" name="TextBox 16"/>
          <p:cNvSpPr txBox="1"/>
          <p:nvPr/>
        </p:nvSpPr>
        <p:spPr>
          <a:xfrm>
            <a:off x="1817251" y="2443162"/>
            <a:ext cx="232648" cy="152400"/>
          </a:xfrm>
          <a:prstGeom prst="rect">
            <a:avLst/>
          </a:prstGeom>
          <a:noFill/>
          <a:ln>
            <a:noFill/>
          </a:ln>
        </p:spPr>
        <p:txBody>
          <a:bodyPr wrap="none" lIns="0" tIns="0" rIns="0" bIns="0" anchor="t" anchorCtr="0">
            <a:spAutoFit/>
          </a:bodyPr>
          <a:lstStyle/>
          <a:p>
            <a:pPr algn="ctr"/>
            <a:r>
              <a:rPr lang="zh-CN" sz="750" dirty="0">
                <a:solidFill>
                  <a:srgbClr val="22D3EE"/>
                </a:solidFill>
                <a:latin typeface="Consolas"/>
                <a:ea typeface="Microsoft YaHei"/>
                <a:cs typeface="Consolas"/>
              </a:rPr>
              <a:t>Pool</a:t>
            </a:r>
          </a:p>
        </p:txBody>
      </p:sp>
      <p:sp>
        <p:nvSpPr>
          <p:cNvPr id="17" name="Line 17"/>
          <p:cNvSpPr/>
          <p:nvPr/>
        </p:nvSpPr>
        <p:spPr>
          <a:xfrm>
            <a:off x="2171700" y="2476500"/>
            <a:ext cx="238125" cy="9525"/>
          </a:xfrm>
          <a:custGeom>
            <a:avLst/>
            <a:gdLst/>
            <a:ahLst/>
            <a:cxnLst/>
            <a:rect l="l" t="t" r="r" b="b"/>
            <a:pathLst>
              <a:path w="238125" h="9525">
                <a:moveTo>
                  <a:pt x="0" y="0"/>
                </a:moveTo>
                <a:lnTo>
                  <a:pt x="238125" y="0"/>
                </a:lnTo>
              </a:path>
            </a:pathLst>
          </a:custGeom>
          <a:noFill/>
          <a:ln w="9525">
            <a:solidFill>
              <a:srgbClr val="334155"/>
            </a:solidFill>
          </a:ln>
        </p:spPr>
      </p:sp>
      <p:sp>
        <p:nvSpPr>
          <p:cNvPr id="18" name="Rectangle 18"/>
          <p:cNvSpPr/>
          <p:nvPr/>
        </p:nvSpPr>
        <p:spPr>
          <a:xfrm>
            <a:off x="2438400" y="2209800"/>
            <a:ext cx="476250" cy="533400"/>
          </a:xfrm>
          <a:prstGeom prst="roundRect">
            <a:avLst>
              <a:gd name="adj" fmla="val 8000"/>
            </a:avLst>
          </a:prstGeom>
          <a:solidFill>
            <a:srgbClr val="8B5CF6">
              <a:alpha val="20000"/>
            </a:srgbClr>
          </a:solidFill>
          <a:ln w="9525">
            <a:solidFill>
              <a:srgbClr val="8B5CF6"/>
            </a:solidFill>
          </a:ln>
        </p:spPr>
      </p:sp>
      <p:sp>
        <p:nvSpPr>
          <p:cNvPr id="19" name="TextBox 19"/>
          <p:cNvSpPr txBox="1"/>
          <p:nvPr/>
        </p:nvSpPr>
        <p:spPr>
          <a:xfrm>
            <a:off x="2546509" y="2443162"/>
            <a:ext cx="260032" cy="152400"/>
          </a:xfrm>
          <a:prstGeom prst="rect">
            <a:avLst/>
          </a:prstGeom>
          <a:noFill/>
          <a:ln>
            <a:noFill/>
          </a:ln>
        </p:spPr>
        <p:txBody>
          <a:bodyPr wrap="none" lIns="0" tIns="0" rIns="0" bIns="0" anchor="t" anchorCtr="0">
            <a:spAutoFit/>
          </a:bodyPr>
          <a:lstStyle/>
          <a:p>
            <a:pPr algn="ctr"/>
            <a:r>
              <a:rPr lang="zh-CN" sz="750" dirty="0">
                <a:solidFill>
                  <a:srgbClr val="8B5CF6"/>
                </a:solidFill>
                <a:latin typeface="Consolas"/>
                <a:ea typeface="Microsoft YaHei"/>
                <a:cs typeface="Consolas"/>
              </a:rPr>
              <a:t>Conv</a:t>
            </a:r>
          </a:p>
        </p:txBody>
      </p:sp>
      <p:sp>
        <p:nvSpPr>
          <p:cNvPr id="20" name="Line 20"/>
          <p:cNvSpPr/>
          <p:nvPr/>
        </p:nvSpPr>
        <p:spPr>
          <a:xfrm>
            <a:off x="2914650" y="2476500"/>
            <a:ext cx="238125" cy="9525"/>
          </a:xfrm>
          <a:custGeom>
            <a:avLst/>
            <a:gdLst/>
            <a:ahLst/>
            <a:cxnLst/>
            <a:rect l="l" t="t" r="r" b="b"/>
            <a:pathLst>
              <a:path w="238125" h="9525">
                <a:moveTo>
                  <a:pt x="0" y="0"/>
                </a:moveTo>
                <a:lnTo>
                  <a:pt x="238125" y="0"/>
                </a:lnTo>
              </a:path>
            </a:pathLst>
          </a:custGeom>
          <a:noFill/>
          <a:ln w="9525">
            <a:solidFill>
              <a:srgbClr val="334155"/>
            </a:solidFill>
          </a:ln>
        </p:spPr>
      </p:sp>
      <p:sp>
        <p:nvSpPr>
          <p:cNvPr id="21" name="Rectangle 21"/>
          <p:cNvSpPr/>
          <p:nvPr/>
        </p:nvSpPr>
        <p:spPr>
          <a:xfrm>
            <a:off x="3181350" y="2266950"/>
            <a:ext cx="476250" cy="419100"/>
          </a:xfrm>
          <a:prstGeom prst="roundRect">
            <a:avLst>
              <a:gd name="adj" fmla="val 9091"/>
            </a:avLst>
          </a:prstGeom>
          <a:solidFill>
            <a:srgbClr val="F59E0B">
              <a:alpha val="20000"/>
            </a:srgbClr>
          </a:solidFill>
          <a:ln w="9525">
            <a:solidFill>
              <a:srgbClr val="F59E0B"/>
            </a:solidFill>
          </a:ln>
        </p:spPr>
      </p:sp>
      <p:sp>
        <p:nvSpPr>
          <p:cNvPr id="22" name="TextBox 22"/>
          <p:cNvSpPr txBox="1"/>
          <p:nvPr/>
        </p:nvSpPr>
        <p:spPr>
          <a:xfrm>
            <a:off x="3349704" y="2443162"/>
            <a:ext cx="139541" cy="152400"/>
          </a:xfrm>
          <a:prstGeom prst="rect">
            <a:avLst/>
          </a:prstGeom>
          <a:noFill/>
          <a:ln>
            <a:noFill/>
          </a:ln>
        </p:spPr>
        <p:txBody>
          <a:bodyPr wrap="none" lIns="0" tIns="0" rIns="0" bIns="0" anchor="t" anchorCtr="0">
            <a:spAutoFit/>
          </a:bodyPr>
          <a:lstStyle/>
          <a:p>
            <a:pPr algn="ctr"/>
            <a:r>
              <a:rPr lang="zh-CN" sz="750" dirty="0">
                <a:solidFill>
                  <a:srgbClr val="F59E0B"/>
                </a:solidFill>
                <a:latin typeface="Consolas"/>
                <a:ea typeface="Microsoft YaHei"/>
                <a:cs typeface="Consolas"/>
              </a:rPr>
              <a:t>FC</a:t>
            </a:r>
          </a:p>
        </p:txBody>
      </p:sp>
      <p:sp>
        <p:nvSpPr>
          <p:cNvPr id="23" name="Line 23"/>
          <p:cNvSpPr/>
          <p:nvPr/>
        </p:nvSpPr>
        <p:spPr>
          <a:xfrm>
            <a:off x="3657600" y="2476500"/>
            <a:ext cx="238125" cy="9525"/>
          </a:xfrm>
          <a:custGeom>
            <a:avLst/>
            <a:gdLst/>
            <a:ahLst/>
            <a:cxnLst/>
            <a:rect l="l" t="t" r="r" b="b"/>
            <a:pathLst>
              <a:path w="238125" h="9525">
                <a:moveTo>
                  <a:pt x="0" y="0"/>
                </a:moveTo>
                <a:lnTo>
                  <a:pt x="238125" y="0"/>
                </a:lnTo>
              </a:path>
            </a:pathLst>
          </a:custGeom>
          <a:noFill/>
          <a:ln w="9525">
            <a:solidFill>
              <a:srgbClr val="334155"/>
            </a:solidFill>
          </a:ln>
        </p:spPr>
      </p:sp>
      <p:sp>
        <p:nvSpPr>
          <p:cNvPr id="24" name="Rectangle 24"/>
          <p:cNvSpPr/>
          <p:nvPr/>
        </p:nvSpPr>
        <p:spPr>
          <a:xfrm>
            <a:off x="3924300" y="2305050"/>
            <a:ext cx="571500" cy="342900"/>
          </a:xfrm>
          <a:prstGeom prst="roundRect">
            <a:avLst>
              <a:gd name="adj" fmla="val 11111"/>
            </a:avLst>
          </a:prstGeom>
          <a:solidFill>
            <a:srgbClr val="10B981">
              <a:alpha val="20000"/>
            </a:srgbClr>
          </a:solidFill>
          <a:ln w="9525">
            <a:solidFill>
              <a:srgbClr val="10B981"/>
            </a:solidFill>
          </a:ln>
        </p:spPr>
      </p:sp>
      <p:sp>
        <p:nvSpPr>
          <p:cNvPr id="25" name="TextBox 25"/>
          <p:cNvSpPr txBox="1"/>
          <p:nvPr/>
        </p:nvSpPr>
        <p:spPr>
          <a:xfrm>
            <a:off x="4008834" y="2443162"/>
            <a:ext cx="402431" cy="152400"/>
          </a:xfrm>
          <a:prstGeom prst="rect">
            <a:avLst/>
          </a:prstGeom>
          <a:noFill/>
          <a:ln>
            <a:noFill/>
          </a:ln>
        </p:spPr>
        <p:txBody>
          <a:bodyPr wrap="none" lIns="0" tIns="0" rIns="0" bIns="0" anchor="t" anchorCtr="0">
            <a:spAutoFit/>
          </a:bodyPr>
          <a:lstStyle/>
          <a:p>
            <a:pPr algn="ctr"/>
            <a:r>
              <a:rPr lang="zh-CN" sz="750" dirty="0">
                <a:solidFill>
                  <a:srgbClr val="10B981"/>
                </a:solidFill>
                <a:latin typeface="Consolas"/>
                <a:ea typeface="Microsoft YaHei"/>
                <a:cs typeface="Consolas"/>
              </a:rPr>
              <a:t>Output</a:t>
            </a:r>
          </a:p>
        </p:txBody>
      </p:sp>
      <p:sp>
        <p:nvSpPr>
          <p:cNvPr id="26" name="TextBox 26"/>
          <p:cNvSpPr txBox="1"/>
          <p:nvPr/>
        </p:nvSpPr>
        <p:spPr>
          <a:xfrm>
            <a:off x="844868" y="3037999"/>
            <a:ext cx="402617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18 layers total | 2,622 identity classes | 2.6M face images</a:t>
            </a:r>
          </a:p>
        </p:txBody>
      </p:sp>
      <p:sp>
        <p:nvSpPr>
          <p:cNvPr id="27" name="Rectangle 27"/>
          <p:cNvSpPr/>
          <p:nvPr/>
        </p:nvSpPr>
        <p:spPr>
          <a:xfrm>
            <a:off x="857250" y="3429000"/>
            <a:ext cx="2381250" cy="381000"/>
          </a:xfrm>
          <a:prstGeom prst="roundRect">
            <a:avLst>
              <a:gd name="adj" fmla="val 15000"/>
            </a:avLst>
          </a:prstGeom>
          <a:solidFill>
            <a:srgbClr val="3B82F6">
              <a:alpha val="8000"/>
            </a:srgbClr>
          </a:solidFill>
          <a:ln w="9525">
            <a:solidFill>
              <a:srgbClr val="3B82F6">
                <a:alpha val="30000"/>
              </a:srgbClr>
            </a:solidFill>
          </a:ln>
        </p:spPr>
      </p:sp>
      <p:sp>
        <p:nvSpPr>
          <p:cNvPr id="28" name="TextBox 28"/>
          <p:cNvSpPr txBox="1"/>
          <p:nvPr/>
        </p:nvSpPr>
        <p:spPr>
          <a:xfrm>
            <a:off x="959168" y="3561874"/>
            <a:ext cx="1213795" cy="198120"/>
          </a:xfrm>
          <a:prstGeom prst="rect">
            <a:avLst/>
          </a:prstGeom>
          <a:noFill/>
          <a:ln>
            <a:noFill/>
          </a:ln>
        </p:spPr>
        <p:txBody>
          <a:bodyPr wrap="none" lIns="0" tIns="0" rIns="0" bIns="0" anchor="t" anchorCtr="0">
            <a:spAutoFit/>
          </a:bodyPr>
          <a:lstStyle/>
          <a:p>
            <a:pPr algn="l"/>
            <a:r>
              <a:rPr lang="zh-CN" sz="975" dirty="0">
                <a:solidFill>
                  <a:srgbClr val="3B82F6"/>
                </a:solidFill>
                <a:latin typeface="Arial"/>
                <a:ea typeface="Microsoft YaHei"/>
                <a:cs typeface="Arial"/>
              </a:rPr>
              <a:t>18-layer Deep CNN</a:t>
            </a:r>
          </a:p>
        </p:txBody>
      </p:sp>
      <p:sp>
        <p:nvSpPr>
          <p:cNvPr id="29" name="Rectangle 29"/>
          <p:cNvSpPr/>
          <p:nvPr/>
        </p:nvSpPr>
        <p:spPr>
          <a:xfrm>
            <a:off x="3381375" y="3429000"/>
            <a:ext cx="2381250" cy="381000"/>
          </a:xfrm>
          <a:prstGeom prst="roundRect">
            <a:avLst>
              <a:gd name="adj" fmla="val 15000"/>
            </a:avLst>
          </a:prstGeom>
          <a:solidFill>
            <a:srgbClr val="22D3EE">
              <a:alpha val="8000"/>
            </a:srgbClr>
          </a:solidFill>
          <a:ln w="9525">
            <a:solidFill>
              <a:srgbClr val="22D3EE">
                <a:alpha val="30000"/>
              </a:srgbClr>
            </a:solidFill>
          </a:ln>
        </p:spPr>
      </p:sp>
      <p:sp>
        <p:nvSpPr>
          <p:cNvPr id="30" name="TextBox 30"/>
          <p:cNvSpPr txBox="1"/>
          <p:nvPr/>
        </p:nvSpPr>
        <p:spPr>
          <a:xfrm>
            <a:off x="3483292" y="3561874"/>
            <a:ext cx="1968508" cy="198120"/>
          </a:xfrm>
          <a:prstGeom prst="rect">
            <a:avLst/>
          </a:prstGeom>
          <a:noFill/>
          <a:ln>
            <a:noFill/>
          </a:ln>
        </p:spPr>
        <p:txBody>
          <a:bodyPr wrap="none" lIns="0" tIns="0" rIns="0" bIns="0" anchor="t" anchorCtr="0">
            <a:spAutoFit/>
          </a:bodyPr>
          <a:lstStyle/>
          <a:p>
            <a:pPr algn="l"/>
            <a:r>
              <a:rPr lang="zh-CN" sz="975" dirty="0">
                <a:solidFill>
                  <a:srgbClr val="22D3EE"/>
                </a:solidFill>
                <a:latin typeface="Arial"/>
                <a:ea typeface="Microsoft YaHei"/>
                <a:cs typeface="Arial"/>
              </a:rPr>
              <a:t>Celebrity face training data</a:t>
            </a:r>
          </a:p>
        </p:txBody>
      </p:sp>
      <p:sp>
        <p:nvSpPr>
          <p:cNvPr id="31" name="Rectangle 31"/>
          <p:cNvSpPr/>
          <p:nvPr/>
        </p:nvSpPr>
        <p:spPr>
          <a:xfrm>
            <a:off x="6191250" y="1143000"/>
            <a:ext cx="5429250" cy="2857500"/>
          </a:xfrm>
          <a:prstGeom prst="roundRect">
            <a:avLst>
              <a:gd name="adj" fmla="val 4000"/>
            </a:avLst>
          </a:prstGeom>
          <a:solidFill>
            <a:srgbClr val="1E293B"/>
          </a:solidFill>
          <a:ln w="9525">
            <a:solidFill>
              <a:srgbClr val="334155"/>
            </a:solidFill>
          </a:ln>
        </p:spPr>
      </p:sp>
      <p:sp>
        <p:nvSpPr>
          <p:cNvPr id="32" name="Rectangle 32"/>
          <p:cNvSpPr/>
          <p:nvPr/>
        </p:nvSpPr>
        <p:spPr>
          <a:xfrm>
            <a:off x="6191250" y="1143000"/>
            <a:ext cx="5429250" cy="57150"/>
          </a:xfrm>
          <a:prstGeom prst="roundRect">
            <a:avLst>
              <a:gd name="adj" fmla="val 50000"/>
            </a:avLst>
          </a:prstGeom>
          <a:solidFill>
            <a:srgbClr val="8B5CF6"/>
          </a:solidFill>
          <a:ln>
            <a:noFill/>
          </a:ln>
        </p:spPr>
      </p:sp>
      <p:sp>
        <p:nvSpPr>
          <p:cNvPr id="33" name="TextBox 33"/>
          <p:cNvSpPr txBox="1"/>
          <p:nvPr/>
        </p:nvSpPr>
        <p:spPr>
          <a:xfrm>
            <a:off x="6362700" y="1362075"/>
            <a:ext cx="2407396" cy="304800"/>
          </a:xfrm>
          <a:prstGeom prst="rect">
            <a:avLst/>
          </a:prstGeom>
          <a:noFill/>
          <a:ln>
            <a:noFill/>
          </a:ln>
        </p:spPr>
        <p:txBody>
          <a:bodyPr wrap="none" lIns="0" tIns="0" rIns="0" bIns="0" anchor="t" anchorCtr="0">
            <a:spAutoFit/>
          </a:bodyPr>
          <a:lstStyle/>
          <a:p>
            <a:pPr algn="l"/>
            <a:r>
              <a:rPr lang="zh-CN" sz="1500" b="1" dirty="0">
                <a:solidFill>
                  <a:srgbClr val="8B5CF6"/>
                </a:solidFill>
                <a:latin typeface="Georgia"/>
                <a:ea typeface="Microsoft YaHei"/>
                <a:cs typeface="Georgia"/>
              </a:rPr>
              <a:t>Triplet Loss Function</a:t>
            </a:r>
          </a:p>
        </p:txBody>
      </p:sp>
      <p:sp>
        <p:nvSpPr>
          <p:cNvPr id="34" name="TextBox 34"/>
          <p:cNvSpPr txBox="1"/>
          <p:nvPr/>
        </p:nvSpPr>
        <p:spPr>
          <a:xfrm>
            <a:off x="6368415" y="1658302"/>
            <a:ext cx="336975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Refinement technique for embedding learning</a:t>
            </a:r>
          </a:p>
        </p:txBody>
      </p:sp>
      <p:sp>
        <p:nvSpPr>
          <p:cNvPr id="35" name="Line 35"/>
          <p:cNvSpPr/>
          <p:nvPr/>
        </p:nvSpPr>
        <p:spPr>
          <a:xfrm>
            <a:off x="6381750" y="1905000"/>
            <a:ext cx="5048250" cy="9525"/>
          </a:xfrm>
          <a:custGeom>
            <a:avLst/>
            <a:gdLst/>
            <a:ahLst/>
            <a:cxnLst/>
            <a:rect l="l" t="t" r="r" b="b"/>
            <a:pathLst>
              <a:path w="5048250" h="9525">
                <a:moveTo>
                  <a:pt x="0" y="0"/>
                </a:moveTo>
                <a:lnTo>
                  <a:pt x="5048250" y="0"/>
                </a:lnTo>
              </a:path>
            </a:pathLst>
          </a:custGeom>
          <a:noFill/>
          <a:ln w="9525">
            <a:solidFill>
              <a:srgbClr val="334155"/>
            </a:solidFill>
          </a:ln>
        </p:spPr>
      </p:sp>
      <p:sp>
        <p:nvSpPr>
          <p:cNvPr id="36" name="Ellipse 36"/>
          <p:cNvSpPr/>
          <p:nvPr/>
        </p:nvSpPr>
        <p:spPr>
          <a:xfrm>
            <a:off x="6905625" y="2238375"/>
            <a:ext cx="666750" cy="666750"/>
          </a:xfrm>
          <a:prstGeom prst="ellipse">
            <a:avLst/>
          </a:prstGeom>
          <a:solidFill>
            <a:srgbClr val="3B82F6">
              <a:alpha val="15000"/>
            </a:srgbClr>
          </a:solidFill>
          <a:ln w="14288">
            <a:solidFill>
              <a:srgbClr val="3B82F6"/>
            </a:solidFill>
          </a:ln>
        </p:spPr>
      </p:sp>
      <p:sp>
        <p:nvSpPr>
          <p:cNvPr id="37" name="TextBox 37"/>
          <p:cNvSpPr txBox="1"/>
          <p:nvPr/>
        </p:nvSpPr>
        <p:spPr>
          <a:xfrm>
            <a:off x="6999842" y="2455545"/>
            <a:ext cx="478317" cy="182880"/>
          </a:xfrm>
          <a:prstGeom prst="rect">
            <a:avLst/>
          </a:prstGeom>
          <a:noFill/>
          <a:ln>
            <a:noFill/>
          </a:ln>
        </p:spPr>
        <p:txBody>
          <a:bodyPr wrap="none" lIns="0" tIns="0" rIns="0" bIns="0" anchor="t" anchorCtr="0">
            <a:spAutoFit/>
          </a:bodyPr>
          <a:lstStyle/>
          <a:p>
            <a:pPr algn="ctr"/>
            <a:r>
              <a:rPr lang="zh-CN" sz="900" b="1" dirty="0">
                <a:solidFill>
                  <a:srgbClr val="3B82F6"/>
                </a:solidFill>
                <a:latin typeface="Georgia"/>
                <a:ea typeface="Microsoft YaHei"/>
                <a:cs typeface="Georgia"/>
              </a:rPr>
              <a:t>Anchor</a:t>
            </a:r>
          </a:p>
        </p:txBody>
      </p:sp>
      <p:sp>
        <p:nvSpPr>
          <p:cNvPr id="38" name="TextBox 38"/>
          <p:cNvSpPr txBox="1"/>
          <p:nvPr/>
        </p:nvSpPr>
        <p:spPr>
          <a:xfrm>
            <a:off x="7062430" y="2624138"/>
            <a:ext cx="353139"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Consolas"/>
                <a:ea typeface="Microsoft YaHei"/>
                <a:cs typeface="Consolas"/>
              </a:rPr>
              <a:t>Face A</a:t>
            </a:r>
          </a:p>
        </p:txBody>
      </p:sp>
      <p:sp>
        <p:nvSpPr>
          <p:cNvPr id="39" name="Line 39"/>
          <p:cNvSpPr/>
          <p:nvPr/>
        </p:nvSpPr>
        <p:spPr>
          <a:xfrm>
            <a:off x="7572375" y="2286000"/>
            <a:ext cx="666750" cy="190500"/>
          </a:xfrm>
          <a:custGeom>
            <a:avLst/>
            <a:gdLst/>
            <a:ahLst/>
            <a:cxnLst/>
            <a:rect l="l" t="t" r="r" b="b"/>
            <a:pathLst>
              <a:path w="666750" h="190500">
                <a:moveTo>
                  <a:pt x="0" y="190500"/>
                </a:moveTo>
                <a:lnTo>
                  <a:pt x="666750" y="0"/>
                </a:lnTo>
              </a:path>
            </a:pathLst>
          </a:custGeom>
          <a:noFill/>
          <a:ln w="14288">
            <a:solidFill>
              <a:srgbClr val="10B981"/>
            </a:solidFill>
            <a:custDash>
              <a:ds d="266666" sp="200000"/>
            </a:custDash>
          </a:ln>
        </p:spPr>
      </p:sp>
      <p:sp>
        <p:nvSpPr>
          <p:cNvPr id="40" name="Ellipse 40"/>
          <p:cNvSpPr/>
          <p:nvPr/>
        </p:nvSpPr>
        <p:spPr>
          <a:xfrm>
            <a:off x="8334375" y="1857375"/>
            <a:ext cx="666750" cy="666750"/>
          </a:xfrm>
          <a:prstGeom prst="ellipse">
            <a:avLst/>
          </a:prstGeom>
          <a:solidFill>
            <a:srgbClr val="10B981">
              <a:alpha val="15000"/>
            </a:srgbClr>
          </a:solidFill>
          <a:ln w="14288">
            <a:solidFill>
              <a:srgbClr val="10B981"/>
            </a:solidFill>
          </a:ln>
        </p:spPr>
      </p:sp>
      <p:sp>
        <p:nvSpPr>
          <p:cNvPr id="41" name="TextBox 41"/>
          <p:cNvSpPr txBox="1"/>
          <p:nvPr/>
        </p:nvSpPr>
        <p:spPr>
          <a:xfrm>
            <a:off x="8387186" y="2074545"/>
            <a:ext cx="561127" cy="182880"/>
          </a:xfrm>
          <a:prstGeom prst="rect">
            <a:avLst/>
          </a:prstGeom>
          <a:noFill/>
          <a:ln>
            <a:noFill/>
          </a:ln>
        </p:spPr>
        <p:txBody>
          <a:bodyPr wrap="none" lIns="0" tIns="0" rIns="0" bIns="0" anchor="t" anchorCtr="0">
            <a:spAutoFit/>
          </a:bodyPr>
          <a:lstStyle/>
          <a:p>
            <a:pPr algn="ctr"/>
            <a:r>
              <a:rPr lang="zh-CN" sz="900" b="1" dirty="0">
                <a:solidFill>
                  <a:srgbClr val="10B981"/>
                </a:solidFill>
                <a:latin typeface="Georgia"/>
                <a:ea typeface="Microsoft YaHei"/>
                <a:cs typeface="Georgia"/>
              </a:rPr>
              <a:t>Positive</a:t>
            </a:r>
          </a:p>
        </p:txBody>
      </p:sp>
      <p:sp>
        <p:nvSpPr>
          <p:cNvPr id="42" name="TextBox 42"/>
          <p:cNvSpPr txBox="1"/>
          <p:nvPr/>
        </p:nvSpPr>
        <p:spPr>
          <a:xfrm>
            <a:off x="8463796" y="2243138"/>
            <a:ext cx="407908"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Consolas"/>
                <a:ea typeface="Microsoft YaHei"/>
                <a:cs typeface="Consolas"/>
              </a:rPr>
              <a:t>Same ID</a:t>
            </a:r>
          </a:p>
        </p:txBody>
      </p:sp>
      <p:sp>
        <p:nvSpPr>
          <p:cNvPr id="43" name="Line 43"/>
          <p:cNvSpPr/>
          <p:nvPr/>
        </p:nvSpPr>
        <p:spPr>
          <a:xfrm>
            <a:off x="7572375" y="2667000"/>
            <a:ext cx="666750" cy="238125"/>
          </a:xfrm>
          <a:custGeom>
            <a:avLst/>
            <a:gdLst/>
            <a:ahLst/>
            <a:cxnLst/>
            <a:rect l="l" t="t" r="r" b="b"/>
            <a:pathLst>
              <a:path w="666750" h="238125">
                <a:moveTo>
                  <a:pt x="0" y="0"/>
                </a:moveTo>
                <a:lnTo>
                  <a:pt x="666750" y="238125"/>
                </a:lnTo>
              </a:path>
            </a:pathLst>
          </a:custGeom>
          <a:noFill/>
          <a:ln w="14288">
            <a:solidFill>
              <a:srgbClr val="F59E0B"/>
            </a:solidFill>
            <a:custDash>
              <a:ds d="266666" sp="200000"/>
            </a:custDash>
          </a:ln>
        </p:spPr>
      </p:sp>
      <p:sp>
        <p:nvSpPr>
          <p:cNvPr id="44" name="Ellipse 44"/>
          <p:cNvSpPr/>
          <p:nvPr/>
        </p:nvSpPr>
        <p:spPr>
          <a:xfrm>
            <a:off x="8334375" y="2667000"/>
            <a:ext cx="666750" cy="666750"/>
          </a:xfrm>
          <a:prstGeom prst="ellipse">
            <a:avLst/>
          </a:prstGeom>
          <a:solidFill>
            <a:srgbClr val="F59E0B">
              <a:alpha val="15000"/>
            </a:srgbClr>
          </a:solidFill>
          <a:ln w="14288">
            <a:solidFill>
              <a:srgbClr val="F59E0B"/>
            </a:solidFill>
          </a:ln>
        </p:spPr>
      </p:sp>
      <p:sp>
        <p:nvSpPr>
          <p:cNvPr id="45" name="TextBox 45"/>
          <p:cNvSpPr txBox="1"/>
          <p:nvPr/>
        </p:nvSpPr>
        <p:spPr>
          <a:xfrm>
            <a:off x="8369934" y="2884170"/>
            <a:ext cx="595632" cy="182880"/>
          </a:xfrm>
          <a:prstGeom prst="rect">
            <a:avLst/>
          </a:prstGeom>
          <a:noFill/>
          <a:ln>
            <a:noFill/>
          </a:ln>
        </p:spPr>
        <p:txBody>
          <a:bodyPr wrap="none" lIns="0" tIns="0" rIns="0" bIns="0" anchor="t" anchorCtr="0">
            <a:spAutoFit/>
          </a:bodyPr>
          <a:lstStyle/>
          <a:p>
            <a:pPr algn="ctr"/>
            <a:r>
              <a:rPr lang="zh-CN" sz="900" b="1" dirty="0">
                <a:solidFill>
                  <a:srgbClr val="F59E0B"/>
                </a:solidFill>
                <a:latin typeface="Georgia"/>
                <a:ea typeface="Microsoft YaHei"/>
                <a:cs typeface="Georgia"/>
              </a:rPr>
              <a:t>Negative</a:t>
            </a:r>
          </a:p>
        </p:txBody>
      </p:sp>
      <p:sp>
        <p:nvSpPr>
          <p:cNvPr id="46" name="TextBox 46"/>
          <p:cNvSpPr txBox="1"/>
          <p:nvPr/>
        </p:nvSpPr>
        <p:spPr>
          <a:xfrm>
            <a:off x="8488442" y="3052762"/>
            <a:ext cx="358616" cy="152400"/>
          </a:xfrm>
          <a:prstGeom prst="rect">
            <a:avLst/>
          </a:prstGeom>
          <a:noFill/>
          <a:ln>
            <a:noFill/>
          </a:ln>
        </p:spPr>
        <p:txBody>
          <a:bodyPr wrap="none" lIns="0" tIns="0" rIns="0" bIns="0" anchor="t" anchorCtr="0">
            <a:spAutoFit/>
          </a:bodyPr>
          <a:lstStyle/>
          <a:p>
            <a:pPr algn="ctr"/>
            <a:r>
              <a:rPr lang="zh-CN" sz="750" dirty="0">
                <a:solidFill>
                  <a:srgbClr val="64748B"/>
                </a:solidFill>
                <a:latin typeface="Consolas"/>
                <a:ea typeface="Microsoft YaHei"/>
                <a:cs typeface="Consolas"/>
              </a:rPr>
              <a:t>Diff ID</a:t>
            </a:r>
          </a:p>
        </p:txBody>
      </p:sp>
      <p:sp>
        <p:nvSpPr>
          <p:cNvPr id="47" name="TextBox 47"/>
          <p:cNvSpPr txBox="1"/>
          <p:nvPr/>
        </p:nvSpPr>
        <p:spPr>
          <a:xfrm>
            <a:off x="9322118" y="2275999"/>
            <a:ext cx="1434513"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Minimize distance to</a:t>
            </a:r>
          </a:p>
        </p:txBody>
      </p:sp>
      <p:sp>
        <p:nvSpPr>
          <p:cNvPr id="48" name="TextBox 48"/>
          <p:cNvSpPr txBox="1"/>
          <p:nvPr/>
        </p:nvSpPr>
        <p:spPr>
          <a:xfrm>
            <a:off x="9322118" y="2466499"/>
            <a:ext cx="1085636"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positive sample</a:t>
            </a:r>
          </a:p>
        </p:txBody>
      </p:sp>
      <p:sp>
        <p:nvSpPr>
          <p:cNvPr id="49" name="TextBox 49"/>
          <p:cNvSpPr txBox="1"/>
          <p:nvPr/>
        </p:nvSpPr>
        <p:spPr>
          <a:xfrm>
            <a:off x="9322118" y="2904649"/>
            <a:ext cx="1470112"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Maximize distance to</a:t>
            </a:r>
          </a:p>
        </p:txBody>
      </p:sp>
      <p:sp>
        <p:nvSpPr>
          <p:cNvPr id="50" name="TextBox 50"/>
          <p:cNvSpPr txBox="1"/>
          <p:nvPr/>
        </p:nvSpPr>
        <p:spPr>
          <a:xfrm>
            <a:off x="9322118" y="3095149"/>
            <a:ext cx="1121235"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a:ea typeface="Microsoft YaHei"/>
                <a:cs typeface="Arial"/>
              </a:rPr>
              <a:t>negative sample</a:t>
            </a:r>
          </a:p>
        </p:txBody>
      </p:sp>
      <p:sp>
        <p:nvSpPr>
          <p:cNvPr id="51" name="Rectangle 51"/>
          <p:cNvSpPr/>
          <p:nvPr/>
        </p:nvSpPr>
        <p:spPr>
          <a:xfrm>
            <a:off x="6381750" y="3524250"/>
            <a:ext cx="4857750" cy="342900"/>
          </a:xfrm>
          <a:prstGeom prst="roundRect">
            <a:avLst>
              <a:gd name="adj" fmla="val 16667"/>
            </a:avLst>
          </a:prstGeom>
          <a:solidFill>
            <a:srgbClr val="0F172A"/>
          </a:solidFill>
          <a:ln w="9525">
            <a:solidFill>
              <a:srgbClr val="334155"/>
            </a:solidFill>
          </a:ln>
        </p:spPr>
      </p:sp>
      <p:sp>
        <p:nvSpPr>
          <p:cNvPr id="52" name="TextBox 52"/>
          <p:cNvSpPr txBox="1"/>
          <p:nvPr/>
        </p:nvSpPr>
        <p:spPr>
          <a:xfrm>
            <a:off x="7502414" y="3647599"/>
            <a:ext cx="2616422" cy="198120"/>
          </a:xfrm>
          <a:prstGeom prst="rect">
            <a:avLst/>
          </a:prstGeom>
          <a:noFill/>
          <a:ln>
            <a:noFill/>
          </a:ln>
        </p:spPr>
        <p:txBody>
          <a:bodyPr wrap="none" lIns="0" tIns="0" rIns="0" bIns="0" anchor="t" anchorCtr="0">
            <a:spAutoFit/>
          </a:bodyPr>
          <a:lstStyle/>
          <a:p>
            <a:pPr algn="ctr"/>
            <a:r>
              <a:rPr lang="zh-CN" sz="975" dirty="0">
                <a:solidFill>
                  <a:srgbClr val="F1F5F9"/>
                </a:solidFill>
                <a:latin typeface="Consolas"/>
                <a:ea typeface="Microsoft YaHei"/>
                <a:cs typeface="Consolas"/>
              </a:rPr>
              <a:t>L = max(d(a,p) - d(a,n) + margin, 0)</a:t>
            </a:r>
          </a:p>
        </p:txBody>
      </p:sp>
      <p:sp>
        <p:nvSpPr>
          <p:cNvPr id="53" name="Rectangle 53"/>
          <p:cNvSpPr/>
          <p:nvPr/>
        </p:nvSpPr>
        <p:spPr>
          <a:xfrm>
            <a:off x="571500" y="4286250"/>
            <a:ext cx="11049000" cy="2095500"/>
          </a:xfrm>
          <a:prstGeom prst="roundRect">
            <a:avLst>
              <a:gd name="adj" fmla="val 5455"/>
            </a:avLst>
          </a:prstGeom>
          <a:solidFill>
            <a:srgbClr val="1E293B"/>
          </a:solidFill>
          <a:ln w="9525">
            <a:solidFill>
              <a:srgbClr val="334155"/>
            </a:solidFill>
          </a:ln>
        </p:spPr>
      </p:sp>
      <p:sp>
        <p:nvSpPr>
          <p:cNvPr id="54" name="TextBox 54"/>
          <p:cNvSpPr txBox="1"/>
          <p:nvPr/>
        </p:nvSpPr>
        <p:spPr>
          <a:xfrm>
            <a:off x="744855" y="4502468"/>
            <a:ext cx="5427314" cy="274320"/>
          </a:xfrm>
          <a:prstGeom prst="rect">
            <a:avLst/>
          </a:prstGeom>
          <a:noFill/>
          <a:ln>
            <a:noFill/>
          </a:ln>
        </p:spPr>
        <p:txBody>
          <a:bodyPr wrap="none" lIns="0" tIns="0" rIns="0" bIns="0" anchor="t" anchorCtr="0">
            <a:spAutoFit/>
          </a:bodyPr>
          <a:lstStyle/>
          <a:p>
            <a:pPr algn="l"/>
            <a:r>
              <a:rPr lang="zh-CN" sz="1350" b="1" dirty="0">
                <a:gradFill>
                  <a:gsLst>
                    <a:gs pos="0">
                      <a:srgbClr val="3B82F6"/>
                    </a:gs>
                    <a:gs pos="100000">
                      <a:srgbClr val="22D3EE"/>
                    </a:gs>
                  </a:gsLst>
                  <a:lin ang="0" scaled="1"/>
                </a:gradFill>
                <a:latin typeface="Georgia"/>
                <a:ea typeface="Microsoft YaHei"/>
                <a:cs typeface="Georgia"/>
              </a:rPr>
              <a:t>How Backpropagation Drives Face Recognition Training</a:t>
            </a:r>
          </a:p>
        </p:txBody>
      </p:sp>
      <p:sp>
        <p:nvSpPr>
          <p:cNvPr id="55" name="Rectangle 55"/>
          <p:cNvSpPr/>
          <p:nvPr/>
        </p:nvSpPr>
        <p:spPr>
          <a:xfrm>
            <a:off x="762000" y="4857750"/>
            <a:ext cx="2286000" cy="762000"/>
          </a:xfrm>
          <a:prstGeom prst="roundRect">
            <a:avLst>
              <a:gd name="adj" fmla="val 10000"/>
            </a:avLst>
          </a:prstGeom>
          <a:solidFill>
            <a:srgbClr val="3B82F6">
              <a:alpha val="8000"/>
            </a:srgbClr>
          </a:solidFill>
          <a:ln w="9525">
            <a:solidFill>
              <a:srgbClr val="3B82F6">
                <a:alpha val="30000"/>
              </a:srgbClr>
            </a:solidFill>
          </a:ln>
        </p:spPr>
      </p:sp>
      <p:sp>
        <p:nvSpPr>
          <p:cNvPr id="56" name="Ellipse 56"/>
          <p:cNvSpPr/>
          <p:nvPr/>
        </p:nvSpPr>
        <p:spPr>
          <a:xfrm>
            <a:off x="876300" y="4972050"/>
            <a:ext cx="228600" cy="228600"/>
          </a:xfrm>
          <a:prstGeom prst="ellipse">
            <a:avLst/>
          </a:prstGeom>
          <a:solidFill>
            <a:srgbClr val="3B82F6">
              <a:alpha val="20000"/>
            </a:srgbClr>
          </a:solidFill>
          <a:ln w="9525">
            <a:solidFill>
              <a:srgbClr val="3B82F6"/>
            </a:solidFill>
          </a:ln>
        </p:spPr>
      </p:sp>
      <p:sp>
        <p:nvSpPr>
          <p:cNvPr id="57" name="TextBox 57"/>
          <p:cNvSpPr txBox="1"/>
          <p:nvPr/>
        </p:nvSpPr>
        <p:spPr>
          <a:xfrm>
            <a:off x="961145" y="5035391"/>
            <a:ext cx="58910" cy="167640"/>
          </a:xfrm>
          <a:prstGeom prst="rect">
            <a:avLst/>
          </a:prstGeom>
          <a:noFill/>
          <a:ln>
            <a:noFill/>
          </a:ln>
        </p:spPr>
        <p:txBody>
          <a:bodyPr wrap="none" lIns="0" tIns="0" rIns="0" bIns="0" anchor="t" anchorCtr="0">
            <a:spAutoFit/>
          </a:bodyPr>
          <a:lstStyle/>
          <a:p>
            <a:pPr algn="ctr"/>
            <a:r>
              <a:rPr lang="zh-CN" sz="825" b="1" dirty="0">
                <a:solidFill>
                  <a:srgbClr val="3B82F6"/>
                </a:solidFill>
                <a:latin typeface="Georgia"/>
                <a:ea typeface="Microsoft YaHei"/>
                <a:cs typeface="Georgia"/>
              </a:rPr>
              <a:t>1</a:t>
            </a:r>
          </a:p>
        </p:txBody>
      </p:sp>
      <p:sp>
        <p:nvSpPr>
          <p:cNvPr id="58" name="TextBox 58"/>
          <p:cNvSpPr txBox="1"/>
          <p:nvPr/>
        </p:nvSpPr>
        <p:spPr>
          <a:xfrm>
            <a:off x="1168718" y="5019199"/>
            <a:ext cx="1826109" cy="198120"/>
          </a:xfrm>
          <a:prstGeom prst="rect">
            <a:avLst/>
          </a:prstGeom>
          <a:noFill/>
          <a:ln>
            <a:noFill/>
          </a:ln>
        </p:spPr>
        <p:txBody>
          <a:bodyPr wrap="none" lIns="0" tIns="0" rIns="0" bIns="0" anchor="t" anchorCtr="0">
            <a:spAutoFit/>
          </a:bodyPr>
          <a:lstStyle/>
          <a:p>
            <a:pPr algn="l"/>
            <a:r>
              <a:rPr lang="zh-CN" sz="975" dirty="0">
                <a:solidFill>
                  <a:srgbClr val="F1F5F9"/>
                </a:solidFill>
                <a:latin typeface="Arial"/>
                <a:ea typeface="Microsoft YaHei"/>
                <a:cs typeface="Arial"/>
              </a:rPr>
              <a:t>Forward pass through CNN</a:t>
            </a:r>
          </a:p>
        </p:txBody>
      </p:sp>
      <p:sp>
        <p:nvSpPr>
          <p:cNvPr id="59" name="TextBox 59"/>
          <p:cNvSpPr txBox="1"/>
          <p:nvPr/>
        </p:nvSpPr>
        <p:spPr>
          <a:xfrm>
            <a:off x="979170" y="5313045"/>
            <a:ext cx="1639633"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Compute face embeddings</a:t>
            </a:r>
          </a:p>
        </p:txBody>
      </p:sp>
      <p:sp>
        <p:nvSpPr>
          <p:cNvPr id="60" name="Line 60"/>
          <p:cNvSpPr/>
          <p:nvPr/>
        </p:nvSpPr>
        <p:spPr>
          <a:xfrm>
            <a:off x="3048000" y="5238750"/>
            <a:ext cx="285750" cy="9525"/>
          </a:xfrm>
          <a:custGeom>
            <a:avLst/>
            <a:gdLst/>
            <a:ahLst/>
            <a:cxnLst/>
            <a:rect l="l" t="t" r="r" b="b"/>
            <a:pathLst>
              <a:path w="285750" h="9525">
                <a:moveTo>
                  <a:pt x="0" y="0"/>
                </a:moveTo>
                <a:lnTo>
                  <a:pt x="285750" y="0"/>
                </a:lnTo>
              </a:path>
            </a:pathLst>
          </a:custGeom>
          <a:noFill/>
          <a:ln w="14288">
            <a:solidFill>
              <a:srgbClr val="334155"/>
            </a:solidFill>
          </a:ln>
        </p:spPr>
      </p:sp>
      <p:sp>
        <p:nvSpPr>
          <p:cNvPr id="61" name="Polygon 61"/>
          <p:cNvSpPr/>
          <p:nvPr/>
        </p:nvSpPr>
        <p:spPr>
          <a:xfrm>
            <a:off x="3333750" y="5200650"/>
            <a:ext cx="76200" cy="76200"/>
          </a:xfrm>
          <a:custGeom>
            <a:avLst/>
            <a:gdLst/>
            <a:ahLst/>
            <a:cxnLst/>
            <a:rect l="l" t="t" r="r" b="b"/>
            <a:pathLst>
              <a:path w="76200" h="76200">
                <a:moveTo>
                  <a:pt x="0" y="0"/>
                </a:moveTo>
                <a:lnTo>
                  <a:pt x="76200" y="38100"/>
                </a:lnTo>
                <a:lnTo>
                  <a:pt x="0" y="76200"/>
                </a:lnTo>
                <a:close/>
              </a:path>
            </a:pathLst>
          </a:custGeom>
          <a:solidFill>
            <a:srgbClr val="334155"/>
          </a:solidFill>
          <a:ln>
            <a:noFill/>
          </a:ln>
        </p:spPr>
      </p:sp>
      <p:sp>
        <p:nvSpPr>
          <p:cNvPr id="62" name="Rectangle 62"/>
          <p:cNvSpPr/>
          <p:nvPr/>
        </p:nvSpPr>
        <p:spPr>
          <a:xfrm>
            <a:off x="3429000" y="4857750"/>
            <a:ext cx="2286000" cy="762000"/>
          </a:xfrm>
          <a:prstGeom prst="roundRect">
            <a:avLst>
              <a:gd name="adj" fmla="val 10000"/>
            </a:avLst>
          </a:prstGeom>
          <a:solidFill>
            <a:srgbClr val="22D3EE">
              <a:alpha val="8000"/>
            </a:srgbClr>
          </a:solidFill>
          <a:ln w="9525">
            <a:solidFill>
              <a:srgbClr val="22D3EE">
                <a:alpha val="30000"/>
              </a:srgbClr>
            </a:solidFill>
          </a:ln>
        </p:spPr>
      </p:sp>
      <p:sp>
        <p:nvSpPr>
          <p:cNvPr id="63" name="Ellipse 63"/>
          <p:cNvSpPr/>
          <p:nvPr/>
        </p:nvSpPr>
        <p:spPr>
          <a:xfrm>
            <a:off x="3543300" y="4972050"/>
            <a:ext cx="228600" cy="228600"/>
          </a:xfrm>
          <a:prstGeom prst="ellipse">
            <a:avLst/>
          </a:prstGeom>
          <a:solidFill>
            <a:srgbClr val="22D3EE">
              <a:alpha val="20000"/>
            </a:srgbClr>
          </a:solidFill>
          <a:ln w="9525">
            <a:solidFill>
              <a:srgbClr val="22D3EE"/>
            </a:solidFill>
          </a:ln>
        </p:spPr>
      </p:sp>
      <p:sp>
        <p:nvSpPr>
          <p:cNvPr id="64" name="TextBox 64"/>
          <p:cNvSpPr txBox="1"/>
          <p:nvPr/>
        </p:nvSpPr>
        <p:spPr>
          <a:xfrm>
            <a:off x="3612331" y="5035391"/>
            <a:ext cx="90539" cy="167640"/>
          </a:xfrm>
          <a:prstGeom prst="rect">
            <a:avLst/>
          </a:prstGeom>
          <a:noFill/>
          <a:ln>
            <a:noFill/>
          </a:ln>
        </p:spPr>
        <p:txBody>
          <a:bodyPr wrap="none" lIns="0" tIns="0" rIns="0" bIns="0" anchor="t" anchorCtr="0">
            <a:spAutoFit/>
          </a:bodyPr>
          <a:lstStyle/>
          <a:p>
            <a:pPr algn="ctr"/>
            <a:r>
              <a:rPr lang="zh-CN" sz="825" b="1" dirty="0">
                <a:solidFill>
                  <a:srgbClr val="22D3EE"/>
                </a:solidFill>
                <a:latin typeface="Georgia"/>
                <a:ea typeface="Microsoft YaHei"/>
                <a:cs typeface="Georgia"/>
              </a:rPr>
              <a:t>2</a:t>
            </a:r>
          </a:p>
        </p:txBody>
      </p:sp>
      <p:sp>
        <p:nvSpPr>
          <p:cNvPr id="65" name="TextBox 65"/>
          <p:cNvSpPr txBox="1"/>
          <p:nvPr/>
        </p:nvSpPr>
        <p:spPr>
          <a:xfrm>
            <a:off x="3835718" y="5019199"/>
            <a:ext cx="1441633" cy="198120"/>
          </a:xfrm>
          <a:prstGeom prst="rect">
            <a:avLst/>
          </a:prstGeom>
          <a:noFill/>
          <a:ln>
            <a:noFill/>
          </a:ln>
        </p:spPr>
        <p:txBody>
          <a:bodyPr wrap="none" lIns="0" tIns="0" rIns="0" bIns="0" anchor="t" anchorCtr="0">
            <a:spAutoFit/>
          </a:bodyPr>
          <a:lstStyle/>
          <a:p>
            <a:pPr algn="l"/>
            <a:r>
              <a:rPr lang="zh-CN" sz="975" dirty="0">
                <a:solidFill>
                  <a:srgbClr val="F1F5F9"/>
                </a:solidFill>
                <a:latin typeface="Arial"/>
                <a:ea typeface="Microsoft YaHei"/>
                <a:cs typeface="Arial"/>
              </a:rPr>
              <a:t>Compute triplet loss</a:t>
            </a:r>
          </a:p>
        </p:txBody>
      </p:sp>
      <p:sp>
        <p:nvSpPr>
          <p:cNvPr id="66" name="TextBox 66"/>
          <p:cNvSpPr txBox="1"/>
          <p:nvPr/>
        </p:nvSpPr>
        <p:spPr>
          <a:xfrm>
            <a:off x="3646170" y="5313045"/>
            <a:ext cx="173821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Penalize misclassifications</a:t>
            </a:r>
          </a:p>
        </p:txBody>
      </p:sp>
      <p:sp>
        <p:nvSpPr>
          <p:cNvPr id="67" name="Line 67"/>
          <p:cNvSpPr/>
          <p:nvPr/>
        </p:nvSpPr>
        <p:spPr>
          <a:xfrm>
            <a:off x="5715000" y="5238750"/>
            <a:ext cx="285750" cy="9525"/>
          </a:xfrm>
          <a:custGeom>
            <a:avLst/>
            <a:gdLst/>
            <a:ahLst/>
            <a:cxnLst/>
            <a:rect l="l" t="t" r="r" b="b"/>
            <a:pathLst>
              <a:path w="285750" h="9525">
                <a:moveTo>
                  <a:pt x="0" y="0"/>
                </a:moveTo>
                <a:lnTo>
                  <a:pt x="285750" y="0"/>
                </a:lnTo>
              </a:path>
            </a:pathLst>
          </a:custGeom>
          <a:noFill/>
          <a:ln w="14288">
            <a:solidFill>
              <a:srgbClr val="334155"/>
            </a:solidFill>
          </a:ln>
        </p:spPr>
      </p:sp>
      <p:sp>
        <p:nvSpPr>
          <p:cNvPr id="68" name="Polygon 68"/>
          <p:cNvSpPr/>
          <p:nvPr/>
        </p:nvSpPr>
        <p:spPr>
          <a:xfrm>
            <a:off x="6000750" y="5200650"/>
            <a:ext cx="76200" cy="76200"/>
          </a:xfrm>
          <a:custGeom>
            <a:avLst/>
            <a:gdLst/>
            <a:ahLst/>
            <a:cxnLst/>
            <a:rect l="l" t="t" r="r" b="b"/>
            <a:pathLst>
              <a:path w="76200" h="76200">
                <a:moveTo>
                  <a:pt x="0" y="0"/>
                </a:moveTo>
                <a:lnTo>
                  <a:pt x="76200" y="38100"/>
                </a:lnTo>
                <a:lnTo>
                  <a:pt x="0" y="76200"/>
                </a:lnTo>
                <a:close/>
              </a:path>
            </a:pathLst>
          </a:custGeom>
          <a:solidFill>
            <a:srgbClr val="334155"/>
          </a:solidFill>
          <a:ln>
            <a:noFill/>
          </a:ln>
        </p:spPr>
      </p:sp>
      <p:sp>
        <p:nvSpPr>
          <p:cNvPr id="69" name="Rectangle 69"/>
          <p:cNvSpPr/>
          <p:nvPr/>
        </p:nvSpPr>
        <p:spPr>
          <a:xfrm>
            <a:off x="6096000" y="4857750"/>
            <a:ext cx="2476500" cy="762000"/>
          </a:xfrm>
          <a:prstGeom prst="roundRect">
            <a:avLst>
              <a:gd name="adj" fmla="val 10000"/>
            </a:avLst>
          </a:prstGeom>
          <a:solidFill>
            <a:srgbClr val="8B5CF6">
              <a:alpha val="8000"/>
            </a:srgbClr>
          </a:solidFill>
          <a:ln w="9525">
            <a:solidFill>
              <a:srgbClr val="8B5CF6">
                <a:alpha val="30000"/>
              </a:srgbClr>
            </a:solidFill>
          </a:ln>
        </p:spPr>
      </p:sp>
      <p:sp>
        <p:nvSpPr>
          <p:cNvPr id="70" name="Ellipse 70"/>
          <p:cNvSpPr/>
          <p:nvPr/>
        </p:nvSpPr>
        <p:spPr>
          <a:xfrm>
            <a:off x="6210300" y="4972050"/>
            <a:ext cx="228600" cy="228600"/>
          </a:xfrm>
          <a:prstGeom prst="ellipse">
            <a:avLst/>
          </a:prstGeom>
          <a:solidFill>
            <a:srgbClr val="8B5CF6">
              <a:alpha val="20000"/>
            </a:srgbClr>
          </a:solidFill>
          <a:ln w="9525">
            <a:solidFill>
              <a:srgbClr val="8B5CF6"/>
            </a:solidFill>
          </a:ln>
        </p:spPr>
      </p:sp>
      <p:sp>
        <p:nvSpPr>
          <p:cNvPr id="71" name="TextBox 71"/>
          <p:cNvSpPr txBox="1"/>
          <p:nvPr/>
        </p:nvSpPr>
        <p:spPr>
          <a:xfrm>
            <a:off x="6279331" y="5035391"/>
            <a:ext cx="90539" cy="167640"/>
          </a:xfrm>
          <a:prstGeom prst="rect">
            <a:avLst/>
          </a:prstGeom>
          <a:noFill/>
          <a:ln>
            <a:noFill/>
          </a:ln>
        </p:spPr>
        <p:txBody>
          <a:bodyPr wrap="none" lIns="0" tIns="0" rIns="0" bIns="0" anchor="t" anchorCtr="0">
            <a:spAutoFit/>
          </a:bodyPr>
          <a:lstStyle/>
          <a:p>
            <a:pPr algn="ctr"/>
            <a:r>
              <a:rPr lang="zh-CN" sz="825" b="1" dirty="0">
                <a:solidFill>
                  <a:srgbClr val="8B5CF6"/>
                </a:solidFill>
                <a:latin typeface="Georgia"/>
                <a:ea typeface="Microsoft YaHei"/>
                <a:cs typeface="Georgia"/>
              </a:rPr>
              <a:t>3</a:t>
            </a:r>
          </a:p>
        </p:txBody>
      </p:sp>
      <p:sp>
        <p:nvSpPr>
          <p:cNvPr id="72" name="TextBox 72"/>
          <p:cNvSpPr txBox="1"/>
          <p:nvPr/>
        </p:nvSpPr>
        <p:spPr>
          <a:xfrm>
            <a:off x="6502718" y="5019199"/>
            <a:ext cx="1754910" cy="198120"/>
          </a:xfrm>
          <a:prstGeom prst="rect">
            <a:avLst/>
          </a:prstGeom>
          <a:noFill/>
          <a:ln>
            <a:noFill/>
          </a:ln>
        </p:spPr>
        <p:txBody>
          <a:bodyPr wrap="none" lIns="0" tIns="0" rIns="0" bIns="0" anchor="t" anchorCtr="0">
            <a:spAutoFit/>
          </a:bodyPr>
          <a:lstStyle/>
          <a:p>
            <a:pPr algn="l"/>
            <a:r>
              <a:rPr lang="zh-CN" sz="975" dirty="0">
                <a:solidFill>
                  <a:srgbClr val="F1F5F9"/>
                </a:solidFill>
                <a:latin typeface="Arial"/>
                <a:ea typeface="Microsoft YaHei"/>
                <a:cs typeface="Arial"/>
              </a:rPr>
              <a:t>Backpropagate gradients</a:t>
            </a:r>
          </a:p>
        </p:txBody>
      </p:sp>
      <p:sp>
        <p:nvSpPr>
          <p:cNvPr id="73" name="TextBox 73"/>
          <p:cNvSpPr txBox="1"/>
          <p:nvPr/>
        </p:nvSpPr>
        <p:spPr>
          <a:xfrm>
            <a:off x="6313170" y="5313045"/>
            <a:ext cx="170535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Update all 18 layer weights</a:t>
            </a:r>
          </a:p>
        </p:txBody>
      </p:sp>
      <p:sp>
        <p:nvSpPr>
          <p:cNvPr id="74" name="Line 74"/>
          <p:cNvSpPr/>
          <p:nvPr/>
        </p:nvSpPr>
        <p:spPr>
          <a:xfrm>
            <a:off x="8572500" y="5238750"/>
            <a:ext cx="285750" cy="9525"/>
          </a:xfrm>
          <a:custGeom>
            <a:avLst/>
            <a:gdLst/>
            <a:ahLst/>
            <a:cxnLst/>
            <a:rect l="l" t="t" r="r" b="b"/>
            <a:pathLst>
              <a:path w="285750" h="9525">
                <a:moveTo>
                  <a:pt x="0" y="0"/>
                </a:moveTo>
                <a:lnTo>
                  <a:pt x="285750" y="0"/>
                </a:lnTo>
              </a:path>
            </a:pathLst>
          </a:custGeom>
          <a:noFill/>
          <a:ln w="14288">
            <a:solidFill>
              <a:srgbClr val="334155"/>
            </a:solidFill>
          </a:ln>
        </p:spPr>
      </p:sp>
      <p:sp>
        <p:nvSpPr>
          <p:cNvPr id="75" name="Polygon 75"/>
          <p:cNvSpPr/>
          <p:nvPr/>
        </p:nvSpPr>
        <p:spPr>
          <a:xfrm>
            <a:off x="8858250" y="5200650"/>
            <a:ext cx="76200" cy="76200"/>
          </a:xfrm>
          <a:custGeom>
            <a:avLst/>
            <a:gdLst/>
            <a:ahLst/>
            <a:cxnLst/>
            <a:rect l="l" t="t" r="r" b="b"/>
            <a:pathLst>
              <a:path w="76200" h="76200">
                <a:moveTo>
                  <a:pt x="0" y="0"/>
                </a:moveTo>
                <a:lnTo>
                  <a:pt x="76200" y="38100"/>
                </a:lnTo>
                <a:lnTo>
                  <a:pt x="0" y="76200"/>
                </a:lnTo>
                <a:close/>
              </a:path>
            </a:pathLst>
          </a:custGeom>
          <a:solidFill>
            <a:srgbClr val="334155"/>
          </a:solidFill>
          <a:ln>
            <a:noFill/>
          </a:ln>
        </p:spPr>
      </p:sp>
      <p:sp>
        <p:nvSpPr>
          <p:cNvPr id="76" name="Rectangle 76"/>
          <p:cNvSpPr/>
          <p:nvPr/>
        </p:nvSpPr>
        <p:spPr>
          <a:xfrm>
            <a:off x="8953500" y="4857750"/>
            <a:ext cx="2476500" cy="762000"/>
          </a:xfrm>
          <a:prstGeom prst="roundRect">
            <a:avLst>
              <a:gd name="adj" fmla="val 10000"/>
            </a:avLst>
          </a:prstGeom>
          <a:solidFill>
            <a:srgbClr val="10B981">
              <a:alpha val="8000"/>
            </a:srgbClr>
          </a:solidFill>
          <a:ln w="9525">
            <a:solidFill>
              <a:srgbClr val="10B981">
                <a:alpha val="30000"/>
              </a:srgbClr>
            </a:solidFill>
          </a:ln>
        </p:spPr>
      </p:sp>
      <p:sp>
        <p:nvSpPr>
          <p:cNvPr id="77" name="Ellipse 77"/>
          <p:cNvSpPr/>
          <p:nvPr/>
        </p:nvSpPr>
        <p:spPr>
          <a:xfrm>
            <a:off x="9067800" y="4972050"/>
            <a:ext cx="228600" cy="228600"/>
          </a:xfrm>
          <a:prstGeom prst="ellipse">
            <a:avLst/>
          </a:prstGeom>
          <a:solidFill>
            <a:srgbClr val="10B981">
              <a:alpha val="20000"/>
            </a:srgbClr>
          </a:solidFill>
          <a:ln w="9525">
            <a:solidFill>
              <a:srgbClr val="10B981"/>
            </a:solidFill>
          </a:ln>
        </p:spPr>
      </p:sp>
      <p:sp>
        <p:nvSpPr>
          <p:cNvPr id="78" name="TextBox 78"/>
          <p:cNvSpPr txBox="1"/>
          <p:nvPr/>
        </p:nvSpPr>
        <p:spPr>
          <a:xfrm>
            <a:off x="9136831" y="5035391"/>
            <a:ext cx="90539" cy="167640"/>
          </a:xfrm>
          <a:prstGeom prst="rect">
            <a:avLst/>
          </a:prstGeom>
          <a:noFill/>
          <a:ln>
            <a:noFill/>
          </a:ln>
        </p:spPr>
        <p:txBody>
          <a:bodyPr wrap="none" lIns="0" tIns="0" rIns="0" bIns="0" anchor="t" anchorCtr="0">
            <a:spAutoFit/>
          </a:bodyPr>
          <a:lstStyle/>
          <a:p>
            <a:pPr algn="ctr"/>
            <a:r>
              <a:rPr lang="zh-CN" sz="825" b="1" dirty="0">
                <a:solidFill>
                  <a:srgbClr val="10B981"/>
                </a:solidFill>
                <a:latin typeface="Georgia"/>
                <a:ea typeface="Microsoft YaHei"/>
                <a:cs typeface="Georgia"/>
              </a:rPr>
              <a:t>4</a:t>
            </a:r>
          </a:p>
        </p:txBody>
      </p:sp>
      <p:sp>
        <p:nvSpPr>
          <p:cNvPr id="79" name="TextBox 79"/>
          <p:cNvSpPr txBox="1"/>
          <p:nvPr/>
        </p:nvSpPr>
        <p:spPr>
          <a:xfrm>
            <a:off x="9360218" y="5019199"/>
            <a:ext cx="1762030" cy="198120"/>
          </a:xfrm>
          <a:prstGeom prst="rect">
            <a:avLst/>
          </a:prstGeom>
          <a:noFill/>
          <a:ln>
            <a:noFill/>
          </a:ln>
        </p:spPr>
        <p:txBody>
          <a:bodyPr wrap="none" lIns="0" tIns="0" rIns="0" bIns="0" anchor="t" anchorCtr="0">
            <a:spAutoFit/>
          </a:bodyPr>
          <a:lstStyle/>
          <a:p>
            <a:pPr algn="l"/>
            <a:r>
              <a:rPr lang="zh-CN" sz="975" dirty="0">
                <a:solidFill>
                  <a:srgbClr val="F1F5F9"/>
                </a:solidFill>
                <a:latin typeface="Arial"/>
                <a:ea typeface="Microsoft YaHei"/>
                <a:cs typeface="Arial"/>
              </a:rPr>
              <a:t>Repeat until convergence</a:t>
            </a:r>
          </a:p>
        </p:txBody>
      </p:sp>
      <p:sp>
        <p:nvSpPr>
          <p:cNvPr id="80" name="TextBox 80"/>
          <p:cNvSpPr txBox="1"/>
          <p:nvPr/>
        </p:nvSpPr>
        <p:spPr>
          <a:xfrm>
            <a:off x="9170670" y="5313045"/>
            <a:ext cx="168563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High-accuracy embeddings</a:t>
            </a:r>
          </a:p>
        </p:txBody>
      </p:sp>
      <p:sp>
        <p:nvSpPr>
          <p:cNvPr id="81" name="TextBox 81"/>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17</a:t>
            </a:r>
          </a:p>
        </p:txBody>
      </p:sp>
      <p:pic>
        <p:nvPicPr>
          <p:cNvPr id="82" name="narration1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60476">
    <p:fade/>
  </p:transition>
  <p:timing>
    <p:tnLst>
      <p:par>
        <p:cTn id="1" dur="indefinite" restart="never" nodeType="tmRoot">
          <p:childTnLst>
            <p:audio>
              <p:cMediaNode vol="80000">
                <p:cTn id="2" fill="hold" display="0">
                  <p:stCondLst>
                    <p:cond delay="0"/>
                  </p:stCondLst>
                </p:cTn>
                <p:tgtEl>
                  <p:spTgt spid="8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619121" y="659606"/>
            <a:ext cx="190510" cy="250031"/>
          </a:xfrm>
          <a:custGeom>
            <a:avLst/>
            <a:gdLst/>
            <a:ahLst/>
            <a:cxnLst/>
            <a:rect l="l" t="t" r="r" b="b"/>
            <a:pathLst>
              <a:path w="190510" h="250031">
                <a:moveTo>
                  <a:pt x="178598" y="95250"/>
                </a:moveTo>
                <a:cubicBezTo>
                  <a:pt x="185174" y="95250"/>
                  <a:pt x="190504" y="100581"/>
                  <a:pt x="190504" y="107156"/>
                </a:cubicBezTo>
                <a:cubicBezTo>
                  <a:pt x="190510" y="155157"/>
                  <a:pt x="154796" y="195662"/>
                  <a:pt x="107173" y="201668"/>
                </a:cubicBezTo>
                <a:lnTo>
                  <a:pt x="107161" y="226219"/>
                </a:lnTo>
                <a:lnTo>
                  <a:pt x="142879" y="226219"/>
                </a:lnTo>
                <a:cubicBezTo>
                  <a:pt x="149455" y="226219"/>
                  <a:pt x="154786" y="231549"/>
                  <a:pt x="154786" y="238125"/>
                </a:cubicBezTo>
                <a:cubicBezTo>
                  <a:pt x="154786" y="244701"/>
                  <a:pt x="149455" y="250031"/>
                  <a:pt x="142879" y="250031"/>
                </a:cubicBezTo>
                <a:lnTo>
                  <a:pt x="47629" y="250031"/>
                </a:lnTo>
                <a:cubicBezTo>
                  <a:pt x="41054" y="250031"/>
                  <a:pt x="35723" y="244701"/>
                  <a:pt x="35723" y="238125"/>
                </a:cubicBezTo>
                <a:cubicBezTo>
                  <a:pt x="35723" y="231549"/>
                  <a:pt x="41054" y="226219"/>
                  <a:pt x="47629" y="226219"/>
                </a:cubicBezTo>
                <a:lnTo>
                  <a:pt x="83348" y="226219"/>
                </a:lnTo>
                <a:lnTo>
                  <a:pt x="83348" y="201668"/>
                </a:lnTo>
                <a:cubicBezTo>
                  <a:pt x="35720" y="195667"/>
                  <a:pt x="0" y="155161"/>
                  <a:pt x="4" y="107156"/>
                </a:cubicBezTo>
                <a:cubicBezTo>
                  <a:pt x="4" y="100581"/>
                  <a:pt x="5335" y="95250"/>
                  <a:pt x="11911" y="95250"/>
                </a:cubicBezTo>
                <a:cubicBezTo>
                  <a:pt x="18486" y="95250"/>
                  <a:pt x="23817" y="100581"/>
                  <a:pt x="23817" y="107156"/>
                </a:cubicBezTo>
                <a:cubicBezTo>
                  <a:pt x="23817" y="146610"/>
                  <a:pt x="55801" y="178594"/>
                  <a:pt x="95254" y="178594"/>
                </a:cubicBezTo>
                <a:cubicBezTo>
                  <a:pt x="134708" y="178594"/>
                  <a:pt x="166692" y="146610"/>
                  <a:pt x="166692" y="107156"/>
                </a:cubicBezTo>
                <a:cubicBezTo>
                  <a:pt x="166692" y="100581"/>
                  <a:pt x="172023" y="95250"/>
                  <a:pt x="178598" y="95250"/>
                </a:cubicBezTo>
                <a:moveTo>
                  <a:pt x="95254" y="0"/>
                </a:moveTo>
                <a:cubicBezTo>
                  <a:pt x="121557" y="0"/>
                  <a:pt x="142879" y="21322"/>
                  <a:pt x="142879" y="47625"/>
                </a:cubicBezTo>
                <a:lnTo>
                  <a:pt x="142879" y="107156"/>
                </a:lnTo>
                <a:cubicBezTo>
                  <a:pt x="142879" y="133459"/>
                  <a:pt x="121557" y="154781"/>
                  <a:pt x="95254" y="154781"/>
                </a:cubicBezTo>
                <a:cubicBezTo>
                  <a:pt x="68952" y="154781"/>
                  <a:pt x="47629" y="133459"/>
                  <a:pt x="47629" y="107156"/>
                </a:cubicBezTo>
                <a:lnTo>
                  <a:pt x="47629" y="47625"/>
                </a:lnTo>
                <a:cubicBezTo>
                  <a:pt x="47629" y="21322"/>
                  <a:pt x="68952" y="0"/>
                  <a:pt x="95254" y="0"/>
                </a:cubicBezTo>
              </a:path>
            </a:pathLst>
          </a:custGeom>
          <a:solidFill>
            <a:srgbClr val="22D3EE"/>
          </a:solidFill>
          <a:ln>
            <a:noFill/>
          </a:ln>
        </p:spPr>
      </p:sp>
      <p:sp>
        <p:nvSpPr>
          <p:cNvPr id="5" name="TextBox 5"/>
          <p:cNvSpPr txBox="1"/>
          <p:nvPr/>
        </p:nvSpPr>
        <p:spPr>
          <a:xfrm>
            <a:off x="923925" y="633412"/>
            <a:ext cx="6750987"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Backpropagation for Speech Recognition</a:t>
            </a:r>
          </a:p>
        </p:txBody>
      </p:sp>
      <p:sp>
        <p:nvSpPr>
          <p:cNvPr id="6" name="Rectangle 6"/>
          <p:cNvSpPr/>
          <p:nvPr/>
        </p:nvSpPr>
        <p:spPr>
          <a:xfrm>
            <a:off x="571500" y="1143000"/>
            <a:ext cx="5334000" cy="952500"/>
          </a:xfrm>
          <a:prstGeom prst="roundRect">
            <a:avLst>
              <a:gd name="adj" fmla="val 12000"/>
            </a:avLst>
          </a:prstGeom>
          <a:solidFill>
            <a:srgbClr val="1E293B"/>
          </a:solidFill>
          <a:ln w="14288">
            <a:solidFill>
              <a:srgbClr val="22D3EE"/>
            </a:solidFill>
          </a:ln>
        </p:spPr>
      </p:sp>
      <p:sp>
        <p:nvSpPr>
          <p:cNvPr id="7" name="Freeform 7"/>
          <p:cNvSpPr/>
          <p:nvPr/>
        </p:nvSpPr>
        <p:spPr>
          <a:xfrm>
            <a:off x="777840" y="1427822"/>
            <a:ext cx="196920" cy="191428"/>
          </a:xfrm>
          <a:custGeom>
            <a:avLst/>
            <a:gdLst/>
            <a:ahLst/>
            <a:cxnLst/>
            <a:rect l="l" t="t" r="r" b="b"/>
            <a:pathLst>
              <a:path w="196920" h="191428">
                <a:moveTo>
                  <a:pt x="105194" y="3718"/>
                </a:moveTo>
                <a:lnTo>
                  <a:pt x="190919" y="89443"/>
                </a:lnTo>
                <a:cubicBezTo>
                  <a:pt x="196920" y="95444"/>
                  <a:pt x="192672" y="105703"/>
                  <a:pt x="184185" y="105703"/>
                </a:cubicBezTo>
                <a:lnTo>
                  <a:pt x="174660" y="105703"/>
                </a:lnTo>
                <a:lnTo>
                  <a:pt x="174660" y="162853"/>
                </a:lnTo>
                <a:cubicBezTo>
                  <a:pt x="174660" y="178634"/>
                  <a:pt x="161866" y="191428"/>
                  <a:pt x="146085" y="191428"/>
                </a:cubicBezTo>
                <a:lnTo>
                  <a:pt x="136560" y="191428"/>
                </a:lnTo>
                <a:lnTo>
                  <a:pt x="136560" y="124753"/>
                </a:lnTo>
                <a:cubicBezTo>
                  <a:pt x="136561" y="109622"/>
                  <a:pt x="124766" y="97113"/>
                  <a:pt x="109661" y="96225"/>
                </a:cubicBezTo>
                <a:lnTo>
                  <a:pt x="107985" y="96178"/>
                </a:lnTo>
                <a:lnTo>
                  <a:pt x="88935" y="96178"/>
                </a:lnTo>
                <a:cubicBezTo>
                  <a:pt x="73153" y="96178"/>
                  <a:pt x="60360" y="108971"/>
                  <a:pt x="60360" y="124753"/>
                </a:cubicBezTo>
                <a:lnTo>
                  <a:pt x="60360" y="191428"/>
                </a:lnTo>
                <a:lnTo>
                  <a:pt x="50835" y="191428"/>
                </a:lnTo>
                <a:cubicBezTo>
                  <a:pt x="35053" y="191428"/>
                  <a:pt x="22260" y="178634"/>
                  <a:pt x="22260" y="162853"/>
                </a:cubicBezTo>
                <a:lnTo>
                  <a:pt x="22260" y="105703"/>
                </a:lnTo>
                <a:lnTo>
                  <a:pt x="12735" y="105703"/>
                </a:lnTo>
                <a:cubicBezTo>
                  <a:pt x="4258" y="105703"/>
                  <a:pt x="0" y="95444"/>
                  <a:pt x="6001" y="89443"/>
                </a:cubicBezTo>
                <a:lnTo>
                  <a:pt x="91726" y="3718"/>
                </a:lnTo>
                <a:cubicBezTo>
                  <a:pt x="95445" y="0"/>
                  <a:pt x="101475" y="0"/>
                  <a:pt x="105194" y="3718"/>
                </a:cubicBezTo>
                <a:moveTo>
                  <a:pt x="107985" y="115228"/>
                </a:moveTo>
                <a:cubicBezTo>
                  <a:pt x="113245" y="115228"/>
                  <a:pt x="117510" y="119492"/>
                  <a:pt x="117510" y="124753"/>
                </a:cubicBezTo>
                <a:lnTo>
                  <a:pt x="117510" y="191428"/>
                </a:lnTo>
                <a:lnTo>
                  <a:pt x="79410" y="191428"/>
                </a:lnTo>
                <a:lnTo>
                  <a:pt x="79410" y="124753"/>
                </a:lnTo>
                <a:cubicBezTo>
                  <a:pt x="79411" y="119924"/>
                  <a:pt x="83025" y="115859"/>
                  <a:pt x="87820" y="115294"/>
                </a:cubicBezTo>
                <a:lnTo>
                  <a:pt x="88935" y="115228"/>
                </a:lnTo>
                <a:close/>
              </a:path>
            </a:pathLst>
          </a:custGeom>
          <a:solidFill>
            <a:srgbClr val="22D3EE"/>
          </a:solidFill>
          <a:ln>
            <a:noFill/>
          </a:ln>
        </p:spPr>
      </p:sp>
      <p:sp>
        <p:nvSpPr>
          <p:cNvPr id="8" name="TextBox 8"/>
          <p:cNvSpPr txBox="1"/>
          <p:nvPr/>
        </p:nvSpPr>
        <p:spPr>
          <a:xfrm>
            <a:off x="1068705" y="1435418"/>
            <a:ext cx="2725626" cy="274320"/>
          </a:xfrm>
          <a:prstGeom prst="rect">
            <a:avLst/>
          </a:prstGeom>
          <a:noFill/>
          <a:ln>
            <a:noFill/>
          </a:ln>
        </p:spPr>
        <p:txBody>
          <a:bodyPr wrap="none" lIns="0" tIns="0" rIns="0" bIns="0" anchor="t" anchorCtr="0">
            <a:spAutoFit/>
          </a:bodyPr>
          <a:lstStyle/>
          <a:p>
            <a:pPr algn="l"/>
            <a:r>
              <a:rPr lang="zh-CN" sz="1350" b="1" dirty="0">
                <a:solidFill>
                  <a:srgbClr val="22D3EE"/>
                </a:solidFill>
                <a:latin typeface="Georgia"/>
                <a:ea typeface="Microsoft YaHei"/>
                <a:cs typeface="Georgia"/>
              </a:rPr>
              <a:t>Sony Corporation Research</a:t>
            </a:r>
          </a:p>
        </p:txBody>
      </p:sp>
      <p:sp>
        <p:nvSpPr>
          <p:cNvPr id="9" name="TextBox 9"/>
          <p:cNvSpPr txBox="1"/>
          <p:nvPr/>
        </p:nvSpPr>
        <p:spPr>
          <a:xfrm>
            <a:off x="748665" y="1772602"/>
            <a:ext cx="457357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English and Japanese speech recognition on embedded devices</a:t>
            </a:r>
          </a:p>
        </p:txBody>
      </p:sp>
      <p:sp>
        <p:nvSpPr>
          <p:cNvPr id="10" name="Rectangle 10"/>
          <p:cNvSpPr/>
          <p:nvPr/>
        </p:nvSpPr>
        <p:spPr>
          <a:xfrm>
            <a:off x="571500" y="2333625"/>
            <a:ext cx="11049000" cy="1571625"/>
          </a:xfrm>
          <a:prstGeom prst="roundRect">
            <a:avLst>
              <a:gd name="adj" fmla="val 7273"/>
            </a:avLst>
          </a:prstGeom>
          <a:solidFill>
            <a:srgbClr val="1E293B"/>
          </a:solidFill>
          <a:ln w="9525">
            <a:solidFill>
              <a:srgbClr val="334155"/>
            </a:solidFill>
          </a:ln>
        </p:spPr>
      </p:sp>
      <p:sp>
        <p:nvSpPr>
          <p:cNvPr id="11" name="TextBox 11"/>
          <p:cNvSpPr txBox="1"/>
          <p:nvPr/>
        </p:nvSpPr>
        <p:spPr>
          <a:xfrm>
            <a:off x="744855" y="2521268"/>
            <a:ext cx="2684221" cy="274320"/>
          </a:xfrm>
          <a:prstGeom prst="rect">
            <a:avLst/>
          </a:prstGeom>
          <a:noFill/>
          <a:ln>
            <a:noFill/>
          </a:ln>
        </p:spPr>
        <p:txBody>
          <a:bodyPr wrap="none" lIns="0" tIns="0" rIns="0" bIns="0" anchor="t" anchorCtr="0">
            <a:spAutoFit/>
          </a:bodyPr>
          <a:lstStyle/>
          <a:p>
            <a:pPr algn="l"/>
            <a:r>
              <a:rPr lang="zh-CN" sz="1350" b="1" dirty="0">
                <a:gradFill>
                  <a:gsLst>
                    <a:gs pos="0">
                      <a:srgbClr val="3B82F6"/>
                    </a:gs>
                    <a:gs pos="100000">
                      <a:srgbClr val="22D3EE"/>
                    </a:gs>
                  </a:gsLst>
                  <a:lin ang="0" scaled="1"/>
                </a:gradFill>
                <a:latin typeface="Georgia"/>
                <a:ea typeface="Microsoft YaHei"/>
                <a:cs typeface="Georgia"/>
              </a:rPr>
              <a:t>Speech Processing Pipeline</a:t>
            </a:r>
          </a:p>
        </p:txBody>
      </p:sp>
      <p:sp>
        <p:nvSpPr>
          <p:cNvPr id="12" name="Rectangle 12"/>
          <p:cNvSpPr/>
          <p:nvPr/>
        </p:nvSpPr>
        <p:spPr>
          <a:xfrm>
            <a:off x="762000" y="2857500"/>
            <a:ext cx="1524000" cy="809625"/>
          </a:xfrm>
          <a:prstGeom prst="roundRect">
            <a:avLst>
              <a:gd name="adj" fmla="val 9412"/>
            </a:avLst>
          </a:prstGeom>
          <a:solidFill>
            <a:srgbClr val="3B82F6">
              <a:alpha val="10000"/>
            </a:srgbClr>
          </a:solidFill>
          <a:ln w="9525">
            <a:solidFill>
              <a:srgbClr val="3B82F6">
                <a:alpha val="50000"/>
              </a:srgbClr>
            </a:solidFill>
          </a:ln>
        </p:spPr>
      </p:sp>
      <p:sp>
        <p:nvSpPr>
          <p:cNvPr id="13" name="Freeform 13"/>
          <p:cNvSpPr/>
          <p:nvPr/>
        </p:nvSpPr>
        <p:spPr>
          <a:xfrm>
            <a:off x="892175" y="2989262"/>
            <a:ext cx="139700" cy="174625"/>
          </a:xfrm>
          <a:custGeom>
            <a:avLst/>
            <a:gdLst/>
            <a:ahLst/>
            <a:cxnLst/>
            <a:rect l="l" t="t" r="r" b="b"/>
            <a:pathLst>
              <a:path w="139700" h="174625">
                <a:moveTo>
                  <a:pt x="113506" y="0"/>
                </a:moveTo>
                <a:cubicBezTo>
                  <a:pt x="127973" y="0"/>
                  <a:pt x="139700" y="11727"/>
                  <a:pt x="139700" y="26194"/>
                </a:cubicBezTo>
                <a:lnTo>
                  <a:pt x="139700" y="148431"/>
                </a:lnTo>
                <a:cubicBezTo>
                  <a:pt x="139700" y="162898"/>
                  <a:pt x="127973" y="174625"/>
                  <a:pt x="113506" y="174625"/>
                </a:cubicBezTo>
                <a:lnTo>
                  <a:pt x="26194" y="174625"/>
                </a:lnTo>
                <a:cubicBezTo>
                  <a:pt x="11727" y="174625"/>
                  <a:pt x="0" y="162898"/>
                  <a:pt x="0" y="148431"/>
                </a:cubicBezTo>
                <a:lnTo>
                  <a:pt x="0" y="26194"/>
                </a:lnTo>
                <a:cubicBezTo>
                  <a:pt x="0" y="11727"/>
                  <a:pt x="11727" y="0"/>
                  <a:pt x="26194" y="0"/>
                </a:cubicBezTo>
                <a:close/>
                <a:moveTo>
                  <a:pt x="69850" y="78581"/>
                </a:moveTo>
                <a:cubicBezTo>
                  <a:pt x="51240" y="78581"/>
                  <a:pt x="35899" y="93173"/>
                  <a:pt x="34969" y="111760"/>
                </a:cubicBezTo>
                <a:lnTo>
                  <a:pt x="34925" y="113506"/>
                </a:lnTo>
                <a:cubicBezTo>
                  <a:pt x="34925" y="132795"/>
                  <a:pt x="50561" y="148431"/>
                  <a:pt x="69850" y="148431"/>
                </a:cubicBezTo>
                <a:cubicBezTo>
                  <a:pt x="89139" y="148431"/>
                  <a:pt x="104775" y="132795"/>
                  <a:pt x="104775" y="113506"/>
                </a:cubicBezTo>
                <a:cubicBezTo>
                  <a:pt x="104775" y="94218"/>
                  <a:pt x="89139" y="78581"/>
                  <a:pt x="69850" y="78581"/>
                </a:cubicBezTo>
                <a:moveTo>
                  <a:pt x="69850" y="34925"/>
                </a:moveTo>
                <a:cubicBezTo>
                  <a:pt x="65028" y="34925"/>
                  <a:pt x="61119" y="38834"/>
                  <a:pt x="61119" y="43656"/>
                </a:cubicBezTo>
                <a:lnTo>
                  <a:pt x="61119" y="43744"/>
                </a:lnTo>
                <a:cubicBezTo>
                  <a:pt x="61119" y="48566"/>
                  <a:pt x="65028" y="52475"/>
                  <a:pt x="69850" y="52475"/>
                </a:cubicBezTo>
                <a:cubicBezTo>
                  <a:pt x="74672" y="52475"/>
                  <a:pt x="78581" y="48566"/>
                  <a:pt x="78581" y="43744"/>
                </a:cubicBezTo>
                <a:lnTo>
                  <a:pt x="78581" y="43656"/>
                </a:lnTo>
                <a:cubicBezTo>
                  <a:pt x="78581" y="38834"/>
                  <a:pt x="74672" y="34925"/>
                  <a:pt x="69850" y="34925"/>
                </a:cubicBezTo>
              </a:path>
            </a:pathLst>
          </a:custGeom>
          <a:solidFill>
            <a:srgbClr val="3B82F6"/>
          </a:solidFill>
          <a:ln>
            <a:noFill/>
          </a:ln>
        </p:spPr>
      </p:sp>
      <p:sp>
        <p:nvSpPr>
          <p:cNvPr id="14" name="TextBox 14"/>
          <p:cNvSpPr txBox="1"/>
          <p:nvPr/>
        </p:nvSpPr>
        <p:spPr>
          <a:xfrm>
            <a:off x="1110615" y="3029902"/>
            <a:ext cx="920332" cy="213360"/>
          </a:xfrm>
          <a:prstGeom prst="rect">
            <a:avLst/>
          </a:prstGeom>
          <a:noFill/>
          <a:ln>
            <a:noFill/>
          </a:ln>
        </p:spPr>
        <p:txBody>
          <a:bodyPr wrap="none" lIns="0" tIns="0" rIns="0" bIns="0" anchor="t" anchorCtr="0">
            <a:spAutoFit/>
          </a:bodyPr>
          <a:lstStyle/>
          <a:p>
            <a:pPr algn="l"/>
            <a:r>
              <a:rPr lang="zh-CN" sz="1050" b="1" dirty="0">
                <a:solidFill>
                  <a:srgbClr val="3B82F6"/>
                </a:solidFill>
                <a:latin typeface="Georgia"/>
                <a:ea typeface="Microsoft YaHei"/>
                <a:cs typeface="Georgia"/>
              </a:rPr>
              <a:t>Sound Input</a:t>
            </a:r>
          </a:p>
        </p:txBody>
      </p:sp>
      <p:sp>
        <p:nvSpPr>
          <p:cNvPr id="15" name="TextBox 15"/>
          <p:cNvSpPr txBox="1"/>
          <p:nvPr/>
        </p:nvSpPr>
        <p:spPr>
          <a:xfrm>
            <a:off x="845820" y="3350895"/>
            <a:ext cx="1304449"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Raw audio waveform</a:t>
            </a:r>
          </a:p>
        </p:txBody>
      </p:sp>
      <p:sp>
        <p:nvSpPr>
          <p:cNvPr id="16" name="Line 16"/>
          <p:cNvSpPr/>
          <p:nvPr/>
        </p:nvSpPr>
        <p:spPr>
          <a:xfrm>
            <a:off x="2286000" y="3257550"/>
            <a:ext cx="381000" cy="9525"/>
          </a:xfrm>
          <a:custGeom>
            <a:avLst/>
            <a:gdLst/>
            <a:ahLst/>
            <a:cxnLst/>
            <a:rect l="l" t="t" r="r" b="b"/>
            <a:pathLst>
              <a:path w="381000" h="9525">
                <a:moveTo>
                  <a:pt x="0" y="0"/>
                </a:moveTo>
                <a:lnTo>
                  <a:pt x="381000" y="0"/>
                </a:lnTo>
              </a:path>
            </a:pathLst>
          </a:custGeom>
          <a:noFill/>
          <a:ln w="14288">
            <a:solidFill>
              <a:srgbClr val="334155"/>
            </a:solidFill>
          </a:ln>
        </p:spPr>
      </p:sp>
      <p:sp>
        <p:nvSpPr>
          <p:cNvPr id="17" name="Polygon 17"/>
          <p:cNvSpPr/>
          <p:nvPr/>
        </p:nvSpPr>
        <p:spPr>
          <a:xfrm>
            <a:off x="2667000" y="3219450"/>
            <a:ext cx="76200" cy="76200"/>
          </a:xfrm>
          <a:custGeom>
            <a:avLst/>
            <a:gdLst/>
            <a:ahLst/>
            <a:cxnLst/>
            <a:rect l="l" t="t" r="r" b="b"/>
            <a:pathLst>
              <a:path w="76200" h="76200">
                <a:moveTo>
                  <a:pt x="0" y="0"/>
                </a:moveTo>
                <a:lnTo>
                  <a:pt x="76200" y="38100"/>
                </a:lnTo>
                <a:lnTo>
                  <a:pt x="0" y="76200"/>
                </a:lnTo>
                <a:close/>
              </a:path>
            </a:pathLst>
          </a:custGeom>
          <a:solidFill>
            <a:srgbClr val="3B82F6"/>
          </a:solidFill>
          <a:ln>
            <a:noFill/>
          </a:ln>
        </p:spPr>
      </p:sp>
      <p:sp>
        <p:nvSpPr>
          <p:cNvPr id="18" name="Rectangle 18"/>
          <p:cNvSpPr/>
          <p:nvPr/>
        </p:nvSpPr>
        <p:spPr>
          <a:xfrm>
            <a:off x="2762250" y="2857500"/>
            <a:ext cx="1524000" cy="809625"/>
          </a:xfrm>
          <a:prstGeom prst="roundRect">
            <a:avLst>
              <a:gd name="adj" fmla="val 9412"/>
            </a:avLst>
          </a:prstGeom>
          <a:solidFill>
            <a:srgbClr val="22D3EE">
              <a:alpha val="10000"/>
            </a:srgbClr>
          </a:solidFill>
          <a:ln w="9525">
            <a:solidFill>
              <a:srgbClr val="22D3EE">
                <a:alpha val="50000"/>
              </a:srgbClr>
            </a:solidFill>
          </a:ln>
        </p:spPr>
      </p:sp>
      <p:sp>
        <p:nvSpPr>
          <p:cNvPr id="19" name="Freeform 19"/>
          <p:cNvSpPr/>
          <p:nvPr/>
        </p:nvSpPr>
        <p:spPr>
          <a:xfrm>
            <a:off x="2874962" y="298535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2"/>
                </a:cubicBezTo>
                <a:lnTo>
                  <a:pt x="0" y="91224"/>
                </a:lnTo>
                <a:lnTo>
                  <a:pt x="44" y="88395"/>
                </a:lnTo>
                <a:cubicBezTo>
                  <a:pt x="1038" y="57722"/>
                  <a:pt x="18063" y="29823"/>
                  <a:pt x="44886" y="14911"/>
                </a:cubicBezTo>
                <a:cubicBezTo>
                  <a:pt x="71709" y="0"/>
                  <a:pt x="104392" y="266"/>
                  <a:pt x="130969" y="15611"/>
                </a:cubicBezTo>
                <a:close/>
                <a:moveTo>
                  <a:pt x="87313" y="38836"/>
                </a:moveTo>
                <a:cubicBezTo>
                  <a:pt x="82886" y="38837"/>
                  <a:pt x="79160" y="42150"/>
                  <a:pt x="78642" y="46546"/>
                </a:cubicBezTo>
                <a:lnTo>
                  <a:pt x="78581" y="47567"/>
                </a:lnTo>
                <a:lnTo>
                  <a:pt x="78581" y="91224"/>
                </a:lnTo>
                <a:lnTo>
                  <a:pt x="78660" y="92367"/>
                </a:lnTo>
                <a:cubicBezTo>
                  <a:pt x="78859" y="93882"/>
                  <a:pt x="79452" y="95318"/>
                  <a:pt x="80380" y="96532"/>
                </a:cubicBezTo>
                <a:lnTo>
                  <a:pt x="81140" y="97405"/>
                </a:lnTo>
                <a:lnTo>
                  <a:pt x="107333" y="123599"/>
                </a:lnTo>
                <a:lnTo>
                  <a:pt x="108154" y="124315"/>
                </a:lnTo>
                <a:cubicBezTo>
                  <a:pt x="111304" y="126759"/>
                  <a:pt x="115709" y="126759"/>
                  <a:pt x="118859" y="124315"/>
                </a:cubicBezTo>
                <a:lnTo>
                  <a:pt x="119679" y="123590"/>
                </a:lnTo>
                <a:lnTo>
                  <a:pt x="120404" y="122770"/>
                </a:lnTo>
                <a:cubicBezTo>
                  <a:pt x="122848" y="119620"/>
                  <a:pt x="122848" y="115215"/>
                  <a:pt x="120404" y="112065"/>
                </a:cubicBezTo>
                <a:lnTo>
                  <a:pt x="119679" y="111244"/>
                </a:lnTo>
                <a:lnTo>
                  <a:pt x="96044" y="87600"/>
                </a:lnTo>
                <a:lnTo>
                  <a:pt x="96044" y="47567"/>
                </a:lnTo>
                <a:lnTo>
                  <a:pt x="95983" y="46546"/>
                </a:lnTo>
                <a:cubicBezTo>
                  <a:pt x="95465" y="42150"/>
                  <a:pt x="91739" y="38837"/>
                  <a:pt x="87313" y="38836"/>
                </a:cubicBezTo>
                <a:close/>
              </a:path>
            </a:pathLst>
          </a:custGeom>
          <a:solidFill>
            <a:srgbClr val="22D3EE"/>
          </a:solidFill>
          <a:ln>
            <a:noFill/>
          </a:ln>
        </p:spPr>
      </p:sp>
      <p:sp>
        <p:nvSpPr>
          <p:cNvPr id="20" name="TextBox 20"/>
          <p:cNvSpPr txBox="1"/>
          <p:nvPr/>
        </p:nvSpPr>
        <p:spPr>
          <a:xfrm>
            <a:off x="3110865" y="3029902"/>
            <a:ext cx="1065250" cy="213360"/>
          </a:xfrm>
          <a:prstGeom prst="rect">
            <a:avLst/>
          </a:prstGeom>
          <a:noFill/>
          <a:ln>
            <a:noFill/>
          </a:ln>
        </p:spPr>
        <p:txBody>
          <a:bodyPr wrap="none" lIns="0" tIns="0" rIns="0" bIns="0" anchor="t" anchorCtr="0">
            <a:spAutoFit/>
          </a:bodyPr>
          <a:lstStyle/>
          <a:p>
            <a:pPr algn="l"/>
            <a:r>
              <a:rPr lang="zh-CN" sz="1050" b="1" dirty="0">
                <a:solidFill>
                  <a:srgbClr val="22D3EE"/>
                </a:solidFill>
                <a:latin typeface="Georgia"/>
                <a:ea typeface="Microsoft YaHei"/>
                <a:cs typeface="Georgia"/>
              </a:rPr>
              <a:t>Time Windows</a:t>
            </a:r>
          </a:p>
        </p:txBody>
      </p:sp>
      <p:sp>
        <p:nvSpPr>
          <p:cNvPr id="21" name="TextBox 21"/>
          <p:cNvSpPr txBox="1"/>
          <p:nvPr/>
        </p:nvSpPr>
        <p:spPr>
          <a:xfrm>
            <a:off x="2846070" y="3350895"/>
            <a:ext cx="135045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Segment into frames</a:t>
            </a:r>
          </a:p>
        </p:txBody>
      </p:sp>
      <p:sp>
        <p:nvSpPr>
          <p:cNvPr id="22" name="Line 22"/>
          <p:cNvSpPr/>
          <p:nvPr/>
        </p:nvSpPr>
        <p:spPr>
          <a:xfrm>
            <a:off x="4286250" y="3257550"/>
            <a:ext cx="381000" cy="9525"/>
          </a:xfrm>
          <a:custGeom>
            <a:avLst/>
            <a:gdLst/>
            <a:ahLst/>
            <a:cxnLst/>
            <a:rect l="l" t="t" r="r" b="b"/>
            <a:pathLst>
              <a:path w="381000" h="9525">
                <a:moveTo>
                  <a:pt x="0" y="0"/>
                </a:moveTo>
                <a:lnTo>
                  <a:pt x="381000" y="0"/>
                </a:lnTo>
              </a:path>
            </a:pathLst>
          </a:custGeom>
          <a:noFill/>
          <a:ln w="14288">
            <a:solidFill>
              <a:srgbClr val="334155"/>
            </a:solidFill>
          </a:ln>
        </p:spPr>
      </p:sp>
      <p:sp>
        <p:nvSpPr>
          <p:cNvPr id="23" name="Polygon 23"/>
          <p:cNvSpPr/>
          <p:nvPr/>
        </p:nvSpPr>
        <p:spPr>
          <a:xfrm>
            <a:off x="4667250" y="3219450"/>
            <a:ext cx="76200" cy="76200"/>
          </a:xfrm>
          <a:custGeom>
            <a:avLst/>
            <a:gdLst/>
            <a:ahLst/>
            <a:cxnLst/>
            <a:rect l="l" t="t" r="r" b="b"/>
            <a:pathLst>
              <a:path w="76200" h="76200">
                <a:moveTo>
                  <a:pt x="0" y="0"/>
                </a:moveTo>
                <a:lnTo>
                  <a:pt x="76200" y="38100"/>
                </a:lnTo>
                <a:lnTo>
                  <a:pt x="0" y="76200"/>
                </a:lnTo>
                <a:close/>
              </a:path>
            </a:pathLst>
          </a:custGeom>
          <a:solidFill>
            <a:srgbClr val="22D3EE"/>
          </a:solidFill>
          <a:ln>
            <a:noFill/>
          </a:ln>
        </p:spPr>
      </p:sp>
      <p:sp>
        <p:nvSpPr>
          <p:cNvPr id="24" name="Rectangle 24"/>
          <p:cNvSpPr/>
          <p:nvPr/>
        </p:nvSpPr>
        <p:spPr>
          <a:xfrm>
            <a:off x="4762500" y="2857500"/>
            <a:ext cx="1524000" cy="809625"/>
          </a:xfrm>
          <a:prstGeom prst="roundRect">
            <a:avLst>
              <a:gd name="adj" fmla="val 9412"/>
            </a:avLst>
          </a:prstGeom>
          <a:solidFill>
            <a:srgbClr val="8B5CF6">
              <a:alpha val="10000"/>
            </a:srgbClr>
          </a:solidFill>
          <a:ln w="9525">
            <a:solidFill>
              <a:srgbClr val="8B5CF6">
                <a:alpha val="50000"/>
              </a:srgbClr>
            </a:solidFill>
          </a:ln>
        </p:spPr>
      </p:sp>
      <p:grpSp>
        <p:nvGrpSpPr>
          <p:cNvPr id="27" name="Group 27"/>
          <p:cNvGrpSpPr/>
          <p:nvPr/>
        </p:nvGrpSpPr>
        <p:grpSpPr>
          <a:xfrm>
            <a:off x="4883698" y="3014369"/>
            <a:ext cx="157655" cy="132055"/>
            <a:chOff x="4883698" y="3014369"/>
            <a:chExt cx="157655" cy="132055"/>
          </a:xfrm>
        </p:grpSpPr>
        <p:sp>
          <p:nvSpPr>
            <p:cNvPr id="25" name="Freeform 25"/>
            <p:cNvSpPr/>
            <p:nvPr/>
          </p:nvSpPr>
          <p:spPr>
            <a:xfrm>
              <a:off x="4883698" y="3128962"/>
              <a:ext cx="157655" cy="17462"/>
            </a:xfrm>
            <a:custGeom>
              <a:avLst/>
              <a:gdLst/>
              <a:ahLst/>
              <a:cxnLst/>
              <a:rect l="l" t="t" r="r" b="b"/>
              <a:pathLst>
                <a:path w="157655" h="17462">
                  <a:moveTo>
                    <a:pt x="148677" y="0"/>
                  </a:moveTo>
                  <a:cubicBezTo>
                    <a:pt x="153297" y="5"/>
                    <a:pt x="157113" y="3608"/>
                    <a:pt x="157384" y="8220"/>
                  </a:cubicBezTo>
                  <a:cubicBezTo>
                    <a:pt x="157655" y="12831"/>
                    <a:pt x="154286" y="16856"/>
                    <a:pt x="149699" y="17401"/>
                  </a:cubicBezTo>
                  <a:lnTo>
                    <a:pt x="148677" y="17462"/>
                  </a:lnTo>
                  <a:lnTo>
                    <a:pt x="8977" y="17462"/>
                  </a:lnTo>
                  <a:cubicBezTo>
                    <a:pt x="4358" y="17457"/>
                    <a:pt x="541" y="13855"/>
                    <a:pt x="271" y="9243"/>
                  </a:cubicBezTo>
                  <a:cubicBezTo>
                    <a:pt x="0" y="4631"/>
                    <a:pt x="3368" y="607"/>
                    <a:pt x="7956" y="61"/>
                  </a:cubicBezTo>
                  <a:lnTo>
                    <a:pt x="8977" y="0"/>
                  </a:lnTo>
                  <a:lnTo>
                    <a:pt x="148677" y="0"/>
                  </a:lnTo>
                  <a:close/>
                </a:path>
              </a:pathLst>
            </a:custGeom>
            <a:solidFill>
              <a:srgbClr val="8B5CF6"/>
            </a:solidFill>
            <a:ln>
              <a:noFill/>
            </a:ln>
          </p:spPr>
        </p:sp>
        <p:sp>
          <p:nvSpPr>
            <p:cNvPr id="26" name="Freeform 26"/>
            <p:cNvSpPr/>
            <p:nvPr/>
          </p:nvSpPr>
          <p:spPr>
            <a:xfrm>
              <a:off x="4883944" y="3014369"/>
              <a:ext cx="157162" cy="97131"/>
            </a:xfrm>
            <a:custGeom>
              <a:avLst/>
              <a:gdLst/>
              <a:ahLst/>
              <a:cxnLst/>
              <a:rect l="l" t="t" r="r" b="b"/>
              <a:pathLst>
                <a:path w="157162" h="97131">
                  <a:moveTo>
                    <a:pt x="106696" y="4361"/>
                  </a:moveTo>
                  <a:cubicBezTo>
                    <a:pt x="109677" y="641"/>
                    <a:pt x="115091" y="0"/>
                    <a:pt x="118859" y="2921"/>
                  </a:cubicBezTo>
                  <a:lnTo>
                    <a:pt x="119679" y="3645"/>
                  </a:lnTo>
                  <a:lnTo>
                    <a:pt x="154604" y="38570"/>
                  </a:lnTo>
                  <a:cubicBezTo>
                    <a:pt x="155961" y="39928"/>
                    <a:pt x="156833" y="41696"/>
                    <a:pt x="157084" y="43599"/>
                  </a:cubicBezTo>
                  <a:lnTo>
                    <a:pt x="157162" y="44743"/>
                  </a:lnTo>
                  <a:lnTo>
                    <a:pt x="157162" y="88400"/>
                  </a:lnTo>
                  <a:cubicBezTo>
                    <a:pt x="157162" y="92826"/>
                    <a:pt x="153849" y="96552"/>
                    <a:pt x="149453" y="97070"/>
                  </a:cubicBezTo>
                  <a:lnTo>
                    <a:pt x="148431" y="97131"/>
                  </a:lnTo>
                  <a:lnTo>
                    <a:pt x="8539" y="97131"/>
                  </a:lnTo>
                  <a:lnTo>
                    <a:pt x="7579" y="97052"/>
                  </a:lnTo>
                  <a:lnTo>
                    <a:pt x="6618" y="96878"/>
                  </a:lnTo>
                  <a:lnTo>
                    <a:pt x="5684" y="96581"/>
                  </a:lnTo>
                  <a:lnTo>
                    <a:pt x="4767" y="96179"/>
                  </a:lnTo>
                  <a:lnTo>
                    <a:pt x="3894" y="95664"/>
                  </a:lnTo>
                  <a:lnTo>
                    <a:pt x="3073" y="95053"/>
                  </a:lnTo>
                  <a:lnTo>
                    <a:pt x="2550" y="94573"/>
                  </a:lnTo>
                  <a:lnTo>
                    <a:pt x="1921" y="93857"/>
                  </a:lnTo>
                  <a:lnTo>
                    <a:pt x="1362" y="93079"/>
                  </a:lnTo>
                  <a:lnTo>
                    <a:pt x="891" y="92241"/>
                  </a:lnTo>
                  <a:lnTo>
                    <a:pt x="751" y="91936"/>
                  </a:lnTo>
                  <a:lnTo>
                    <a:pt x="402" y="91036"/>
                  </a:lnTo>
                  <a:lnTo>
                    <a:pt x="166" y="90111"/>
                  </a:lnTo>
                  <a:lnTo>
                    <a:pt x="35" y="89168"/>
                  </a:lnTo>
                  <a:lnTo>
                    <a:pt x="0" y="88207"/>
                  </a:lnTo>
                  <a:lnTo>
                    <a:pt x="79" y="87247"/>
                  </a:lnTo>
                  <a:lnTo>
                    <a:pt x="244" y="86330"/>
                  </a:lnTo>
                  <a:cubicBezTo>
                    <a:pt x="332" y="85981"/>
                    <a:pt x="437" y="85658"/>
                    <a:pt x="550" y="85352"/>
                  </a:cubicBezTo>
                  <a:lnTo>
                    <a:pt x="952" y="84436"/>
                  </a:lnTo>
                  <a:lnTo>
                    <a:pt x="1467" y="83562"/>
                  </a:lnTo>
                  <a:lnTo>
                    <a:pt x="36392" y="31175"/>
                  </a:lnTo>
                  <a:cubicBezTo>
                    <a:pt x="38603" y="27845"/>
                    <a:pt x="42793" y="26443"/>
                    <a:pt x="46564" y="27770"/>
                  </a:cubicBezTo>
                  <a:lnTo>
                    <a:pt x="47559" y="28206"/>
                  </a:lnTo>
                  <a:lnTo>
                    <a:pt x="76171" y="42508"/>
                  </a:lnTo>
                  <a:lnTo>
                    <a:pt x="106687" y="4361"/>
                  </a:lnTo>
                  <a:close/>
                </a:path>
              </a:pathLst>
            </a:custGeom>
            <a:solidFill>
              <a:srgbClr val="8B5CF6"/>
            </a:solidFill>
            <a:ln>
              <a:noFill/>
            </a:ln>
          </p:spPr>
        </p:sp>
      </p:grpSp>
      <p:sp>
        <p:nvSpPr>
          <p:cNvPr id="28" name="TextBox 28"/>
          <p:cNvSpPr txBox="1"/>
          <p:nvPr/>
        </p:nvSpPr>
        <p:spPr>
          <a:xfrm>
            <a:off x="5111115" y="3029902"/>
            <a:ext cx="968638" cy="213360"/>
          </a:xfrm>
          <a:prstGeom prst="rect">
            <a:avLst/>
          </a:prstGeom>
          <a:noFill/>
          <a:ln>
            <a:noFill/>
          </a:ln>
        </p:spPr>
        <p:txBody>
          <a:bodyPr wrap="none" lIns="0" tIns="0" rIns="0" bIns="0" anchor="t" anchorCtr="0">
            <a:spAutoFit/>
          </a:bodyPr>
          <a:lstStyle/>
          <a:p>
            <a:pPr algn="l"/>
            <a:r>
              <a:rPr lang="zh-CN" sz="1050" b="1" dirty="0">
                <a:solidFill>
                  <a:srgbClr val="8B5CF6"/>
                </a:solidFill>
                <a:latin typeface="Georgia"/>
                <a:ea typeface="Microsoft YaHei"/>
                <a:cs typeface="Georgia"/>
              </a:rPr>
              <a:t>FFT Analysis</a:t>
            </a:r>
          </a:p>
        </p:txBody>
      </p:sp>
      <p:sp>
        <p:nvSpPr>
          <p:cNvPr id="29" name="TextBox 29"/>
          <p:cNvSpPr txBox="1"/>
          <p:nvPr/>
        </p:nvSpPr>
        <p:spPr>
          <a:xfrm>
            <a:off x="4846320" y="3350895"/>
            <a:ext cx="1140142"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Frequency domain</a:t>
            </a:r>
          </a:p>
        </p:txBody>
      </p:sp>
      <p:sp>
        <p:nvSpPr>
          <p:cNvPr id="30" name="Line 30"/>
          <p:cNvSpPr/>
          <p:nvPr/>
        </p:nvSpPr>
        <p:spPr>
          <a:xfrm>
            <a:off x="6286500" y="3257550"/>
            <a:ext cx="381000" cy="9525"/>
          </a:xfrm>
          <a:custGeom>
            <a:avLst/>
            <a:gdLst/>
            <a:ahLst/>
            <a:cxnLst/>
            <a:rect l="l" t="t" r="r" b="b"/>
            <a:pathLst>
              <a:path w="381000" h="9525">
                <a:moveTo>
                  <a:pt x="0" y="0"/>
                </a:moveTo>
                <a:lnTo>
                  <a:pt x="381000" y="0"/>
                </a:lnTo>
              </a:path>
            </a:pathLst>
          </a:custGeom>
          <a:noFill/>
          <a:ln w="14288">
            <a:solidFill>
              <a:srgbClr val="334155"/>
            </a:solidFill>
          </a:ln>
        </p:spPr>
      </p:sp>
      <p:sp>
        <p:nvSpPr>
          <p:cNvPr id="31" name="Polygon 31"/>
          <p:cNvSpPr/>
          <p:nvPr/>
        </p:nvSpPr>
        <p:spPr>
          <a:xfrm>
            <a:off x="6667500" y="3219450"/>
            <a:ext cx="76200" cy="76200"/>
          </a:xfrm>
          <a:custGeom>
            <a:avLst/>
            <a:gdLst/>
            <a:ahLst/>
            <a:cxnLst/>
            <a:rect l="l" t="t" r="r" b="b"/>
            <a:pathLst>
              <a:path w="76200" h="76200">
                <a:moveTo>
                  <a:pt x="0" y="0"/>
                </a:moveTo>
                <a:lnTo>
                  <a:pt x="76200" y="38100"/>
                </a:lnTo>
                <a:lnTo>
                  <a:pt x="0" y="76200"/>
                </a:lnTo>
                <a:close/>
              </a:path>
            </a:pathLst>
          </a:custGeom>
          <a:solidFill>
            <a:srgbClr val="8B5CF6"/>
          </a:solidFill>
          <a:ln>
            <a:noFill/>
          </a:ln>
        </p:spPr>
      </p:sp>
      <p:sp>
        <p:nvSpPr>
          <p:cNvPr id="32" name="Rectangle 32"/>
          <p:cNvSpPr/>
          <p:nvPr/>
        </p:nvSpPr>
        <p:spPr>
          <a:xfrm>
            <a:off x="6762750" y="2857500"/>
            <a:ext cx="1524000" cy="809625"/>
          </a:xfrm>
          <a:prstGeom prst="roundRect">
            <a:avLst>
              <a:gd name="adj" fmla="val 9412"/>
            </a:avLst>
          </a:prstGeom>
          <a:solidFill>
            <a:srgbClr val="F59E0B">
              <a:alpha val="10000"/>
            </a:srgbClr>
          </a:solidFill>
          <a:ln w="9525">
            <a:solidFill>
              <a:srgbClr val="F59E0B">
                <a:alpha val="50000"/>
              </a:srgbClr>
            </a:solidFill>
          </a:ln>
        </p:spPr>
      </p:sp>
      <p:grpSp>
        <p:nvGrpSpPr>
          <p:cNvPr id="39" name="Group 39"/>
          <p:cNvGrpSpPr/>
          <p:nvPr/>
        </p:nvGrpSpPr>
        <p:grpSpPr>
          <a:xfrm>
            <a:off x="6884194" y="3006769"/>
            <a:ext cx="157162" cy="139700"/>
            <a:chOff x="6884194" y="3006769"/>
            <a:chExt cx="157162" cy="139700"/>
          </a:xfrm>
        </p:grpSpPr>
        <p:sp>
          <p:nvSpPr>
            <p:cNvPr id="33" name="Freeform 33"/>
            <p:cNvSpPr/>
            <p:nvPr/>
          </p:nvSpPr>
          <p:spPr>
            <a:xfrm>
              <a:off x="6936581" y="3015456"/>
              <a:ext cx="104775" cy="17463"/>
            </a:xfrm>
            <a:custGeom>
              <a:avLst/>
              <a:gdLst/>
              <a:ahLst/>
              <a:cxnLst/>
              <a:rect l="l" t="t" r="r" b="b"/>
              <a:pathLst>
                <a:path w="104775" h="17463">
                  <a:moveTo>
                    <a:pt x="104775" y="8731"/>
                  </a:moveTo>
                  <a:cubicBezTo>
                    <a:pt x="104775" y="13553"/>
                    <a:pt x="100866" y="17463"/>
                    <a:pt x="96044" y="17463"/>
                  </a:cubicBezTo>
                  <a:lnTo>
                    <a:pt x="8731" y="17463"/>
                  </a:lnTo>
                  <a:cubicBezTo>
                    <a:pt x="3909" y="17463"/>
                    <a:pt x="0" y="13553"/>
                    <a:pt x="0" y="8731"/>
                  </a:cubicBezTo>
                  <a:cubicBezTo>
                    <a:pt x="0" y="3909"/>
                    <a:pt x="3909" y="0"/>
                    <a:pt x="8731" y="0"/>
                  </a:cubicBezTo>
                  <a:lnTo>
                    <a:pt x="96044" y="0"/>
                  </a:lnTo>
                  <a:cubicBezTo>
                    <a:pt x="100866" y="0"/>
                    <a:pt x="104775" y="3909"/>
                    <a:pt x="104775" y="8731"/>
                  </a:cubicBezTo>
                </a:path>
              </a:pathLst>
            </a:custGeom>
            <a:solidFill>
              <a:srgbClr val="F59E0B"/>
            </a:solidFill>
            <a:ln>
              <a:noFill/>
            </a:ln>
          </p:spPr>
        </p:sp>
        <p:sp>
          <p:nvSpPr>
            <p:cNvPr id="34" name="Freeform 34"/>
            <p:cNvSpPr/>
            <p:nvPr/>
          </p:nvSpPr>
          <p:spPr>
            <a:xfrm>
              <a:off x="6936581" y="3067844"/>
              <a:ext cx="104775" cy="17463"/>
            </a:xfrm>
            <a:custGeom>
              <a:avLst/>
              <a:gdLst/>
              <a:ahLst/>
              <a:cxnLst/>
              <a:rect l="l" t="t" r="r" b="b"/>
              <a:pathLst>
                <a:path w="104775" h="17463">
                  <a:moveTo>
                    <a:pt x="104775" y="8731"/>
                  </a:moveTo>
                  <a:cubicBezTo>
                    <a:pt x="104775" y="13553"/>
                    <a:pt x="100866" y="17463"/>
                    <a:pt x="96044" y="17463"/>
                  </a:cubicBezTo>
                  <a:lnTo>
                    <a:pt x="8731" y="17463"/>
                  </a:lnTo>
                  <a:cubicBezTo>
                    <a:pt x="3909" y="17463"/>
                    <a:pt x="0" y="13553"/>
                    <a:pt x="0" y="8731"/>
                  </a:cubicBezTo>
                  <a:cubicBezTo>
                    <a:pt x="0" y="3909"/>
                    <a:pt x="3909" y="0"/>
                    <a:pt x="8731" y="0"/>
                  </a:cubicBezTo>
                  <a:lnTo>
                    <a:pt x="96044" y="0"/>
                  </a:lnTo>
                  <a:cubicBezTo>
                    <a:pt x="100866" y="0"/>
                    <a:pt x="104775" y="3909"/>
                    <a:pt x="104775" y="8731"/>
                  </a:cubicBezTo>
                </a:path>
              </a:pathLst>
            </a:custGeom>
            <a:solidFill>
              <a:srgbClr val="F59E0B"/>
            </a:solidFill>
            <a:ln>
              <a:noFill/>
            </a:ln>
          </p:spPr>
        </p:sp>
        <p:sp>
          <p:nvSpPr>
            <p:cNvPr id="35" name="Freeform 35"/>
            <p:cNvSpPr/>
            <p:nvPr/>
          </p:nvSpPr>
          <p:spPr>
            <a:xfrm>
              <a:off x="6936581" y="3120231"/>
              <a:ext cx="104775" cy="17463"/>
            </a:xfrm>
            <a:custGeom>
              <a:avLst/>
              <a:gdLst/>
              <a:ahLst/>
              <a:cxnLst/>
              <a:rect l="l" t="t" r="r" b="b"/>
              <a:pathLst>
                <a:path w="104775" h="17463">
                  <a:moveTo>
                    <a:pt x="104775" y="8731"/>
                  </a:moveTo>
                  <a:cubicBezTo>
                    <a:pt x="104775" y="13553"/>
                    <a:pt x="100866" y="17463"/>
                    <a:pt x="96044" y="17463"/>
                  </a:cubicBezTo>
                  <a:lnTo>
                    <a:pt x="8731" y="17463"/>
                  </a:lnTo>
                  <a:cubicBezTo>
                    <a:pt x="3909" y="17463"/>
                    <a:pt x="0" y="13553"/>
                    <a:pt x="0" y="8731"/>
                  </a:cubicBezTo>
                  <a:cubicBezTo>
                    <a:pt x="0" y="3909"/>
                    <a:pt x="3909" y="0"/>
                    <a:pt x="8731" y="0"/>
                  </a:cubicBezTo>
                  <a:lnTo>
                    <a:pt x="96044" y="0"/>
                  </a:lnTo>
                  <a:cubicBezTo>
                    <a:pt x="100866" y="0"/>
                    <a:pt x="104775" y="3909"/>
                    <a:pt x="104775" y="8731"/>
                  </a:cubicBezTo>
                </a:path>
              </a:pathLst>
            </a:custGeom>
            <a:solidFill>
              <a:srgbClr val="F59E0B"/>
            </a:solidFill>
            <a:ln>
              <a:noFill/>
            </a:ln>
          </p:spPr>
        </p:sp>
        <p:sp>
          <p:nvSpPr>
            <p:cNvPr id="36" name="Freeform 36"/>
            <p:cNvSpPr/>
            <p:nvPr/>
          </p:nvSpPr>
          <p:spPr>
            <a:xfrm>
              <a:off x="6884194" y="3006769"/>
              <a:ext cx="34925" cy="34925"/>
            </a:xfrm>
            <a:custGeom>
              <a:avLst/>
              <a:gdLst/>
              <a:ahLst/>
              <a:cxnLst/>
              <a:rect l="l" t="t" r="r" b="b"/>
              <a:pathLst>
                <a:path w="34925" h="34925">
                  <a:moveTo>
                    <a:pt x="34925" y="17375"/>
                  </a:moveTo>
                  <a:lnTo>
                    <a:pt x="34925" y="17550"/>
                  </a:lnTo>
                  <a:cubicBezTo>
                    <a:pt x="34925" y="27145"/>
                    <a:pt x="27111" y="34925"/>
                    <a:pt x="17463" y="34925"/>
                  </a:cubicBezTo>
                  <a:cubicBezTo>
                    <a:pt x="7814" y="34925"/>
                    <a:pt x="0" y="27145"/>
                    <a:pt x="0" y="17550"/>
                  </a:cubicBezTo>
                  <a:lnTo>
                    <a:pt x="0" y="17375"/>
                  </a:lnTo>
                  <a:cubicBezTo>
                    <a:pt x="0" y="7780"/>
                    <a:pt x="7814" y="0"/>
                    <a:pt x="17463" y="0"/>
                  </a:cubicBezTo>
                  <a:cubicBezTo>
                    <a:pt x="27111" y="0"/>
                    <a:pt x="34925" y="7780"/>
                    <a:pt x="34925" y="17375"/>
                  </a:cubicBezTo>
                </a:path>
              </a:pathLst>
            </a:custGeom>
            <a:solidFill>
              <a:srgbClr val="F59E0B"/>
            </a:solidFill>
            <a:ln>
              <a:noFill/>
            </a:ln>
          </p:spPr>
        </p:sp>
        <p:sp>
          <p:nvSpPr>
            <p:cNvPr id="37" name="Freeform 37"/>
            <p:cNvSpPr/>
            <p:nvPr/>
          </p:nvSpPr>
          <p:spPr>
            <a:xfrm>
              <a:off x="6884194" y="3059156"/>
              <a:ext cx="34925" cy="34925"/>
            </a:xfrm>
            <a:custGeom>
              <a:avLst/>
              <a:gdLst/>
              <a:ahLst/>
              <a:cxnLst/>
              <a:rect l="l" t="t" r="r" b="b"/>
              <a:pathLst>
                <a:path w="34925" h="34925">
                  <a:moveTo>
                    <a:pt x="34925" y="17375"/>
                  </a:moveTo>
                  <a:lnTo>
                    <a:pt x="34925" y="17550"/>
                  </a:lnTo>
                  <a:cubicBezTo>
                    <a:pt x="34925" y="27145"/>
                    <a:pt x="27111" y="34925"/>
                    <a:pt x="17463" y="34925"/>
                  </a:cubicBezTo>
                  <a:cubicBezTo>
                    <a:pt x="7814" y="34925"/>
                    <a:pt x="0" y="27145"/>
                    <a:pt x="0" y="17550"/>
                  </a:cubicBezTo>
                  <a:lnTo>
                    <a:pt x="0" y="17375"/>
                  </a:lnTo>
                  <a:cubicBezTo>
                    <a:pt x="0" y="7780"/>
                    <a:pt x="7814" y="0"/>
                    <a:pt x="17463" y="0"/>
                  </a:cubicBezTo>
                  <a:cubicBezTo>
                    <a:pt x="27111" y="0"/>
                    <a:pt x="34925" y="7780"/>
                    <a:pt x="34925" y="17375"/>
                  </a:cubicBezTo>
                </a:path>
              </a:pathLst>
            </a:custGeom>
            <a:solidFill>
              <a:srgbClr val="F59E0B"/>
            </a:solidFill>
            <a:ln>
              <a:noFill/>
            </a:ln>
          </p:spPr>
        </p:sp>
        <p:sp>
          <p:nvSpPr>
            <p:cNvPr id="38" name="Freeform 38"/>
            <p:cNvSpPr/>
            <p:nvPr/>
          </p:nvSpPr>
          <p:spPr>
            <a:xfrm>
              <a:off x="6884194" y="3111544"/>
              <a:ext cx="34925" cy="34925"/>
            </a:xfrm>
            <a:custGeom>
              <a:avLst/>
              <a:gdLst/>
              <a:ahLst/>
              <a:cxnLst/>
              <a:rect l="l" t="t" r="r" b="b"/>
              <a:pathLst>
                <a:path w="34925" h="34925">
                  <a:moveTo>
                    <a:pt x="34925" y="17375"/>
                  </a:moveTo>
                  <a:lnTo>
                    <a:pt x="34925" y="17550"/>
                  </a:lnTo>
                  <a:cubicBezTo>
                    <a:pt x="34925" y="27145"/>
                    <a:pt x="27111" y="34925"/>
                    <a:pt x="17463" y="34925"/>
                  </a:cubicBezTo>
                  <a:cubicBezTo>
                    <a:pt x="7814" y="34925"/>
                    <a:pt x="0" y="27145"/>
                    <a:pt x="0" y="17550"/>
                  </a:cubicBezTo>
                  <a:lnTo>
                    <a:pt x="0" y="17375"/>
                  </a:lnTo>
                  <a:cubicBezTo>
                    <a:pt x="0" y="7780"/>
                    <a:pt x="7814" y="0"/>
                    <a:pt x="17463" y="0"/>
                  </a:cubicBezTo>
                  <a:cubicBezTo>
                    <a:pt x="27111" y="0"/>
                    <a:pt x="34925" y="7780"/>
                    <a:pt x="34925" y="17375"/>
                  </a:cubicBezTo>
                </a:path>
              </a:pathLst>
            </a:custGeom>
            <a:solidFill>
              <a:srgbClr val="F59E0B"/>
            </a:solidFill>
            <a:ln>
              <a:noFill/>
            </a:ln>
          </p:spPr>
        </p:sp>
      </p:grpSp>
      <p:sp>
        <p:nvSpPr>
          <p:cNvPr id="40" name="TextBox 40"/>
          <p:cNvSpPr txBox="1"/>
          <p:nvPr/>
        </p:nvSpPr>
        <p:spPr>
          <a:xfrm>
            <a:off x="7111365" y="3029902"/>
            <a:ext cx="735159"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Georgia"/>
                <a:ea typeface="Microsoft YaHei"/>
                <a:cs typeface="Georgia"/>
              </a:rPr>
              <a:t>Features</a:t>
            </a:r>
          </a:p>
        </p:txBody>
      </p:sp>
      <p:sp>
        <p:nvSpPr>
          <p:cNvPr id="41" name="TextBox 41"/>
          <p:cNvSpPr txBox="1"/>
          <p:nvPr/>
        </p:nvSpPr>
        <p:spPr>
          <a:xfrm>
            <a:off x="6846570" y="3350895"/>
            <a:ext cx="1291304"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Frequency features</a:t>
            </a:r>
          </a:p>
        </p:txBody>
      </p:sp>
      <p:sp>
        <p:nvSpPr>
          <p:cNvPr id="42" name="Line 42"/>
          <p:cNvSpPr/>
          <p:nvPr/>
        </p:nvSpPr>
        <p:spPr>
          <a:xfrm>
            <a:off x="8286750" y="3257550"/>
            <a:ext cx="381000" cy="9525"/>
          </a:xfrm>
          <a:custGeom>
            <a:avLst/>
            <a:gdLst/>
            <a:ahLst/>
            <a:cxnLst/>
            <a:rect l="l" t="t" r="r" b="b"/>
            <a:pathLst>
              <a:path w="381000" h="9525">
                <a:moveTo>
                  <a:pt x="0" y="0"/>
                </a:moveTo>
                <a:lnTo>
                  <a:pt x="381000" y="0"/>
                </a:lnTo>
              </a:path>
            </a:pathLst>
          </a:custGeom>
          <a:noFill/>
          <a:ln w="14288">
            <a:solidFill>
              <a:srgbClr val="334155"/>
            </a:solidFill>
          </a:ln>
        </p:spPr>
      </p:sp>
      <p:sp>
        <p:nvSpPr>
          <p:cNvPr id="43" name="Polygon 43"/>
          <p:cNvSpPr/>
          <p:nvPr/>
        </p:nvSpPr>
        <p:spPr>
          <a:xfrm>
            <a:off x="8667750" y="3219450"/>
            <a:ext cx="76200" cy="76200"/>
          </a:xfrm>
          <a:custGeom>
            <a:avLst/>
            <a:gdLst/>
            <a:ahLst/>
            <a:cxnLst/>
            <a:rect l="l" t="t" r="r" b="b"/>
            <a:pathLst>
              <a:path w="76200" h="76200">
                <a:moveTo>
                  <a:pt x="0" y="0"/>
                </a:moveTo>
                <a:lnTo>
                  <a:pt x="76200" y="38100"/>
                </a:lnTo>
                <a:lnTo>
                  <a:pt x="0" y="76200"/>
                </a:lnTo>
                <a:close/>
              </a:path>
            </a:pathLst>
          </a:custGeom>
          <a:solidFill>
            <a:srgbClr val="F59E0B"/>
          </a:solidFill>
          <a:ln>
            <a:noFill/>
          </a:ln>
        </p:spPr>
      </p:sp>
      <p:sp>
        <p:nvSpPr>
          <p:cNvPr id="44" name="Rectangle 44"/>
          <p:cNvSpPr/>
          <p:nvPr/>
        </p:nvSpPr>
        <p:spPr>
          <a:xfrm>
            <a:off x="8763000" y="2857500"/>
            <a:ext cx="2667000" cy="809625"/>
          </a:xfrm>
          <a:prstGeom prst="roundRect">
            <a:avLst>
              <a:gd name="adj" fmla="val 9412"/>
            </a:avLst>
          </a:prstGeom>
          <a:solidFill>
            <a:srgbClr val="10B981">
              <a:alpha val="10000"/>
            </a:srgbClr>
          </a:solidFill>
          <a:ln w="9525">
            <a:solidFill>
              <a:srgbClr val="10B981">
                <a:alpha val="50000"/>
              </a:srgbClr>
            </a:solidFill>
          </a:ln>
        </p:spPr>
      </p:sp>
      <p:grpSp>
        <p:nvGrpSpPr>
          <p:cNvPr id="49" name="Group 49"/>
          <p:cNvGrpSpPr/>
          <p:nvPr/>
        </p:nvGrpSpPr>
        <p:grpSpPr>
          <a:xfrm>
            <a:off x="8875712" y="2989262"/>
            <a:ext cx="174626" cy="174626"/>
            <a:chOff x="8875712" y="2989262"/>
            <a:chExt cx="174626" cy="174626"/>
          </a:xfrm>
        </p:grpSpPr>
        <p:sp>
          <p:nvSpPr>
            <p:cNvPr id="45" name="Freeform 45"/>
            <p:cNvSpPr/>
            <p:nvPr/>
          </p:nvSpPr>
          <p:spPr>
            <a:xfrm>
              <a:off x="8875712" y="3094038"/>
              <a:ext cx="69850" cy="69850"/>
            </a:xfrm>
            <a:custGeom>
              <a:avLst/>
              <a:gdLst/>
              <a:ahLst/>
              <a:cxnLst/>
              <a:rect l="l" t="t" r="r" b="b"/>
              <a:pathLst>
                <a:path w="69850" h="69850">
                  <a:moveTo>
                    <a:pt x="0" y="23286"/>
                  </a:moveTo>
                  <a:cubicBezTo>
                    <a:pt x="0" y="10426"/>
                    <a:pt x="10426" y="0"/>
                    <a:pt x="23286" y="0"/>
                  </a:cubicBezTo>
                  <a:lnTo>
                    <a:pt x="46564" y="0"/>
                  </a:lnTo>
                  <a:cubicBezTo>
                    <a:pt x="59424" y="0"/>
                    <a:pt x="69850" y="10426"/>
                    <a:pt x="69850" y="23286"/>
                  </a:cubicBezTo>
                  <a:lnTo>
                    <a:pt x="69850" y="46564"/>
                  </a:lnTo>
                  <a:cubicBezTo>
                    <a:pt x="69850" y="59424"/>
                    <a:pt x="59424" y="69850"/>
                    <a:pt x="46564" y="69850"/>
                  </a:cubicBezTo>
                  <a:lnTo>
                    <a:pt x="23286" y="69850"/>
                  </a:lnTo>
                  <a:cubicBezTo>
                    <a:pt x="17110" y="69850"/>
                    <a:pt x="11187" y="67397"/>
                    <a:pt x="6820" y="63030"/>
                  </a:cubicBezTo>
                  <a:cubicBezTo>
                    <a:pt x="2453" y="58663"/>
                    <a:pt x="0" y="52740"/>
                    <a:pt x="0" y="46564"/>
                  </a:cubicBezTo>
                  <a:close/>
                </a:path>
              </a:pathLst>
            </a:custGeom>
            <a:solidFill>
              <a:srgbClr val="10B981"/>
            </a:solidFill>
            <a:ln>
              <a:noFill/>
            </a:ln>
          </p:spPr>
        </p:sp>
        <p:sp>
          <p:nvSpPr>
            <p:cNvPr id="46" name="Freeform 46"/>
            <p:cNvSpPr/>
            <p:nvPr/>
          </p:nvSpPr>
          <p:spPr>
            <a:xfrm>
              <a:off x="8980488" y="3094038"/>
              <a:ext cx="69850" cy="69850"/>
            </a:xfrm>
            <a:custGeom>
              <a:avLst/>
              <a:gdLst/>
              <a:ahLst/>
              <a:cxnLst/>
              <a:rect l="l" t="t" r="r" b="b"/>
              <a:pathLst>
                <a:path w="69850" h="69850">
                  <a:moveTo>
                    <a:pt x="0" y="23286"/>
                  </a:moveTo>
                  <a:cubicBezTo>
                    <a:pt x="0" y="17110"/>
                    <a:pt x="2453" y="11187"/>
                    <a:pt x="6820" y="6820"/>
                  </a:cubicBezTo>
                  <a:cubicBezTo>
                    <a:pt x="11187" y="2453"/>
                    <a:pt x="17110" y="0"/>
                    <a:pt x="23286" y="0"/>
                  </a:cubicBezTo>
                  <a:lnTo>
                    <a:pt x="46564" y="0"/>
                  </a:lnTo>
                  <a:cubicBezTo>
                    <a:pt x="59424" y="0"/>
                    <a:pt x="69850" y="10426"/>
                    <a:pt x="69850" y="23286"/>
                  </a:cubicBezTo>
                  <a:lnTo>
                    <a:pt x="69850" y="46564"/>
                  </a:lnTo>
                  <a:cubicBezTo>
                    <a:pt x="69850" y="59424"/>
                    <a:pt x="59424" y="69850"/>
                    <a:pt x="46564" y="69850"/>
                  </a:cubicBezTo>
                  <a:lnTo>
                    <a:pt x="23286" y="69850"/>
                  </a:lnTo>
                  <a:cubicBezTo>
                    <a:pt x="17110" y="69850"/>
                    <a:pt x="11187" y="67397"/>
                    <a:pt x="6820" y="63030"/>
                  </a:cubicBezTo>
                  <a:cubicBezTo>
                    <a:pt x="2453" y="58663"/>
                    <a:pt x="0" y="52740"/>
                    <a:pt x="0" y="46564"/>
                  </a:cubicBezTo>
                  <a:close/>
                </a:path>
              </a:pathLst>
            </a:custGeom>
            <a:solidFill>
              <a:srgbClr val="10B981"/>
            </a:solidFill>
            <a:ln>
              <a:noFill/>
            </a:ln>
          </p:spPr>
        </p:sp>
        <p:sp>
          <p:nvSpPr>
            <p:cNvPr id="47" name="Freeform 47"/>
            <p:cNvSpPr/>
            <p:nvPr/>
          </p:nvSpPr>
          <p:spPr>
            <a:xfrm>
              <a:off x="8928100" y="2989262"/>
              <a:ext cx="69850" cy="69850"/>
            </a:xfrm>
            <a:custGeom>
              <a:avLst/>
              <a:gdLst/>
              <a:ahLst/>
              <a:cxnLst/>
              <a:rect l="l" t="t" r="r" b="b"/>
              <a:pathLst>
                <a:path w="69850" h="69850">
                  <a:moveTo>
                    <a:pt x="0" y="23286"/>
                  </a:moveTo>
                  <a:cubicBezTo>
                    <a:pt x="0" y="10426"/>
                    <a:pt x="10426" y="0"/>
                    <a:pt x="23286" y="0"/>
                  </a:cubicBezTo>
                  <a:lnTo>
                    <a:pt x="46564" y="0"/>
                  </a:lnTo>
                  <a:cubicBezTo>
                    <a:pt x="59424" y="0"/>
                    <a:pt x="69850" y="10426"/>
                    <a:pt x="69850" y="23286"/>
                  </a:cubicBezTo>
                  <a:lnTo>
                    <a:pt x="69850" y="46564"/>
                  </a:lnTo>
                  <a:cubicBezTo>
                    <a:pt x="69850" y="59424"/>
                    <a:pt x="59424" y="69850"/>
                    <a:pt x="46564" y="69850"/>
                  </a:cubicBezTo>
                  <a:lnTo>
                    <a:pt x="23286" y="69850"/>
                  </a:lnTo>
                  <a:cubicBezTo>
                    <a:pt x="10426" y="69850"/>
                    <a:pt x="0" y="59424"/>
                    <a:pt x="0" y="46564"/>
                  </a:cubicBezTo>
                  <a:close/>
                </a:path>
              </a:pathLst>
            </a:custGeom>
            <a:solidFill>
              <a:srgbClr val="10B981"/>
            </a:solidFill>
            <a:ln>
              <a:noFill/>
            </a:ln>
          </p:spPr>
        </p:sp>
        <p:sp>
          <p:nvSpPr>
            <p:cNvPr id="48" name="Freeform 48"/>
            <p:cNvSpPr/>
            <p:nvPr/>
          </p:nvSpPr>
          <p:spPr>
            <a:xfrm>
              <a:off x="8901906" y="3041650"/>
              <a:ext cx="122237" cy="69850"/>
            </a:xfrm>
            <a:custGeom>
              <a:avLst/>
              <a:gdLst/>
              <a:ahLst/>
              <a:cxnLst/>
              <a:rect l="l" t="t" r="r" b="b"/>
              <a:pathLst>
                <a:path w="122237" h="69850">
                  <a:moveTo>
                    <a:pt x="61119" y="0"/>
                  </a:moveTo>
                  <a:cubicBezTo>
                    <a:pt x="56297" y="0"/>
                    <a:pt x="52388" y="3909"/>
                    <a:pt x="52388" y="8731"/>
                  </a:cubicBezTo>
                  <a:lnTo>
                    <a:pt x="52388" y="26194"/>
                  </a:lnTo>
                  <a:lnTo>
                    <a:pt x="26194" y="26194"/>
                  </a:lnTo>
                  <a:cubicBezTo>
                    <a:pt x="11831" y="26194"/>
                    <a:pt x="0" y="38025"/>
                    <a:pt x="0" y="52388"/>
                  </a:cubicBezTo>
                  <a:lnTo>
                    <a:pt x="0" y="61119"/>
                  </a:lnTo>
                  <a:cubicBezTo>
                    <a:pt x="0" y="65941"/>
                    <a:pt x="3909" y="69850"/>
                    <a:pt x="8731" y="69850"/>
                  </a:cubicBezTo>
                  <a:cubicBezTo>
                    <a:pt x="13553" y="69850"/>
                    <a:pt x="17462" y="65941"/>
                    <a:pt x="17462" y="61119"/>
                  </a:cubicBezTo>
                  <a:lnTo>
                    <a:pt x="17462" y="52388"/>
                  </a:lnTo>
                  <a:cubicBezTo>
                    <a:pt x="17462" y="47463"/>
                    <a:pt x="21269" y="43656"/>
                    <a:pt x="26194" y="43656"/>
                  </a:cubicBezTo>
                  <a:lnTo>
                    <a:pt x="96044" y="43656"/>
                  </a:lnTo>
                  <a:cubicBezTo>
                    <a:pt x="100968" y="43656"/>
                    <a:pt x="104775" y="47463"/>
                    <a:pt x="104775" y="52388"/>
                  </a:cubicBezTo>
                  <a:lnTo>
                    <a:pt x="104775" y="61119"/>
                  </a:lnTo>
                  <a:cubicBezTo>
                    <a:pt x="104775" y="65941"/>
                    <a:pt x="108684" y="69850"/>
                    <a:pt x="113506" y="69850"/>
                  </a:cubicBezTo>
                  <a:cubicBezTo>
                    <a:pt x="118328" y="69850"/>
                    <a:pt x="122237" y="65941"/>
                    <a:pt x="122237" y="61119"/>
                  </a:cubicBezTo>
                  <a:lnTo>
                    <a:pt x="122237" y="52388"/>
                  </a:lnTo>
                  <a:cubicBezTo>
                    <a:pt x="122237" y="38025"/>
                    <a:pt x="110407" y="26194"/>
                    <a:pt x="96044" y="26194"/>
                  </a:cubicBezTo>
                  <a:lnTo>
                    <a:pt x="69850" y="26194"/>
                  </a:lnTo>
                  <a:lnTo>
                    <a:pt x="69850" y="8731"/>
                  </a:lnTo>
                  <a:cubicBezTo>
                    <a:pt x="69850" y="3909"/>
                    <a:pt x="65941" y="0"/>
                    <a:pt x="61119" y="0"/>
                  </a:cubicBezTo>
                  <a:close/>
                </a:path>
              </a:pathLst>
            </a:custGeom>
            <a:solidFill>
              <a:srgbClr val="10B981"/>
            </a:solidFill>
            <a:ln>
              <a:noFill/>
            </a:ln>
          </p:spPr>
        </p:sp>
      </p:grpSp>
      <p:sp>
        <p:nvSpPr>
          <p:cNvPr id="50" name="TextBox 50"/>
          <p:cNvSpPr txBox="1"/>
          <p:nvPr/>
        </p:nvSpPr>
        <p:spPr>
          <a:xfrm>
            <a:off x="9111615" y="3029902"/>
            <a:ext cx="1886452"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Georgia"/>
                <a:ea typeface="Microsoft YaHei"/>
                <a:cs typeface="Georgia"/>
              </a:rPr>
              <a:t>5-Layer Neural Network</a:t>
            </a:r>
          </a:p>
        </p:txBody>
      </p:sp>
      <p:sp>
        <p:nvSpPr>
          <p:cNvPr id="51" name="TextBox 51"/>
          <p:cNvSpPr txBox="1"/>
          <p:nvPr/>
        </p:nvSpPr>
        <p:spPr>
          <a:xfrm>
            <a:off x="8846820" y="3350895"/>
            <a:ext cx="2125980" cy="182880"/>
          </a:xfrm>
          <a:prstGeom prst="rect">
            <a:avLst/>
          </a:prstGeom>
          <a:noFill/>
          <a:ln>
            <a:noFill/>
          </a:ln>
        </p:spPr>
        <p:txBody>
          <a:bodyPr wrap="none" lIns="0" tIns="0" rIns="0" bIns="0" anchor="t" anchorCtr="0">
            <a:spAutoFit/>
          </a:bodyPr>
          <a:lstStyle/>
          <a:p>
            <a:pPr algn="l"/>
            <a:r>
              <a:rPr lang="zh-CN" sz="900" dirty="0">
                <a:solidFill>
                  <a:srgbClr val="94A3B8"/>
                </a:solidFill>
                <a:latin typeface="Arial"/>
                <a:ea typeface="Microsoft YaHei"/>
                <a:cs typeface="Arial"/>
              </a:rPr>
              <a:t>Softmax cross-entropy loss + BP</a:t>
            </a:r>
          </a:p>
        </p:txBody>
      </p:sp>
      <p:sp>
        <p:nvSpPr>
          <p:cNvPr id="52" name="Rectangle 52"/>
          <p:cNvSpPr/>
          <p:nvPr/>
        </p:nvSpPr>
        <p:spPr>
          <a:xfrm>
            <a:off x="571500" y="4191000"/>
            <a:ext cx="3524250" cy="2190750"/>
          </a:xfrm>
          <a:prstGeom prst="roundRect">
            <a:avLst>
              <a:gd name="adj" fmla="val 5217"/>
            </a:avLst>
          </a:prstGeom>
          <a:solidFill>
            <a:srgbClr val="1E293B"/>
          </a:solidFill>
          <a:ln w="9525">
            <a:solidFill>
              <a:srgbClr val="334155"/>
            </a:solidFill>
          </a:ln>
        </p:spPr>
      </p:sp>
      <p:sp>
        <p:nvSpPr>
          <p:cNvPr id="53" name="Rectangle 53"/>
          <p:cNvSpPr/>
          <p:nvPr/>
        </p:nvSpPr>
        <p:spPr>
          <a:xfrm>
            <a:off x="571500" y="4191000"/>
            <a:ext cx="3524250" cy="57150"/>
          </a:xfrm>
          <a:prstGeom prst="roundRect">
            <a:avLst>
              <a:gd name="adj" fmla="val 50000"/>
            </a:avLst>
          </a:prstGeom>
          <a:solidFill>
            <a:srgbClr val="3B82F6"/>
          </a:solidFill>
          <a:ln>
            <a:noFill/>
          </a:ln>
        </p:spPr>
      </p:sp>
      <p:sp>
        <p:nvSpPr>
          <p:cNvPr id="54" name="TextBox 54"/>
          <p:cNvSpPr txBox="1"/>
          <p:nvPr/>
        </p:nvSpPr>
        <p:spPr>
          <a:xfrm>
            <a:off x="744855" y="4445318"/>
            <a:ext cx="2249467" cy="274320"/>
          </a:xfrm>
          <a:prstGeom prst="rect">
            <a:avLst/>
          </a:prstGeom>
          <a:noFill/>
          <a:ln>
            <a:noFill/>
          </a:ln>
        </p:spPr>
        <p:txBody>
          <a:bodyPr wrap="none" lIns="0" tIns="0" rIns="0" bIns="0" anchor="t" anchorCtr="0">
            <a:spAutoFit/>
          </a:bodyPr>
          <a:lstStyle/>
          <a:p>
            <a:pPr algn="l"/>
            <a:r>
              <a:rPr lang="zh-CN" sz="1350" b="1" dirty="0">
                <a:solidFill>
                  <a:srgbClr val="3B82F6"/>
                </a:solidFill>
                <a:latin typeface="Georgia"/>
                <a:ea typeface="Microsoft YaHei"/>
                <a:cs typeface="Georgia"/>
              </a:rPr>
              <a:t>Network Architecture</a:t>
            </a:r>
          </a:p>
        </p:txBody>
      </p:sp>
      <p:sp>
        <p:nvSpPr>
          <p:cNvPr id="55" name="TextBox 55"/>
          <p:cNvSpPr txBox="1"/>
          <p:nvPr/>
        </p:nvSpPr>
        <p:spPr>
          <a:xfrm>
            <a:off x="747712" y="4774406"/>
            <a:ext cx="229600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5-layer deep neural network</a:t>
            </a:r>
          </a:p>
        </p:txBody>
      </p:sp>
      <p:sp>
        <p:nvSpPr>
          <p:cNvPr id="56" name="TextBox 56"/>
          <p:cNvSpPr txBox="1"/>
          <p:nvPr/>
        </p:nvSpPr>
        <p:spPr>
          <a:xfrm>
            <a:off x="747712" y="5003006"/>
            <a:ext cx="255889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optimized for embedded devices</a:t>
            </a:r>
          </a:p>
        </p:txBody>
      </p:sp>
      <p:sp>
        <p:nvSpPr>
          <p:cNvPr id="57" name="Rectangle 57"/>
          <p:cNvSpPr/>
          <p:nvPr/>
        </p:nvSpPr>
        <p:spPr>
          <a:xfrm>
            <a:off x="762000" y="5372100"/>
            <a:ext cx="3143250" cy="381000"/>
          </a:xfrm>
          <a:prstGeom prst="roundRect">
            <a:avLst>
              <a:gd name="adj" fmla="val 15000"/>
            </a:avLst>
          </a:prstGeom>
          <a:solidFill>
            <a:srgbClr val="0F172A"/>
          </a:solidFill>
          <a:ln w="9525">
            <a:solidFill>
              <a:srgbClr val="334155"/>
            </a:solidFill>
          </a:ln>
        </p:spPr>
      </p:sp>
      <p:sp>
        <p:nvSpPr>
          <p:cNvPr id="58" name="TextBox 58"/>
          <p:cNvSpPr txBox="1"/>
          <p:nvPr/>
        </p:nvSpPr>
        <p:spPr>
          <a:xfrm>
            <a:off x="1338691" y="5514499"/>
            <a:ext cx="1989868" cy="198120"/>
          </a:xfrm>
          <a:prstGeom prst="rect">
            <a:avLst/>
          </a:prstGeom>
          <a:noFill/>
          <a:ln>
            <a:noFill/>
          </a:ln>
        </p:spPr>
        <p:txBody>
          <a:bodyPr wrap="none" lIns="0" tIns="0" rIns="0" bIns="0" anchor="t" anchorCtr="0">
            <a:spAutoFit/>
          </a:bodyPr>
          <a:lstStyle/>
          <a:p>
            <a:pPr algn="ctr"/>
            <a:r>
              <a:rPr lang="zh-CN" sz="975" dirty="0">
                <a:solidFill>
                  <a:srgbClr val="F1F5F9"/>
                </a:solidFill>
                <a:latin typeface="Consolas"/>
                <a:ea typeface="Microsoft YaHei"/>
                <a:cs typeface="Consolas"/>
              </a:rPr>
              <a:t>Loss = -sum(y * log(y_hat))</a:t>
            </a:r>
          </a:p>
        </p:txBody>
      </p:sp>
      <p:sp>
        <p:nvSpPr>
          <p:cNvPr id="59" name="TextBox 59"/>
          <p:cNvSpPr txBox="1"/>
          <p:nvPr/>
        </p:nvSpPr>
        <p:spPr>
          <a:xfrm>
            <a:off x="749618" y="5990749"/>
            <a:ext cx="327857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Softmax cross-entropy for multi-class output</a:t>
            </a:r>
          </a:p>
        </p:txBody>
      </p:sp>
      <p:sp>
        <p:nvSpPr>
          <p:cNvPr id="60" name="Rectangle 60"/>
          <p:cNvSpPr/>
          <p:nvPr/>
        </p:nvSpPr>
        <p:spPr>
          <a:xfrm>
            <a:off x="4333875" y="4191000"/>
            <a:ext cx="3524250" cy="2190750"/>
          </a:xfrm>
          <a:prstGeom prst="roundRect">
            <a:avLst>
              <a:gd name="adj" fmla="val 5217"/>
            </a:avLst>
          </a:prstGeom>
          <a:solidFill>
            <a:srgbClr val="1E293B"/>
          </a:solidFill>
          <a:ln w="9525">
            <a:solidFill>
              <a:srgbClr val="334155"/>
            </a:solidFill>
          </a:ln>
        </p:spPr>
      </p:sp>
      <p:sp>
        <p:nvSpPr>
          <p:cNvPr id="61" name="Rectangle 61"/>
          <p:cNvSpPr/>
          <p:nvPr/>
        </p:nvSpPr>
        <p:spPr>
          <a:xfrm>
            <a:off x="4333875" y="4191000"/>
            <a:ext cx="3524250" cy="57150"/>
          </a:xfrm>
          <a:prstGeom prst="roundRect">
            <a:avLst>
              <a:gd name="adj" fmla="val 50000"/>
            </a:avLst>
          </a:prstGeom>
          <a:solidFill>
            <a:srgbClr val="22D3EE"/>
          </a:solidFill>
          <a:ln>
            <a:noFill/>
          </a:ln>
        </p:spPr>
      </p:sp>
      <p:sp>
        <p:nvSpPr>
          <p:cNvPr id="62" name="TextBox 62"/>
          <p:cNvSpPr txBox="1"/>
          <p:nvPr/>
        </p:nvSpPr>
        <p:spPr>
          <a:xfrm>
            <a:off x="4507230" y="4445318"/>
            <a:ext cx="1866469" cy="274320"/>
          </a:xfrm>
          <a:prstGeom prst="rect">
            <a:avLst/>
          </a:prstGeom>
          <a:noFill/>
          <a:ln>
            <a:noFill/>
          </a:ln>
        </p:spPr>
        <p:txBody>
          <a:bodyPr wrap="none" lIns="0" tIns="0" rIns="0" bIns="0" anchor="t" anchorCtr="0">
            <a:spAutoFit/>
          </a:bodyPr>
          <a:lstStyle/>
          <a:p>
            <a:pPr algn="l"/>
            <a:r>
              <a:rPr lang="zh-CN" sz="1350" b="1" dirty="0">
                <a:solidFill>
                  <a:srgbClr val="22D3EE"/>
                </a:solidFill>
                <a:latin typeface="Georgia"/>
                <a:ea typeface="Microsoft YaHei"/>
                <a:cs typeface="Georgia"/>
              </a:rPr>
              <a:t>Transfer Learning</a:t>
            </a:r>
          </a:p>
        </p:txBody>
      </p:sp>
      <p:sp>
        <p:nvSpPr>
          <p:cNvPr id="63" name="TextBox 63"/>
          <p:cNvSpPr txBox="1"/>
          <p:nvPr/>
        </p:nvSpPr>
        <p:spPr>
          <a:xfrm>
            <a:off x="4510088" y="4774406"/>
            <a:ext cx="240280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Train on Japanese data first,</a:t>
            </a:r>
          </a:p>
        </p:txBody>
      </p:sp>
      <p:sp>
        <p:nvSpPr>
          <p:cNvPr id="64" name="TextBox 64"/>
          <p:cNvSpPr txBox="1"/>
          <p:nvPr/>
        </p:nvSpPr>
        <p:spPr>
          <a:xfrm>
            <a:off x="4510088" y="5003006"/>
            <a:ext cx="257532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then transfer learned features</a:t>
            </a:r>
          </a:p>
        </p:txBody>
      </p:sp>
      <p:sp>
        <p:nvSpPr>
          <p:cNvPr id="65" name="TextBox 65"/>
          <p:cNvSpPr txBox="1"/>
          <p:nvPr/>
        </p:nvSpPr>
        <p:spPr>
          <a:xfrm>
            <a:off x="4510088" y="5231606"/>
            <a:ext cx="235350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to English recognition model.</a:t>
            </a:r>
          </a:p>
        </p:txBody>
      </p:sp>
      <p:sp>
        <p:nvSpPr>
          <p:cNvPr id="66" name="Rectangle 66"/>
          <p:cNvSpPr/>
          <p:nvPr/>
        </p:nvSpPr>
        <p:spPr>
          <a:xfrm>
            <a:off x="4714875" y="5619750"/>
            <a:ext cx="1047750" cy="323850"/>
          </a:xfrm>
          <a:prstGeom prst="roundRect">
            <a:avLst>
              <a:gd name="adj" fmla="val 17647"/>
            </a:avLst>
          </a:prstGeom>
          <a:solidFill>
            <a:srgbClr val="22D3EE">
              <a:alpha val="15000"/>
            </a:srgbClr>
          </a:solidFill>
          <a:ln w="9525">
            <a:solidFill>
              <a:srgbClr val="22D3EE"/>
            </a:solidFill>
          </a:ln>
        </p:spPr>
      </p:sp>
      <p:sp>
        <p:nvSpPr>
          <p:cNvPr id="67" name="TextBox 67"/>
          <p:cNvSpPr txBox="1"/>
          <p:nvPr/>
        </p:nvSpPr>
        <p:spPr>
          <a:xfrm>
            <a:off x="4938141" y="5732145"/>
            <a:ext cx="601218" cy="182880"/>
          </a:xfrm>
          <a:prstGeom prst="rect">
            <a:avLst/>
          </a:prstGeom>
          <a:noFill/>
          <a:ln>
            <a:noFill/>
          </a:ln>
        </p:spPr>
        <p:txBody>
          <a:bodyPr wrap="none" lIns="0" tIns="0" rIns="0" bIns="0" anchor="t" anchorCtr="0">
            <a:spAutoFit/>
          </a:bodyPr>
          <a:lstStyle/>
          <a:p>
            <a:pPr algn="ctr"/>
            <a:r>
              <a:rPr lang="zh-CN" sz="900" dirty="0">
                <a:solidFill>
                  <a:srgbClr val="22D3EE"/>
                </a:solidFill>
                <a:latin typeface="Consolas"/>
                <a:ea typeface="Microsoft YaHei"/>
                <a:cs typeface="Consolas"/>
              </a:rPr>
              <a:t>Japanese</a:t>
            </a:r>
          </a:p>
        </p:txBody>
      </p:sp>
      <p:sp>
        <p:nvSpPr>
          <p:cNvPr id="68" name="Line 68"/>
          <p:cNvSpPr/>
          <p:nvPr/>
        </p:nvSpPr>
        <p:spPr>
          <a:xfrm>
            <a:off x="5762625" y="5781675"/>
            <a:ext cx="381000" cy="9525"/>
          </a:xfrm>
          <a:custGeom>
            <a:avLst/>
            <a:gdLst/>
            <a:ahLst/>
            <a:cxnLst/>
            <a:rect l="l" t="t" r="r" b="b"/>
            <a:pathLst>
              <a:path w="381000" h="9525">
                <a:moveTo>
                  <a:pt x="0" y="0"/>
                </a:moveTo>
                <a:lnTo>
                  <a:pt x="381000" y="0"/>
                </a:lnTo>
              </a:path>
            </a:pathLst>
          </a:custGeom>
          <a:noFill/>
          <a:ln w="14288">
            <a:solidFill>
              <a:srgbClr val="22D3EE"/>
            </a:solidFill>
          </a:ln>
        </p:spPr>
      </p:sp>
      <p:sp>
        <p:nvSpPr>
          <p:cNvPr id="69" name="Polygon 69"/>
          <p:cNvSpPr/>
          <p:nvPr/>
        </p:nvSpPr>
        <p:spPr>
          <a:xfrm>
            <a:off x="6143625" y="5743575"/>
            <a:ext cx="76200" cy="76200"/>
          </a:xfrm>
          <a:custGeom>
            <a:avLst/>
            <a:gdLst/>
            <a:ahLst/>
            <a:cxnLst/>
            <a:rect l="l" t="t" r="r" b="b"/>
            <a:pathLst>
              <a:path w="76200" h="76200">
                <a:moveTo>
                  <a:pt x="0" y="0"/>
                </a:moveTo>
                <a:lnTo>
                  <a:pt x="76200" y="38100"/>
                </a:lnTo>
                <a:lnTo>
                  <a:pt x="0" y="76200"/>
                </a:lnTo>
                <a:close/>
              </a:path>
            </a:pathLst>
          </a:custGeom>
          <a:solidFill>
            <a:srgbClr val="22D3EE"/>
          </a:solidFill>
          <a:ln>
            <a:noFill/>
          </a:ln>
        </p:spPr>
      </p:sp>
      <p:sp>
        <p:nvSpPr>
          <p:cNvPr id="70" name="Rectangle 70"/>
          <p:cNvSpPr/>
          <p:nvPr/>
        </p:nvSpPr>
        <p:spPr>
          <a:xfrm>
            <a:off x="6248400" y="5619750"/>
            <a:ext cx="1047750" cy="323850"/>
          </a:xfrm>
          <a:prstGeom prst="roundRect">
            <a:avLst>
              <a:gd name="adj" fmla="val 17647"/>
            </a:avLst>
          </a:prstGeom>
          <a:solidFill>
            <a:srgbClr val="3B82F6">
              <a:alpha val="15000"/>
            </a:srgbClr>
          </a:solidFill>
          <a:ln w="9525">
            <a:solidFill>
              <a:srgbClr val="3B82F6"/>
            </a:solidFill>
          </a:ln>
        </p:spPr>
      </p:sp>
      <p:sp>
        <p:nvSpPr>
          <p:cNvPr id="71" name="TextBox 71"/>
          <p:cNvSpPr txBox="1"/>
          <p:nvPr/>
        </p:nvSpPr>
        <p:spPr>
          <a:xfrm>
            <a:off x="6540675" y="5732145"/>
            <a:ext cx="463201" cy="182880"/>
          </a:xfrm>
          <a:prstGeom prst="rect">
            <a:avLst/>
          </a:prstGeom>
          <a:noFill/>
          <a:ln>
            <a:noFill/>
          </a:ln>
        </p:spPr>
        <p:txBody>
          <a:bodyPr wrap="none" lIns="0" tIns="0" rIns="0" bIns="0" anchor="t" anchorCtr="0">
            <a:spAutoFit/>
          </a:bodyPr>
          <a:lstStyle/>
          <a:p>
            <a:pPr algn="ctr"/>
            <a:r>
              <a:rPr lang="zh-CN" sz="900" dirty="0">
                <a:solidFill>
                  <a:srgbClr val="3B82F6"/>
                </a:solidFill>
                <a:latin typeface="Consolas"/>
                <a:ea typeface="Microsoft YaHei"/>
                <a:cs typeface="Consolas"/>
              </a:rPr>
              <a:t>English</a:t>
            </a:r>
          </a:p>
        </p:txBody>
      </p:sp>
      <p:sp>
        <p:nvSpPr>
          <p:cNvPr id="72" name="Rectangle 72"/>
          <p:cNvSpPr/>
          <p:nvPr/>
        </p:nvSpPr>
        <p:spPr>
          <a:xfrm>
            <a:off x="8096250" y="4191000"/>
            <a:ext cx="3524250" cy="2190750"/>
          </a:xfrm>
          <a:prstGeom prst="roundRect">
            <a:avLst>
              <a:gd name="adj" fmla="val 5217"/>
            </a:avLst>
          </a:prstGeom>
          <a:solidFill>
            <a:srgbClr val="1E293B"/>
          </a:solidFill>
          <a:ln w="9525">
            <a:solidFill>
              <a:srgbClr val="334155"/>
            </a:solidFill>
          </a:ln>
        </p:spPr>
      </p:sp>
      <p:sp>
        <p:nvSpPr>
          <p:cNvPr id="73" name="Rectangle 73"/>
          <p:cNvSpPr/>
          <p:nvPr/>
        </p:nvSpPr>
        <p:spPr>
          <a:xfrm>
            <a:off x="8096250" y="4191000"/>
            <a:ext cx="3524250" cy="57150"/>
          </a:xfrm>
          <a:prstGeom prst="roundRect">
            <a:avLst>
              <a:gd name="adj" fmla="val 50000"/>
            </a:avLst>
          </a:prstGeom>
          <a:solidFill>
            <a:srgbClr val="10B981"/>
          </a:solidFill>
          <a:ln>
            <a:noFill/>
          </a:ln>
        </p:spPr>
      </p:sp>
      <p:sp>
        <p:nvSpPr>
          <p:cNvPr id="74" name="TextBox 74"/>
          <p:cNvSpPr txBox="1"/>
          <p:nvPr/>
        </p:nvSpPr>
        <p:spPr>
          <a:xfrm>
            <a:off x="8269605" y="4445318"/>
            <a:ext cx="1835415"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Georgia"/>
                <a:ea typeface="Microsoft YaHei"/>
                <a:cs typeface="Georgia"/>
              </a:rPr>
              <a:t>BP Role in Training</a:t>
            </a:r>
          </a:p>
        </p:txBody>
      </p:sp>
      <p:sp>
        <p:nvSpPr>
          <p:cNvPr id="75" name="TextBox 75"/>
          <p:cNvSpPr txBox="1"/>
          <p:nvPr/>
        </p:nvSpPr>
        <p:spPr>
          <a:xfrm>
            <a:off x="8272462" y="4774406"/>
            <a:ext cx="265747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Backpropagation adjusts weights</a:t>
            </a:r>
          </a:p>
        </p:txBody>
      </p:sp>
      <p:sp>
        <p:nvSpPr>
          <p:cNvPr id="76" name="TextBox 76"/>
          <p:cNvSpPr txBox="1"/>
          <p:nvPr/>
        </p:nvSpPr>
        <p:spPr>
          <a:xfrm>
            <a:off x="8272462" y="5003006"/>
            <a:ext cx="258353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across all 5 layers by computing</a:t>
            </a:r>
          </a:p>
        </p:txBody>
      </p:sp>
      <p:sp>
        <p:nvSpPr>
          <p:cNvPr id="77" name="TextBox 77"/>
          <p:cNvSpPr txBox="1"/>
          <p:nvPr/>
        </p:nvSpPr>
        <p:spPr>
          <a:xfrm>
            <a:off x="8272462" y="5231606"/>
            <a:ext cx="257532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gradients of the cross-entropy</a:t>
            </a:r>
          </a:p>
        </p:txBody>
      </p:sp>
      <p:sp>
        <p:nvSpPr>
          <p:cNvPr id="78" name="TextBox 78"/>
          <p:cNvSpPr txBox="1"/>
          <p:nvPr/>
        </p:nvSpPr>
        <p:spPr>
          <a:xfrm>
            <a:off x="8272462" y="5460206"/>
            <a:ext cx="274784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loss with respect to each weight.</a:t>
            </a:r>
          </a:p>
        </p:txBody>
      </p:sp>
      <p:sp>
        <p:nvSpPr>
          <p:cNvPr id="79" name="Rectangle 79"/>
          <p:cNvSpPr/>
          <p:nvPr/>
        </p:nvSpPr>
        <p:spPr>
          <a:xfrm>
            <a:off x="8286750" y="5810250"/>
            <a:ext cx="2952750" cy="342900"/>
          </a:xfrm>
          <a:prstGeom prst="roundRect">
            <a:avLst>
              <a:gd name="adj" fmla="val 16667"/>
            </a:avLst>
          </a:prstGeom>
          <a:solidFill>
            <a:srgbClr val="10B981">
              <a:alpha val="10000"/>
            </a:srgbClr>
          </a:solidFill>
          <a:ln w="9525">
            <a:solidFill>
              <a:srgbClr val="10B981">
                <a:alpha val="30000"/>
              </a:srgbClr>
            </a:solidFill>
          </a:ln>
        </p:spPr>
      </p:sp>
      <p:sp>
        <p:nvSpPr>
          <p:cNvPr id="80" name="Freeform 80"/>
          <p:cNvSpPr/>
          <p:nvPr/>
        </p:nvSpPr>
        <p:spPr>
          <a:xfrm>
            <a:off x="8416925" y="5898769"/>
            <a:ext cx="166926" cy="167199"/>
          </a:xfrm>
          <a:custGeom>
            <a:avLst/>
            <a:gdLst/>
            <a:ahLst/>
            <a:cxnLst/>
            <a:rect l="l" t="t" r="r" b="b"/>
            <a:pathLst>
              <a:path w="166926" h="167199">
                <a:moveTo>
                  <a:pt x="119062" y="14192"/>
                </a:moveTo>
                <a:cubicBezTo>
                  <a:pt x="152141" y="33291"/>
                  <a:pt x="166926" y="73242"/>
                  <a:pt x="154249" y="109274"/>
                </a:cubicBezTo>
                <a:cubicBezTo>
                  <a:pt x="141573" y="145306"/>
                  <a:pt x="105031" y="167199"/>
                  <a:pt x="67280" y="161380"/>
                </a:cubicBezTo>
                <a:cubicBezTo>
                  <a:pt x="29529" y="155561"/>
                  <a:pt x="1277" y="123679"/>
                  <a:pt x="40" y="85502"/>
                </a:cubicBezTo>
                <a:lnTo>
                  <a:pt x="0" y="82931"/>
                </a:lnTo>
                <a:lnTo>
                  <a:pt x="40" y="80359"/>
                </a:lnTo>
                <a:cubicBezTo>
                  <a:pt x="944" y="52474"/>
                  <a:pt x="16421" y="27112"/>
                  <a:pt x="40806" y="13556"/>
                </a:cubicBezTo>
                <a:cubicBezTo>
                  <a:pt x="65190" y="0"/>
                  <a:pt x="94901" y="241"/>
                  <a:pt x="119062" y="14192"/>
                </a:cubicBezTo>
                <a:close/>
                <a:moveTo>
                  <a:pt x="108799" y="61444"/>
                </a:moveTo>
                <a:cubicBezTo>
                  <a:pt x="105971" y="58616"/>
                  <a:pt x="101482" y="58334"/>
                  <a:pt x="98322" y="60785"/>
                </a:cubicBezTo>
                <a:lnTo>
                  <a:pt x="97576" y="61444"/>
                </a:lnTo>
                <a:lnTo>
                  <a:pt x="71438" y="87574"/>
                </a:lnTo>
                <a:lnTo>
                  <a:pt x="61174" y="77319"/>
                </a:lnTo>
                <a:lnTo>
                  <a:pt x="60428" y="76660"/>
                </a:lnTo>
                <a:cubicBezTo>
                  <a:pt x="57268" y="74211"/>
                  <a:pt x="52780" y="74494"/>
                  <a:pt x="49953" y="77321"/>
                </a:cubicBezTo>
                <a:cubicBezTo>
                  <a:pt x="47126" y="80148"/>
                  <a:pt x="46843" y="84636"/>
                  <a:pt x="49292" y="87796"/>
                </a:cubicBezTo>
                <a:lnTo>
                  <a:pt x="49951" y="88542"/>
                </a:lnTo>
                <a:lnTo>
                  <a:pt x="65826" y="104417"/>
                </a:lnTo>
                <a:lnTo>
                  <a:pt x="66572" y="105076"/>
                </a:lnTo>
                <a:cubicBezTo>
                  <a:pt x="69435" y="107298"/>
                  <a:pt x="73440" y="107298"/>
                  <a:pt x="76303" y="105076"/>
                </a:cubicBezTo>
                <a:lnTo>
                  <a:pt x="77049" y="104417"/>
                </a:lnTo>
                <a:lnTo>
                  <a:pt x="108799" y="72667"/>
                </a:lnTo>
                <a:lnTo>
                  <a:pt x="109458" y="71921"/>
                </a:lnTo>
                <a:cubicBezTo>
                  <a:pt x="111909" y="68761"/>
                  <a:pt x="111627" y="64272"/>
                  <a:pt x="108799" y="61444"/>
                </a:cubicBezTo>
                <a:close/>
              </a:path>
            </a:pathLst>
          </a:custGeom>
          <a:solidFill>
            <a:srgbClr val="10B981"/>
          </a:solidFill>
          <a:ln>
            <a:noFill/>
          </a:ln>
        </p:spPr>
      </p:sp>
      <p:sp>
        <p:nvSpPr>
          <p:cNvPr id="81" name="TextBox 81"/>
          <p:cNvSpPr txBox="1"/>
          <p:nvPr/>
        </p:nvSpPr>
        <p:spPr>
          <a:xfrm>
            <a:off x="8655368" y="5933599"/>
            <a:ext cx="2530983" cy="198120"/>
          </a:xfrm>
          <a:prstGeom prst="rect">
            <a:avLst/>
          </a:prstGeom>
          <a:noFill/>
          <a:ln>
            <a:noFill/>
          </a:ln>
        </p:spPr>
        <p:txBody>
          <a:bodyPr wrap="none" lIns="0" tIns="0" rIns="0" bIns="0" anchor="t" anchorCtr="0">
            <a:spAutoFit/>
          </a:bodyPr>
          <a:lstStyle/>
          <a:p>
            <a:pPr algn="l"/>
            <a:r>
              <a:rPr lang="zh-CN" sz="975" dirty="0">
                <a:solidFill>
                  <a:srgbClr val="10B981"/>
                </a:solidFill>
                <a:latin typeface="Arial"/>
                <a:ea typeface="Microsoft YaHei"/>
                <a:cs typeface="Arial"/>
              </a:rPr>
              <a:t>Enables embedded device deployment</a:t>
            </a:r>
          </a:p>
        </p:txBody>
      </p:sp>
      <p:sp>
        <p:nvSpPr>
          <p:cNvPr id="82" name="TextBox 82"/>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18</a:t>
            </a:r>
          </a:p>
        </p:txBody>
      </p:sp>
      <p:pic>
        <p:nvPicPr>
          <p:cNvPr id="83" name="narration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5772">
    <p:fade/>
  </p:transition>
  <p:timing>
    <p:tnLst>
      <p:par>
        <p:cTn id="1" dur="indefinite" restart="never" nodeType="tmRoot">
          <p:childTnLst>
            <p:audio>
              <p:cMediaNode vol="80000">
                <p:cTn id="2" fill="hold" display="0">
                  <p:stCondLst>
                    <p:cond delay="0"/>
                  </p:stCondLst>
                </p:cTn>
                <p:tgtEl>
                  <p:spTgt spid="8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595312" y="6661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19062" y="52958"/>
                </a:moveTo>
                <a:cubicBezTo>
                  <a:pt x="113026" y="52959"/>
                  <a:pt x="107946" y="57477"/>
                  <a:pt x="107240" y="63471"/>
                </a:cubicBezTo>
                <a:lnTo>
                  <a:pt x="107156" y="64865"/>
                </a:lnTo>
                <a:lnTo>
                  <a:pt x="107156" y="124396"/>
                </a:lnTo>
                <a:lnTo>
                  <a:pt x="107263" y="125955"/>
                </a:lnTo>
                <a:cubicBezTo>
                  <a:pt x="107535" y="128021"/>
                  <a:pt x="108344" y="129980"/>
                  <a:pt x="109609" y="131635"/>
                </a:cubicBezTo>
                <a:lnTo>
                  <a:pt x="110645" y="132825"/>
                </a:lnTo>
                <a:lnTo>
                  <a:pt x="146364" y="168544"/>
                </a:lnTo>
                <a:lnTo>
                  <a:pt x="147483" y="169520"/>
                </a:lnTo>
                <a:cubicBezTo>
                  <a:pt x="151778" y="172853"/>
                  <a:pt x="157785" y="172853"/>
                  <a:pt x="162080" y="169520"/>
                </a:cubicBezTo>
                <a:lnTo>
                  <a:pt x="163199" y="168532"/>
                </a:lnTo>
                <a:lnTo>
                  <a:pt x="164187" y="167413"/>
                </a:lnTo>
                <a:cubicBezTo>
                  <a:pt x="167520" y="163118"/>
                  <a:pt x="167520" y="157111"/>
                  <a:pt x="164187" y="152816"/>
                </a:cubicBezTo>
                <a:lnTo>
                  <a:pt x="163199" y="151697"/>
                </a:lnTo>
                <a:lnTo>
                  <a:pt x="130969" y="119455"/>
                </a:lnTo>
                <a:lnTo>
                  <a:pt x="130969" y="64865"/>
                </a:lnTo>
                <a:lnTo>
                  <a:pt x="130885" y="63471"/>
                </a:lnTo>
                <a:cubicBezTo>
                  <a:pt x="130179" y="57477"/>
                  <a:pt x="125099" y="52959"/>
                  <a:pt x="119062" y="52958"/>
                </a:cubicBezTo>
                <a:close/>
              </a:path>
            </a:pathLst>
          </a:custGeom>
          <a:solidFill>
            <a:srgbClr val="8B5CF6"/>
          </a:solidFill>
          <a:ln>
            <a:noFill/>
          </a:ln>
        </p:spPr>
      </p:sp>
      <p:sp>
        <p:nvSpPr>
          <p:cNvPr id="5" name="TextBox 5"/>
          <p:cNvSpPr txBox="1"/>
          <p:nvPr/>
        </p:nvSpPr>
        <p:spPr>
          <a:xfrm>
            <a:off x="923925" y="633412"/>
            <a:ext cx="4646224"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History of Backpropagation</a:t>
            </a:r>
          </a:p>
        </p:txBody>
      </p:sp>
      <p:sp>
        <p:nvSpPr>
          <p:cNvPr id="6" name="Line 6"/>
          <p:cNvSpPr/>
          <p:nvPr/>
        </p:nvSpPr>
        <p:spPr>
          <a:xfrm>
            <a:off x="952500" y="3238500"/>
            <a:ext cx="10287000" cy="9525"/>
          </a:xfrm>
          <a:custGeom>
            <a:avLst/>
            <a:gdLst/>
            <a:ahLst/>
            <a:cxnLst/>
            <a:rect l="l" t="t" r="r" b="b"/>
            <a:pathLst>
              <a:path w="10287000" h="9525">
                <a:moveTo>
                  <a:pt x="0" y="0"/>
                </a:moveTo>
                <a:lnTo>
                  <a:pt x="10287000" y="0"/>
                </a:lnTo>
              </a:path>
            </a:pathLst>
          </a:custGeom>
          <a:noFill/>
          <a:ln w="19050">
            <a:solidFill>
              <a:srgbClr val="334155"/>
            </a:solidFill>
          </a:ln>
        </p:spPr>
      </p:sp>
      <p:sp>
        <p:nvSpPr>
          <p:cNvPr id="7" name="Rectangle 7"/>
          <p:cNvSpPr/>
          <p:nvPr/>
        </p:nvSpPr>
        <p:spPr>
          <a:xfrm>
            <a:off x="952500" y="3228975"/>
            <a:ext cx="10287000" cy="28575"/>
          </a:xfrm>
          <a:prstGeom prst="roundRect">
            <a:avLst>
              <a:gd name="adj" fmla="val 50000"/>
            </a:avLst>
          </a:prstGeom>
          <a:gradFill>
            <a:gsLst>
              <a:gs pos="0">
                <a:srgbClr val="3B82F6">
                  <a:alpha val="40000"/>
                </a:srgbClr>
              </a:gs>
              <a:gs pos="100000">
                <a:srgbClr val="22D3EE">
                  <a:alpha val="40000"/>
                </a:srgbClr>
              </a:gs>
            </a:gsLst>
            <a:lin ang="0" scaled="1"/>
          </a:gradFill>
          <a:ln>
            <a:noFill/>
          </a:ln>
        </p:spPr>
      </p:sp>
      <p:sp>
        <p:nvSpPr>
          <p:cNvPr id="8" name="Ellipse 8"/>
          <p:cNvSpPr/>
          <p:nvPr/>
        </p:nvSpPr>
        <p:spPr>
          <a:xfrm>
            <a:off x="1638300" y="3162300"/>
            <a:ext cx="152400" cy="152400"/>
          </a:xfrm>
          <a:prstGeom prst="ellipse">
            <a:avLst/>
          </a:prstGeom>
          <a:solidFill>
            <a:srgbClr val="3B82F6"/>
          </a:solidFill>
          <a:ln w="28575">
            <a:solidFill>
              <a:srgbClr val="0F172A"/>
            </a:solidFill>
          </a:ln>
        </p:spPr>
      </p:sp>
      <p:sp>
        <p:nvSpPr>
          <p:cNvPr id="9" name="Ellipse 9"/>
          <p:cNvSpPr/>
          <p:nvPr/>
        </p:nvSpPr>
        <p:spPr>
          <a:xfrm>
            <a:off x="1581150" y="3105150"/>
            <a:ext cx="266700" cy="266700"/>
          </a:xfrm>
          <a:prstGeom prst="ellipse">
            <a:avLst/>
          </a:prstGeom>
          <a:noFill/>
          <a:ln w="14288">
            <a:solidFill>
              <a:srgbClr val="3B82F6">
                <a:alpha val="40000"/>
              </a:srgbClr>
            </a:solidFill>
          </a:ln>
        </p:spPr>
      </p:sp>
      <p:sp>
        <p:nvSpPr>
          <p:cNvPr id="10" name="Rectangle 10"/>
          <p:cNvSpPr/>
          <p:nvPr/>
        </p:nvSpPr>
        <p:spPr>
          <a:xfrm>
            <a:off x="1047750" y="1524000"/>
            <a:ext cx="1333500" cy="1333500"/>
          </a:xfrm>
          <a:prstGeom prst="roundRect">
            <a:avLst>
              <a:gd name="adj" fmla="val 8571"/>
            </a:avLst>
          </a:prstGeom>
          <a:solidFill>
            <a:srgbClr val="1E293B"/>
          </a:solidFill>
          <a:ln w="14288">
            <a:solidFill>
              <a:srgbClr val="3B82F6"/>
            </a:solidFill>
          </a:ln>
        </p:spPr>
      </p:sp>
      <p:sp>
        <p:nvSpPr>
          <p:cNvPr id="11" name="TextBox 11"/>
          <p:cNvSpPr txBox="1"/>
          <p:nvPr/>
        </p:nvSpPr>
        <p:spPr>
          <a:xfrm>
            <a:off x="1532004" y="1735931"/>
            <a:ext cx="364992" cy="228600"/>
          </a:xfrm>
          <a:prstGeom prst="rect">
            <a:avLst/>
          </a:prstGeom>
          <a:noFill/>
          <a:ln>
            <a:noFill/>
          </a:ln>
        </p:spPr>
        <p:txBody>
          <a:bodyPr wrap="none" lIns="0" tIns="0" rIns="0" bIns="0" anchor="t" anchorCtr="0">
            <a:spAutoFit/>
          </a:bodyPr>
          <a:lstStyle/>
          <a:p>
            <a:pPr algn="ctr"/>
            <a:r>
              <a:rPr lang="zh-CN" sz="1125" b="1" dirty="0">
                <a:solidFill>
                  <a:srgbClr val="3B82F6"/>
                </a:solidFill>
                <a:latin typeface="Georgia"/>
                <a:ea typeface="Microsoft YaHei"/>
                <a:cs typeface="Georgia"/>
              </a:rPr>
              <a:t>1847</a:t>
            </a:r>
          </a:p>
        </p:txBody>
      </p:sp>
      <p:sp>
        <p:nvSpPr>
          <p:cNvPr id="12" name="Line 12"/>
          <p:cNvSpPr/>
          <p:nvPr/>
        </p:nvSpPr>
        <p:spPr>
          <a:xfrm>
            <a:off x="1238250" y="1981200"/>
            <a:ext cx="952500" cy="9525"/>
          </a:xfrm>
          <a:custGeom>
            <a:avLst/>
            <a:gdLst/>
            <a:ahLst/>
            <a:cxnLst/>
            <a:rect l="l" t="t" r="r" b="b"/>
            <a:pathLst>
              <a:path w="952500" h="9525">
                <a:moveTo>
                  <a:pt x="0" y="0"/>
                </a:moveTo>
                <a:lnTo>
                  <a:pt x="952500" y="0"/>
                </a:lnTo>
              </a:path>
            </a:pathLst>
          </a:custGeom>
          <a:noFill/>
          <a:ln w="9525">
            <a:solidFill>
              <a:srgbClr val="334155"/>
            </a:solidFill>
          </a:ln>
        </p:spPr>
      </p:sp>
      <p:sp>
        <p:nvSpPr>
          <p:cNvPr id="13" name="TextBox 13"/>
          <p:cNvSpPr txBox="1"/>
          <p:nvPr/>
        </p:nvSpPr>
        <p:spPr>
          <a:xfrm>
            <a:off x="1455412" y="2104549"/>
            <a:ext cx="518177"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Cauchy</a:t>
            </a:r>
          </a:p>
        </p:txBody>
      </p:sp>
      <p:sp>
        <p:nvSpPr>
          <p:cNvPr id="14" name="TextBox 14"/>
          <p:cNvSpPr txBox="1"/>
          <p:nvPr/>
        </p:nvSpPr>
        <p:spPr>
          <a:xfrm>
            <a:off x="1430322" y="2331720"/>
            <a:ext cx="568357"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Invented</a:t>
            </a:r>
          </a:p>
        </p:txBody>
      </p:sp>
      <p:sp>
        <p:nvSpPr>
          <p:cNvPr id="15" name="TextBox 15"/>
          <p:cNvSpPr txBox="1"/>
          <p:nvPr/>
        </p:nvSpPr>
        <p:spPr>
          <a:xfrm>
            <a:off x="1157573" y="2493645"/>
            <a:ext cx="1113853"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gradient descent</a:t>
            </a:r>
          </a:p>
        </p:txBody>
      </p:sp>
      <p:sp>
        <p:nvSpPr>
          <p:cNvPr id="16" name="Line 16"/>
          <p:cNvSpPr/>
          <p:nvPr/>
        </p:nvSpPr>
        <p:spPr>
          <a:xfrm>
            <a:off x="1714500" y="2857500"/>
            <a:ext cx="9525" cy="247650"/>
          </a:xfrm>
          <a:custGeom>
            <a:avLst/>
            <a:gdLst/>
            <a:ahLst/>
            <a:cxnLst/>
            <a:rect l="l" t="t" r="r" b="b"/>
            <a:pathLst>
              <a:path w="9525" h="247650">
                <a:moveTo>
                  <a:pt x="0" y="0"/>
                </a:moveTo>
                <a:lnTo>
                  <a:pt x="0" y="247650"/>
                </a:lnTo>
              </a:path>
            </a:pathLst>
          </a:custGeom>
          <a:noFill/>
          <a:ln w="9525">
            <a:solidFill>
              <a:srgbClr val="3B82F6"/>
            </a:solidFill>
            <a:custDash>
              <a:ds d="300000" sp="300000"/>
            </a:custDash>
          </a:ln>
        </p:spPr>
      </p:sp>
      <p:sp>
        <p:nvSpPr>
          <p:cNvPr id="17" name="Ellipse 17"/>
          <p:cNvSpPr/>
          <p:nvPr/>
        </p:nvSpPr>
        <p:spPr>
          <a:xfrm>
            <a:off x="3733800" y="3162300"/>
            <a:ext cx="152400" cy="152400"/>
          </a:xfrm>
          <a:prstGeom prst="ellipse">
            <a:avLst/>
          </a:prstGeom>
          <a:solidFill>
            <a:srgbClr val="22D3EE"/>
          </a:solidFill>
          <a:ln w="28575">
            <a:solidFill>
              <a:srgbClr val="0F172A"/>
            </a:solidFill>
          </a:ln>
        </p:spPr>
      </p:sp>
      <p:sp>
        <p:nvSpPr>
          <p:cNvPr id="18" name="Ellipse 18"/>
          <p:cNvSpPr/>
          <p:nvPr/>
        </p:nvSpPr>
        <p:spPr>
          <a:xfrm>
            <a:off x="3676650" y="3105150"/>
            <a:ext cx="266700" cy="266700"/>
          </a:xfrm>
          <a:prstGeom prst="ellipse">
            <a:avLst/>
          </a:prstGeom>
          <a:noFill/>
          <a:ln w="14288">
            <a:solidFill>
              <a:srgbClr val="22D3EE">
                <a:alpha val="40000"/>
              </a:srgbClr>
            </a:solidFill>
          </a:ln>
        </p:spPr>
      </p:sp>
      <p:sp>
        <p:nvSpPr>
          <p:cNvPr id="19" name="Rectangle 19"/>
          <p:cNvSpPr/>
          <p:nvPr/>
        </p:nvSpPr>
        <p:spPr>
          <a:xfrm>
            <a:off x="3143250" y="3619500"/>
            <a:ext cx="1333500" cy="1333500"/>
          </a:xfrm>
          <a:prstGeom prst="roundRect">
            <a:avLst>
              <a:gd name="adj" fmla="val 8571"/>
            </a:avLst>
          </a:prstGeom>
          <a:solidFill>
            <a:srgbClr val="1E293B"/>
          </a:solidFill>
          <a:ln w="14288">
            <a:solidFill>
              <a:srgbClr val="22D3EE"/>
            </a:solidFill>
          </a:ln>
        </p:spPr>
      </p:sp>
      <p:sp>
        <p:nvSpPr>
          <p:cNvPr id="20" name="TextBox 20"/>
          <p:cNvSpPr txBox="1"/>
          <p:nvPr/>
        </p:nvSpPr>
        <p:spPr>
          <a:xfrm>
            <a:off x="3580061" y="3831431"/>
            <a:ext cx="459879" cy="228600"/>
          </a:xfrm>
          <a:prstGeom prst="rect">
            <a:avLst/>
          </a:prstGeom>
          <a:noFill/>
          <a:ln>
            <a:noFill/>
          </a:ln>
        </p:spPr>
        <p:txBody>
          <a:bodyPr wrap="none" lIns="0" tIns="0" rIns="0" bIns="0" anchor="t" anchorCtr="0">
            <a:spAutoFit/>
          </a:bodyPr>
          <a:lstStyle/>
          <a:p>
            <a:pPr algn="ctr"/>
            <a:r>
              <a:rPr lang="zh-CN" sz="1125" b="1" dirty="0">
                <a:solidFill>
                  <a:srgbClr val="22D3EE"/>
                </a:solidFill>
                <a:latin typeface="Georgia"/>
                <a:ea typeface="Microsoft YaHei"/>
                <a:cs typeface="Georgia"/>
              </a:rPr>
              <a:t>1960s</a:t>
            </a:r>
          </a:p>
        </p:txBody>
      </p:sp>
      <p:sp>
        <p:nvSpPr>
          <p:cNvPr id="21" name="Line 21"/>
          <p:cNvSpPr/>
          <p:nvPr/>
        </p:nvSpPr>
        <p:spPr>
          <a:xfrm>
            <a:off x="3333750" y="4076700"/>
            <a:ext cx="952500" cy="9525"/>
          </a:xfrm>
          <a:custGeom>
            <a:avLst/>
            <a:gdLst/>
            <a:ahLst/>
            <a:cxnLst/>
            <a:rect l="l" t="t" r="r" b="b"/>
            <a:pathLst>
              <a:path w="952500" h="9525">
                <a:moveTo>
                  <a:pt x="0" y="0"/>
                </a:moveTo>
                <a:lnTo>
                  <a:pt x="952500" y="0"/>
                </a:lnTo>
              </a:path>
            </a:pathLst>
          </a:custGeom>
          <a:noFill/>
          <a:ln w="9525">
            <a:solidFill>
              <a:srgbClr val="334155"/>
            </a:solidFill>
          </a:ln>
        </p:spPr>
      </p:sp>
      <p:sp>
        <p:nvSpPr>
          <p:cNvPr id="22" name="TextBox 22"/>
          <p:cNvSpPr txBox="1"/>
          <p:nvPr/>
        </p:nvSpPr>
        <p:spPr>
          <a:xfrm>
            <a:off x="3506056" y="4200049"/>
            <a:ext cx="607888"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Early AD</a:t>
            </a:r>
          </a:p>
        </p:txBody>
      </p:sp>
      <p:sp>
        <p:nvSpPr>
          <p:cNvPr id="23" name="TextBox 23"/>
          <p:cNvSpPr txBox="1"/>
          <p:nvPr/>
        </p:nvSpPr>
        <p:spPr>
          <a:xfrm>
            <a:off x="3476530" y="4427220"/>
            <a:ext cx="666941"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Automatic</a:t>
            </a:r>
          </a:p>
        </p:txBody>
      </p:sp>
      <p:sp>
        <p:nvSpPr>
          <p:cNvPr id="24" name="TextBox 24"/>
          <p:cNvSpPr txBox="1"/>
          <p:nvPr/>
        </p:nvSpPr>
        <p:spPr>
          <a:xfrm>
            <a:off x="3305651" y="4589145"/>
            <a:ext cx="1008697"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differentiation</a:t>
            </a:r>
          </a:p>
        </p:txBody>
      </p:sp>
      <p:sp>
        <p:nvSpPr>
          <p:cNvPr id="25" name="Line 25"/>
          <p:cNvSpPr/>
          <p:nvPr/>
        </p:nvSpPr>
        <p:spPr>
          <a:xfrm>
            <a:off x="3810000" y="3371850"/>
            <a:ext cx="9525" cy="247650"/>
          </a:xfrm>
          <a:custGeom>
            <a:avLst/>
            <a:gdLst/>
            <a:ahLst/>
            <a:cxnLst/>
            <a:rect l="l" t="t" r="r" b="b"/>
            <a:pathLst>
              <a:path w="9525" h="247650">
                <a:moveTo>
                  <a:pt x="0" y="0"/>
                </a:moveTo>
                <a:lnTo>
                  <a:pt x="0" y="247650"/>
                </a:lnTo>
              </a:path>
            </a:pathLst>
          </a:custGeom>
          <a:noFill/>
          <a:ln w="9525">
            <a:solidFill>
              <a:srgbClr val="22D3EE"/>
            </a:solidFill>
            <a:custDash>
              <a:ds d="300000" sp="300000"/>
            </a:custDash>
          </a:ln>
        </p:spPr>
      </p:sp>
      <p:sp>
        <p:nvSpPr>
          <p:cNvPr id="26" name="Ellipse 26"/>
          <p:cNvSpPr/>
          <p:nvPr/>
        </p:nvSpPr>
        <p:spPr>
          <a:xfrm>
            <a:off x="5829300" y="3162300"/>
            <a:ext cx="152400" cy="152400"/>
          </a:xfrm>
          <a:prstGeom prst="ellipse">
            <a:avLst/>
          </a:prstGeom>
          <a:solidFill>
            <a:srgbClr val="8B5CF6"/>
          </a:solidFill>
          <a:ln w="28575">
            <a:solidFill>
              <a:srgbClr val="0F172A"/>
            </a:solidFill>
          </a:ln>
        </p:spPr>
      </p:sp>
      <p:sp>
        <p:nvSpPr>
          <p:cNvPr id="27" name="Ellipse 27"/>
          <p:cNvSpPr/>
          <p:nvPr/>
        </p:nvSpPr>
        <p:spPr>
          <a:xfrm>
            <a:off x="5772150" y="3105150"/>
            <a:ext cx="266700" cy="266700"/>
          </a:xfrm>
          <a:prstGeom prst="ellipse">
            <a:avLst/>
          </a:prstGeom>
          <a:noFill/>
          <a:ln w="14288">
            <a:solidFill>
              <a:srgbClr val="8B5CF6">
                <a:alpha val="40000"/>
              </a:srgbClr>
            </a:solidFill>
          </a:ln>
        </p:spPr>
      </p:sp>
      <p:sp>
        <p:nvSpPr>
          <p:cNvPr id="28" name="Rectangle 28"/>
          <p:cNvSpPr/>
          <p:nvPr/>
        </p:nvSpPr>
        <p:spPr>
          <a:xfrm>
            <a:off x="5191125" y="1524000"/>
            <a:ext cx="1428750" cy="1333500"/>
          </a:xfrm>
          <a:prstGeom prst="roundRect">
            <a:avLst>
              <a:gd name="adj" fmla="val 8571"/>
            </a:avLst>
          </a:prstGeom>
          <a:solidFill>
            <a:srgbClr val="1E293B"/>
          </a:solidFill>
          <a:ln w="14288">
            <a:solidFill>
              <a:srgbClr val="8B5CF6"/>
            </a:solidFill>
          </a:ln>
        </p:spPr>
      </p:sp>
      <p:sp>
        <p:nvSpPr>
          <p:cNvPr id="29" name="TextBox 29"/>
          <p:cNvSpPr txBox="1"/>
          <p:nvPr/>
        </p:nvSpPr>
        <p:spPr>
          <a:xfrm>
            <a:off x="5723004" y="1735931"/>
            <a:ext cx="364992" cy="228600"/>
          </a:xfrm>
          <a:prstGeom prst="rect">
            <a:avLst/>
          </a:prstGeom>
          <a:noFill/>
          <a:ln>
            <a:noFill/>
          </a:ln>
        </p:spPr>
        <p:txBody>
          <a:bodyPr wrap="none" lIns="0" tIns="0" rIns="0" bIns="0" anchor="t" anchorCtr="0">
            <a:spAutoFit/>
          </a:bodyPr>
          <a:lstStyle/>
          <a:p>
            <a:pPr algn="ctr"/>
            <a:r>
              <a:rPr lang="zh-CN" sz="1125" b="1" dirty="0">
                <a:solidFill>
                  <a:srgbClr val="8B5CF6"/>
                </a:solidFill>
                <a:latin typeface="Georgia"/>
                <a:ea typeface="Microsoft YaHei"/>
                <a:cs typeface="Georgia"/>
              </a:rPr>
              <a:t>1970</a:t>
            </a:r>
          </a:p>
        </p:txBody>
      </p:sp>
      <p:sp>
        <p:nvSpPr>
          <p:cNvPr id="30" name="Line 30"/>
          <p:cNvSpPr/>
          <p:nvPr/>
        </p:nvSpPr>
        <p:spPr>
          <a:xfrm>
            <a:off x="5381625" y="1981200"/>
            <a:ext cx="1047750" cy="9525"/>
          </a:xfrm>
          <a:custGeom>
            <a:avLst/>
            <a:gdLst/>
            <a:ahLst/>
            <a:cxnLst/>
            <a:rect l="l" t="t" r="r" b="b"/>
            <a:pathLst>
              <a:path w="1047750" h="9525">
                <a:moveTo>
                  <a:pt x="0" y="0"/>
                </a:moveTo>
                <a:lnTo>
                  <a:pt x="1047750" y="0"/>
                </a:lnTo>
              </a:path>
            </a:pathLst>
          </a:custGeom>
          <a:noFill/>
          <a:ln w="9525">
            <a:solidFill>
              <a:srgbClr val="334155"/>
            </a:solidFill>
          </a:ln>
        </p:spPr>
      </p:sp>
      <p:sp>
        <p:nvSpPr>
          <p:cNvPr id="31" name="TextBox 31"/>
          <p:cNvSpPr txBox="1"/>
          <p:nvPr/>
        </p:nvSpPr>
        <p:spPr>
          <a:xfrm>
            <a:off x="5504369" y="2104549"/>
            <a:ext cx="802262"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Linnainmaa</a:t>
            </a:r>
          </a:p>
        </p:txBody>
      </p:sp>
      <p:sp>
        <p:nvSpPr>
          <p:cNvPr id="32" name="TextBox 32"/>
          <p:cNvSpPr txBox="1"/>
          <p:nvPr/>
        </p:nvSpPr>
        <p:spPr>
          <a:xfrm>
            <a:off x="5463588" y="2331720"/>
            <a:ext cx="883825"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Reverse mode</a:t>
            </a:r>
          </a:p>
        </p:txBody>
      </p:sp>
      <p:sp>
        <p:nvSpPr>
          <p:cNvPr id="33" name="TextBox 33"/>
          <p:cNvSpPr txBox="1"/>
          <p:nvPr/>
        </p:nvSpPr>
        <p:spPr>
          <a:xfrm>
            <a:off x="5236845" y="2493645"/>
            <a:ext cx="1337310"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auto differentiation</a:t>
            </a:r>
          </a:p>
        </p:txBody>
      </p:sp>
      <p:sp>
        <p:nvSpPr>
          <p:cNvPr id="34" name="Line 34"/>
          <p:cNvSpPr/>
          <p:nvPr/>
        </p:nvSpPr>
        <p:spPr>
          <a:xfrm>
            <a:off x="5905500" y="2857500"/>
            <a:ext cx="9525" cy="247650"/>
          </a:xfrm>
          <a:custGeom>
            <a:avLst/>
            <a:gdLst/>
            <a:ahLst/>
            <a:cxnLst/>
            <a:rect l="l" t="t" r="r" b="b"/>
            <a:pathLst>
              <a:path w="9525" h="247650">
                <a:moveTo>
                  <a:pt x="0" y="0"/>
                </a:moveTo>
                <a:lnTo>
                  <a:pt x="0" y="247650"/>
                </a:lnTo>
              </a:path>
            </a:pathLst>
          </a:custGeom>
          <a:noFill/>
          <a:ln w="9525">
            <a:solidFill>
              <a:srgbClr val="8B5CF6"/>
            </a:solidFill>
            <a:custDash>
              <a:ds d="300000" sp="300000"/>
            </a:custDash>
          </a:ln>
        </p:spPr>
      </p:sp>
      <p:sp>
        <p:nvSpPr>
          <p:cNvPr id="35" name="Ellipse 35"/>
          <p:cNvSpPr/>
          <p:nvPr/>
        </p:nvSpPr>
        <p:spPr>
          <a:xfrm>
            <a:off x="7924800" y="3162300"/>
            <a:ext cx="152400" cy="152400"/>
          </a:xfrm>
          <a:prstGeom prst="ellipse">
            <a:avLst/>
          </a:prstGeom>
          <a:solidFill>
            <a:srgbClr val="F59E0B"/>
          </a:solidFill>
          <a:ln w="28575">
            <a:solidFill>
              <a:srgbClr val="0F172A"/>
            </a:solidFill>
          </a:ln>
        </p:spPr>
      </p:sp>
      <p:sp>
        <p:nvSpPr>
          <p:cNvPr id="36" name="Ellipse 36"/>
          <p:cNvSpPr/>
          <p:nvPr/>
        </p:nvSpPr>
        <p:spPr>
          <a:xfrm>
            <a:off x="7867650" y="3105150"/>
            <a:ext cx="266700" cy="266700"/>
          </a:xfrm>
          <a:prstGeom prst="ellipse">
            <a:avLst/>
          </a:prstGeom>
          <a:noFill/>
          <a:ln w="14288">
            <a:solidFill>
              <a:srgbClr val="F59E0B">
                <a:alpha val="40000"/>
              </a:srgbClr>
            </a:solidFill>
          </a:ln>
        </p:spPr>
      </p:sp>
      <p:sp>
        <p:nvSpPr>
          <p:cNvPr id="37" name="Rectangle 37"/>
          <p:cNvSpPr/>
          <p:nvPr/>
        </p:nvSpPr>
        <p:spPr>
          <a:xfrm>
            <a:off x="7191375" y="3619500"/>
            <a:ext cx="1619250" cy="1524000"/>
          </a:xfrm>
          <a:prstGeom prst="roundRect">
            <a:avLst>
              <a:gd name="adj" fmla="val 7500"/>
            </a:avLst>
          </a:prstGeom>
          <a:solidFill>
            <a:srgbClr val="1E293B"/>
          </a:solidFill>
          <a:ln w="14288">
            <a:solidFill>
              <a:srgbClr val="F59E0B"/>
            </a:solidFill>
          </a:ln>
        </p:spPr>
      </p:sp>
      <p:sp>
        <p:nvSpPr>
          <p:cNvPr id="38" name="TextBox 38"/>
          <p:cNvSpPr txBox="1"/>
          <p:nvPr/>
        </p:nvSpPr>
        <p:spPr>
          <a:xfrm>
            <a:off x="7818504" y="3831431"/>
            <a:ext cx="364992" cy="228600"/>
          </a:xfrm>
          <a:prstGeom prst="rect">
            <a:avLst/>
          </a:prstGeom>
          <a:noFill/>
          <a:ln>
            <a:noFill/>
          </a:ln>
        </p:spPr>
        <p:txBody>
          <a:bodyPr wrap="none" lIns="0" tIns="0" rIns="0" bIns="0" anchor="t" anchorCtr="0">
            <a:spAutoFit/>
          </a:bodyPr>
          <a:lstStyle/>
          <a:p>
            <a:pPr algn="ctr"/>
            <a:r>
              <a:rPr lang="zh-CN" sz="1125" b="1" dirty="0">
                <a:solidFill>
                  <a:srgbClr val="F59E0B"/>
                </a:solidFill>
                <a:latin typeface="Georgia"/>
                <a:ea typeface="Microsoft YaHei"/>
                <a:cs typeface="Georgia"/>
              </a:rPr>
              <a:t>1986</a:t>
            </a:r>
          </a:p>
        </p:txBody>
      </p:sp>
      <p:sp>
        <p:nvSpPr>
          <p:cNvPr id="39" name="Line 39"/>
          <p:cNvSpPr/>
          <p:nvPr/>
        </p:nvSpPr>
        <p:spPr>
          <a:xfrm>
            <a:off x="7381875" y="4076700"/>
            <a:ext cx="1238250" cy="9525"/>
          </a:xfrm>
          <a:custGeom>
            <a:avLst/>
            <a:gdLst/>
            <a:ahLst/>
            <a:cxnLst/>
            <a:rect l="l" t="t" r="r" b="b"/>
            <a:pathLst>
              <a:path w="1238250" h="9525">
                <a:moveTo>
                  <a:pt x="0" y="0"/>
                </a:moveTo>
                <a:lnTo>
                  <a:pt x="1238250" y="0"/>
                </a:lnTo>
              </a:path>
            </a:pathLst>
          </a:custGeom>
          <a:noFill/>
          <a:ln w="9525">
            <a:solidFill>
              <a:srgbClr val="334155"/>
            </a:solidFill>
          </a:ln>
        </p:spPr>
      </p:sp>
      <p:sp>
        <p:nvSpPr>
          <p:cNvPr id="40" name="TextBox 40"/>
          <p:cNvSpPr txBox="1"/>
          <p:nvPr/>
        </p:nvSpPr>
        <p:spPr>
          <a:xfrm>
            <a:off x="7330735" y="4200049"/>
            <a:ext cx="1340529"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Rumelhart, Hinton</a:t>
            </a:r>
          </a:p>
        </p:txBody>
      </p:sp>
      <p:sp>
        <p:nvSpPr>
          <p:cNvPr id="41" name="TextBox 41"/>
          <p:cNvSpPr txBox="1"/>
          <p:nvPr/>
        </p:nvSpPr>
        <p:spPr>
          <a:xfrm>
            <a:off x="7640987" y="4371499"/>
            <a:ext cx="720027"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&amp; Williams</a:t>
            </a:r>
          </a:p>
        </p:txBody>
      </p:sp>
      <p:sp>
        <p:nvSpPr>
          <p:cNvPr id="42" name="TextBox 42"/>
          <p:cNvSpPr txBox="1"/>
          <p:nvPr/>
        </p:nvSpPr>
        <p:spPr>
          <a:xfrm>
            <a:off x="7404640" y="4627245"/>
            <a:ext cx="1192720"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Popularized BP for</a:t>
            </a:r>
          </a:p>
        </p:txBody>
      </p:sp>
      <p:sp>
        <p:nvSpPr>
          <p:cNvPr id="43" name="TextBox 43"/>
          <p:cNvSpPr txBox="1"/>
          <p:nvPr/>
        </p:nvSpPr>
        <p:spPr>
          <a:xfrm>
            <a:off x="7467076" y="4789170"/>
            <a:ext cx="1067848"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neural networks</a:t>
            </a:r>
          </a:p>
        </p:txBody>
      </p:sp>
      <p:sp>
        <p:nvSpPr>
          <p:cNvPr id="44" name="Line 44"/>
          <p:cNvSpPr/>
          <p:nvPr/>
        </p:nvSpPr>
        <p:spPr>
          <a:xfrm>
            <a:off x="8001000" y="3371850"/>
            <a:ext cx="9525" cy="247650"/>
          </a:xfrm>
          <a:custGeom>
            <a:avLst/>
            <a:gdLst/>
            <a:ahLst/>
            <a:cxnLst/>
            <a:rect l="l" t="t" r="r" b="b"/>
            <a:pathLst>
              <a:path w="9525" h="247650">
                <a:moveTo>
                  <a:pt x="0" y="0"/>
                </a:moveTo>
                <a:lnTo>
                  <a:pt x="0" y="247650"/>
                </a:lnTo>
              </a:path>
            </a:pathLst>
          </a:custGeom>
          <a:noFill/>
          <a:ln w="9525">
            <a:solidFill>
              <a:srgbClr val="F59E0B"/>
            </a:solidFill>
            <a:custDash>
              <a:ds d="300000" sp="300000"/>
            </a:custDash>
          </a:ln>
        </p:spPr>
      </p:sp>
      <p:sp>
        <p:nvSpPr>
          <p:cNvPr id="45" name="Ellipse 45"/>
          <p:cNvSpPr/>
          <p:nvPr/>
        </p:nvSpPr>
        <p:spPr>
          <a:xfrm>
            <a:off x="10020300" y="3162300"/>
            <a:ext cx="152400" cy="152400"/>
          </a:xfrm>
          <a:prstGeom prst="ellipse">
            <a:avLst/>
          </a:prstGeom>
          <a:solidFill>
            <a:srgbClr val="10B981"/>
          </a:solidFill>
          <a:ln w="28575">
            <a:solidFill>
              <a:srgbClr val="0F172A"/>
            </a:solidFill>
          </a:ln>
        </p:spPr>
      </p:sp>
      <p:sp>
        <p:nvSpPr>
          <p:cNvPr id="46" name="Ellipse 46"/>
          <p:cNvSpPr/>
          <p:nvPr/>
        </p:nvSpPr>
        <p:spPr>
          <a:xfrm>
            <a:off x="9963150" y="3105150"/>
            <a:ext cx="266700" cy="266700"/>
          </a:xfrm>
          <a:prstGeom prst="ellipse">
            <a:avLst/>
          </a:prstGeom>
          <a:noFill/>
          <a:ln w="14288">
            <a:solidFill>
              <a:srgbClr val="10B981">
                <a:alpha val="40000"/>
              </a:srgbClr>
            </a:solidFill>
          </a:ln>
        </p:spPr>
      </p:sp>
      <p:sp>
        <p:nvSpPr>
          <p:cNvPr id="47" name="Rectangle 47"/>
          <p:cNvSpPr/>
          <p:nvPr/>
        </p:nvSpPr>
        <p:spPr>
          <a:xfrm>
            <a:off x="9382125" y="1524000"/>
            <a:ext cx="1428750" cy="1333500"/>
          </a:xfrm>
          <a:prstGeom prst="roundRect">
            <a:avLst>
              <a:gd name="adj" fmla="val 8571"/>
            </a:avLst>
          </a:prstGeom>
          <a:solidFill>
            <a:srgbClr val="1E293B"/>
          </a:solidFill>
          <a:ln w="14288">
            <a:solidFill>
              <a:srgbClr val="10B981"/>
            </a:solidFill>
          </a:ln>
        </p:spPr>
      </p:sp>
      <p:sp>
        <p:nvSpPr>
          <p:cNvPr id="48" name="TextBox 48"/>
          <p:cNvSpPr txBox="1"/>
          <p:nvPr/>
        </p:nvSpPr>
        <p:spPr>
          <a:xfrm>
            <a:off x="9797552" y="1735931"/>
            <a:ext cx="597896" cy="228600"/>
          </a:xfrm>
          <a:prstGeom prst="rect">
            <a:avLst/>
          </a:prstGeom>
          <a:noFill/>
          <a:ln>
            <a:noFill/>
          </a:ln>
        </p:spPr>
        <p:txBody>
          <a:bodyPr wrap="none" lIns="0" tIns="0" rIns="0" bIns="0" anchor="t" anchorCtr="0">
            <a:spAutoFit/>
          </a:bodyPr>
          <a:lstStyle/>
          <a:p>
            <a:pPr algn="ctr"/>
            <a:r>
              <a:rPr lang="zh-CN" sz="1125" b="1" dirty="0">
                <a:solidFill>
                  <a:srgbClr val="10B981"/>
                </a:solidFill>
                <a:latin typeface="Georgia"/>
                <a:ea typeface="Microsoft YaHei"/>
                <a:cs typeface="Georgia"/>
              </a:rPr>
              <a:t>2000s+</a:t>
            </a:r>
          </a:p>
        </p:txBody>
      </p:sp>
      <p:sp>
        <p:nvSpPr>
          <p:cNvPr id="49" name="Line 49"/>
          <p:cNvSpPr/>
          <p:nvPr/>
        </p:nvSpPr>
        <p:spPr>
          <a:xfrm>
            <a:off x="9572625" y="1981200"/>
            <a:ext cx="1047750" cy="9525"/>
          </a:xfrm>
          <a:custGeom>
            <a:avLst/>
            <a:gdLst/>
            <a:ahLst/>
            <a:cxnLst/>
            <a:rect l="l" t="t" r="r" b="b"/>
            <a:pathLst>
              <a:path w="1047750" h="9525">
                <a:moveTo>
                  <a:pt x="0" y="0"/>
                </a:moveTo>
                <a:lnTo>
                  <a:pt x="1047750" y="0"/>
                </a:lnTo>
              </a:path>
            </a:pathLst>
          </a:custGeom>
          <a:noFill/>
          <a:ln w="9525">
            <a:solidFill>
              <a:srgbClr val="334155"/>
            </a:solidFill>
          </a:ln>
        </p:spPr>
      </p:sp>
      <p:sp>
        <p:nvSpPr>
          <p:cNvPr id="50" name="TextBox 50"/>
          <p:cNvSpPr txBox="1"/>
          <p:nvPr/>
        </p:nvSpPr>
        <p:spPr>
          <a:xfrm>
            <a:off x="9586968" y="2104549"/>
            <a:ext cx="1019064" cy="198120"/>
          </a:xfrm>
          <a:prstGeom prst="rect">
            <a:avLst/>
          </a:prstGeom>
          <a:noFill/>
          <a:ln>
            <a:noFill/>
          </a:ln>
        </p:spPr>
        <p:txBody>
          <a:bodyPr wrap="none" lIns="0" tIns="0" rIns="0" bIns="0" anchor="t" anchorCtr="0">
            <a:spAutoFit/>
          </a:bodyPr>
          <a:lstStyle/>
          <a:p>
            <a:pPr algn="ctr"/>
            <a:r>
              <a:rPr lang="zh-CN" sz="975" b="1" dirty="0">
                <a:solidFill>
                  <a:srgbClr val="F1F5F9"/>
                </a:solidFill>
                <a:latin typeface="Georgia"/>
                <a:ea typeface="Microsoft YaHei"/>
                <a:cs typeface="Georgia"/>
              </a:rPr>
              <a:t>Deep Learning</a:t>
            </a:r>
          </a:p>
        </p:txBody>
      </p:sp>
      <p:sp>
        <p:nvSpPr>
          <p:cNvPr id="51" name="TextBox 51"/>
          <p:cNvSpPr txBox="1"/>
          <p:nvPr/>
        </p:nvSpPr>
        <p:spPr>
          <a:xfrm>
            <a:off x="9605296" y="2331720"/>
            <a:ext cx="982408"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Revolution in AI</a:t>
            </a:r>
          </a:p>
        </p:txBody>
      </p:sp>
      <p:sp>
        <p:nvSpPr>
          <p:cNvPr id="52" name="TextBox 52"/>
          <p:cNvSpPr txBox="1"/>
          <p:nvPr/>
        </p:nvSpPr>
        <p:spPr>
          <a:xfrm>
            <a:off x="9634871" y="2493645"/>
            <a:ext cx="923258" cy="182880"/>
          </a:xfrm>
          <a:prstGeom prst="rect">
            <a:avLst/>
          </a:prstGeom>
          <a:noFill/>
          <a:ln>
            <a:noFill/>
          </a:ln>
        </p:spPr>
        <p:txBody>
          <a:bodyPr wrap="none" lIns="0" tIns="0" rIns="0" bIns="0" anchor="t" anchorCtr="0">
            <a:spAutoFit/>
          </a:bodyPr>
          <a:lstStyle/>
          <a:p>
            <a:pPr algn="ctr"/>
            <a:r>
              <a:rPr lang="zh-CN" sz="900" dirty="0">
                <a:solidFill>
                  <a:srgbClr val="94A3B8"/>
                </a:solidFill>
                <a:latin typeface="Arial"/>
                <a:ea typeface="Microsoft YaHei"/>
                <a:cs typeface="Arial"/>
              </a:rPr>
              <a:t>powered by BP</a:t>
            </a:r>
          </a:p>
        </p:txBody>
      </p:sp>
      <p:sp>
        <p:nvSpPr>
          <p:cNvPr id="53" name="Line 53"/>
          <p:cNvSpPr/>
          <p:nvPr/>
        </p:nvSpPr>
        <p:spPr>
          <a:xfrm>
            <a:off x="10096500" y="2857500"/>
            <a:ext cx="9525" cy="247650"/>
          </a:xfrm>
          <a:custGeom>
            <a:avLst/>
            <a:gdLst/>
            <a:ahLst/>
            <a:cxnLst/>
            <a:rect l="l" t="t" r="r" b="b"/>
            <a:pathLst>
              <a:path w="9525" h="247650">
                <a:moveTo>
                  <a:pt x="0" y="0"/>
                </a:moveTo>
                <a:lnTo>
                  <a:pt x="0" y="247650"/>
                </a:lnTo>
              </a:path>
            </a:pathLst>
          </a:custGeom>
          <a:noFill/>
          <a:ln w="9525">
            <a:solidFill>
              <a:srgbClr val="10B981"/>
            </a:solidFill>
            <a:custDash>
              <a:ds d="300000" sp="300000"/>
            </a:custDash>
          </a:ln>
        </p:spPr>
      </p:sp>
      <p:sp>
        <p:nvSpPr>
          <p:cNvPr id="54" name="Rectangle 54"/>
          <p:cNvSpPr/>
          <p:nvPr/>
        </p:nvSpPr>
        <p:spPr>
          <a:xfrm>
            <a:off x="571500" y="5524500"/>
            <a:ext cx="11049000" cy="762000"/>
          </a:xfrm>
          <a:prstGeom prst="roundRect">
            <a:avLst>
              <a:gd name="adj" fmla="val 15000"/>
            </a:avLst>
          </a:prstGeom>
          <a:solidFill>
            <a:srgbClr val="1E293B"/>
          </a:solidFill>
          <a:ln w="9525">
            <a:solidFill>
              <a:srgbClr val="334155"/>
            </a:solidFill>
          </a:ln>
        </p:spPr>
      </p:sp>
      <p:sp>
        <p:nvSpPr>
          <p:cNvPr id="55" name="TextBox 55"/>
          <p:cNvSpPr txBox="1"/>
          <p:nvPr/>
        </p:nvSpPr>
        <p:spPr>
          <a:xfrm>
            <a:off x="4107113" y="5756910"/>
            <a:ext cx="3977773" cy="243840"/>
          </a:xfrm>
          <a:prstGeom prst="rect">
            <a:avLst/>
          </a:prstGeom>
          <a:noFill/>
          <a:ln>
            <a:noFill/>
          </a:ln>
        </p:spPr>
        <p:txBody>
          <a:bodyPr wrap="none" lIns="0" tIns="0" rIns="0" bIns="0" anchor="t" anchorCtr="0">
            <a:spAutoFit/>
          </a:bodyPr>
          <a:lstStyle/>
          <a:p>
            <a:pPr algn="ctr"/>
            <a:r>
              <a:rPr lang="zh-CN" sz="1200" b="1" dirty="0">
                <a:gradFill>
                  <a:gsLst>
                    <a:gs pos="0">
                      <a:srgbClr val="3B82F6"/>
                    </a:gs>
                    <a:gs pos="100000">
                      <a:srgbClr val="22D3EE"/>
                    </a:gs>
                  </a:gsLst>
                  <a:lin ang="0" scaled="1"/>
                </a:gradFill>
                <a:latin typeface="Georgia"/>
                <a:ea typeface="Microsoft YaHei"/>
                <a:cs typeface="Georgia"/>
              </a:rPr>
              <a:t>Over 170 Years of Mathematical Foundations</a:t>
            </a:r>
          </a:p>
        </p:txBody>
      </p:sp>
      <p:sp>
        <p:nvSpPr>
          <p:cNvPr id="56" name="TextBox 56"/>
          <p:cNvSpPr txBox="1"/>
          <p:nvPr/>
        </p:nvSpPr>
        <p:spPr>
          <a:xfrm>
            <a:off x="1531930" y="6020752"/>
            <a:ext cx="9128141" cy="213360"/>
          </a:xfrm>
          <a:prstGeom prst="rect">
            <a:avLst/>
          </a:prstGeom>
          <a:noFill/>
          <a:ln>
            <a:noFill/>
          </a:ln>
        </p:spPr>
        <p:txBody>
          <a:bodyPr wrap="none" lIns="0" tIns="0" rIns="0" bIns="0" anchor="t" anchorCtr="0">
            <a:spAutoFit/>
          </a:bodyPr>
          <a:lstStyle/>
          <a:p>
            <a:pPr algn="ctr"/>
            <a:r>
              <a:rPr lang="zh-CN" sz="1050" dirty="0">
                <a:solidFill>
                  <a:srgbClr val="94A3B8"/>
                </a:solidFill>
                <a:latin typeface="Arial"/>
                <a:ea typeface="Microsoft YaHei"/>
                <a:cs typeface="Arial"/>
              </a:rPr>
              <a:t>From Cauchy's gradient descent to modern deep learning, backpropagation stands on centuries of mathematical progress</a:t>
            </a:r>
          </a:p>
        </p:txBody>
      </p:sp>
      <p:sp>
        <p:nvSpPr>
          <p:cNvPr id="57" name="TextBox 57"/>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19</a:t>
            </a:r>
          </a:p>
        </p:txBody>
      </p:sp>
      <p:pic>
        <p:nvPicPr>
          <p:cNvPr id="58" name="narration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3732">
    <p:fade/>
  </p:transition>
  <p:timing>
    <p:tnLst>
      <p:par>
        <p:cTn id="1" dur="indefinite" restart="never" nodeType="tmRoot">
          <p:childTnLst>
            <p:audio>
              <p:cMediaNode vol="80000">
                <p:cTn id="2" fill="hold" display="0">
                  <p:stCondLst>
                    <p:cond delay="0"/>
                  </p:stCondLst>
                </p:cTn>
                <p:tgtEl>
                  <p:spTgt spid="58"/>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582787" y="659630"/>
            <a:ext cx="263046" cy="250702"/>
          </a:xfrm>
          <a:custGeom>
            <a:avLst/>
            <a:gdLst/>
            <a:ahLst/>
            <a:cxnLst/>
            <a:rect l="l" t="t" r="r" b="b"/>
            <a:pathLst>
              <a:path w="263046" h="250702">
                <a:moveTo>
                  <a:pt x="86856" y="75461"/>
                </a:moveTo>
                <a:lnTo>
                  <a:pt x="10895" y="86475"/>
                </a:lnTo>
                <a:lnTo>
                  <a:pt x="9549" y="86749"/>
                </a:lnTo>
                <a:cubicBezTo>
                  <a:pt x="5403" y="87849"/>
                  <a:pt x="2169" y="91096"/>
                  <a:pt x="1085" y="95246"/>
                </a:cubicBezTo>
                <a:cubicBezTo>
                  <a:pt x="0" y="99397"/>
                  <a:pt x="1232" y="103810"/>
                  <a:pt x="4310" y="106799"/>
                </a:cubicBezTo>
                <a:lnTo>
                  <a:pt x="59341" y="160365"/>
                </a:lnTo>
                <a:lnTo>
                  <a:pt x="46363" y="236029"/>
                </a:lnTo>
                <a:lnTo>
                  <a:pt x="46208" y="237339"/>
                </a:lnTo>
                <a:cubicBezTo>
                  <a:pt x="45955" y="241628"/>
                  <a:pt x="48031" y="245720"/>
                  <a:pt x="51642" y="248049"/>
                </a:cubicBezTo>
                <a:cubicBezTo>
                  <a:pt x="55252" y="250377"/>
                  <a:pt x="59837" y="250579"/>
                  <a:pt x="63639" y="248578"/>
                </a:cubicBezTo>
                <a:lnTo>
                  <a:pt x="131576" y="212860"/>
                </a:lnTo>
                <a:lnTo>
                  <a:pt x="199359" y="248578"/>
                </a:lnTo>
                <a:lnTo>
                  <a:pt x="200549" y="249126"/>
                </a:lnTo>
                <a:cubicBezTo>
                  <a:pt x="204551" y="250702"/>
                  <a:pt x="209091" y="249998"/>
                  <a:pt x="212427" y="247284"/>
                </a:cubicBezTo>
                <a:cubicBezTo>
                  <a:pt x="215763" y="244570"/>
                  <a:pt x="217376" y="240267"/>
                  <a:pt x="216646" y="236029"/>
                </a:cubicBezTo>
                <a:lnTo>
                  <a:pt x="203657" y="160365"/>
                </a:lnTo>
                <a:lnTo>
                  <a:pt x="258711" y="106787"/>
                </a:lnTo>
                <a:lnTo>
                  <a:pt x="259640" y="105775"/>
                </a:lnTo>
                <a:cubicBezTo>
                  <a:pt x="262341" y="102448"/>
                  <a:pt x="263046" y="97928"/>
                  <a:pt x="261486" y="93937"/>
                </a:cubicBezTo>
                <a:cubicBezTo>
                  <a:pt x="259927" y="89946"/>
                  <a:pt x="256344" y="87101"/>
                  <a:pt x="252103" y="86487"/>
                </a:cubicBezTo>
                <a:lnTo>
                  <a:pt x="176141" y="75461"/>
                </a:lnTo>
                <a:lnTo>
                  <a:pt x="142185" y="6643"/>
                </a:lnTo>
                <a:cubicBezTo>
                  <a:pt x="140180" y="2576"/>
                  <a:pt x="136039" y="0"/>
                  <a:pt x="131505" y="0"/>
                </a:cubicBezTo>
                <a:cubicBezTo>
                  <a:pt x="126970" y="0"/>
                  <a:pt x="122829" y="2576"/>
                  <a:pt x="120825" y="6643"/>
                </a:cubicBezTo>
                <a:lnTo>
                  <a:pt x="86856" y="75461"/>
                </a:lnTo>
                <a:close/>
              </a:path>
            </a:pathLst>
          </a:custGeom>
          <a:solidFill>
            <a:srgbClr val="F59E0B"/>
          </a:solidFill>
          <a:ln>
            <a:noFill/>
          </a:ln>
        </p:spPr>
      </p:sp>
      <p:sp>
        <p:nvSpPr>
          <p:cNvPr id="5" name="TextBox 5"/>
          <p:cNvSpPr txBox="1"/>
          <p:nvPr/>
        </p:nvSpPr>
        <p:spPr>
          <a:xfrm>
            <a:off x="923925" y="633412"/>
            <a:ext cx="4663476"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Key Points &amp; Best Practices</a:t>
            </a:r>
          </a:p>
        </p:txBody>
      </p:sp>
      <p:sp>
        <p:nvSpPr>
          <p:cNvPr id="6" name="Rectangle 6"/>
          <p:cNvSpPr/>
          <p:nvPr/>
        </p:nvSpPr>
        <p:spPr>
          <a:xfrm>
            <a:off x="571500" y="1238250"/>
            <a:ext cx="3524250" cy="1619250"/>
          </a:xfrm>
          <a:prstGeom prst="roundRect">
            <a:avLst>
              <a:gd name="adj" fmla="val 7059"/>
            </a:avLst>
          </a:prstGeom>
          <a:solidFill>
            <a:srgbClr val="1E293B"/>
          </a:solidFill>
          <a:ln w="9525">
            <a:solidFill>
              <a:srgbClr val="334155"/>
            </a:solidFill>
          </a:ln>
        </p:spPr>
      </p:sp>
      <p:sp>
        <p:nvSpPr>
          <p:cNvPr id="7" name="Rectangle 7"/>
          <p:cNvSpPr/>
          <p:nvPr/>
        </p:nvSpPr>
        <p:spPr>
          <a:xfrm>
            <a:off x="571500" y="1238250"/>
            <a:ext cx="3524250" cy="57150"/>
          </a:xfrm>
          <a:prstGeom prst="roundRect">
            <a:avLst>
              <a:gd name="adj" fmla="val 50000"/>
            </a:avLst>
          </a:prstGeom>
          <a:solidFill>
            <a:srgbClr val="3B82F6"/>
          </a:solidFill>
          <a:ln>
            <a:noFill/>
          </a:ln>
        </p:spPr>
      </p:sp>
      <p:sp>
        <p:nvSpPr>
          <p:cNvPr id="8" name="Ellipse 8"/>
          <p:cNvSpPr/>
          <p:nvPr/>
        </p:nvSpPr>
        <p:spPr>
          <a:xfrm>
            <a:off x="704850" y="1466850"/>
            <a:ext cx="304800" cy="304800"/>
          </a:xfrm>
          <a:prstGeom prst="ellipse">
            <a:avLst/>
          </a:prstGeom>
          <a:solidFill>
            <a:srgbClr val="3B82F6">
              <a:alpha val="20000"/>
            </a:srgbClr>
          </a:solidFill>
          <a:ln w="14288">
            <a:solidFill>
              <a:srgbClr val="3B82F6"/>
            </a:solidFill>
          </a:ln>
        </p:spPr>
      </p:sp>
      <p:sp>
        <p:nvSpPr>
          <p:cNvPr id="9" name="TextBox 9"/>
          <p:cNvSpPr txBox="1"/>
          <p:nvPr/>
        </p:nvSpPr>
        <p:spPr>
          <a:xfrm>
            <a:off x="822440" y="1561624"/>
            <a:ext cx="69621" cy="198120"/>
          </a:xfrm>
          <a:prstGeom prst="rect">
            <a:avLst/>
          </a:prstGeom>
          <a:noFill/>
          <a:ln>
            <a:noFill/>
          </a:ln>
        </p:spPr>
        <p:txBody>
          <a:bodyPr wrap="none" lIns="0" tIns="0" rIns="0" bIns="0" anchor="t" anchorCtr="0">
            <a:spAutoFit/>
          </a:bodyPr>
          <a:lstStyle/>
          <a:p>
            <a:pPr algn="ctr"/>
            <a:r>
              <a:rPr lang="zh-CN" sz="975" b="1" dirty="0">
                <a:solidFill>
                  <a:srgbClr val="3B82F6"/>
                </a:solidFill>
                <a:latin typeface="Georgia"/>
                <a:ea typeface="Microsoft YaHei"/>
                <a:cs typeface="Georgia"/>
              </a:rPr>
              <a:t>1</a:t>
            </a:r>
          </a:p>
        </p:txBody>
      </p:sp>
      <p:sp>
        <p:nvSpPr>
          <p:cNvPr id="10" name="TextBox 10"/>
          <p:cNvSpPr txBox="1"/>
          <p:nvPr/>
        </p:nvSpPr>
        <p:spPr>
          <a:xfrm>
            <a:off x="1107758" y="1529239"/>
            <a:ext cx="2662189"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Simplify Network Structure</a:t>
            </a:r>
          </a:p>
        </p:txBody>
      </p:sp>
      <p:sp>
        <p:nvSpPr>
          <p:cNvPr id="11" name="TextBox 11"/>
          <p:cNvSpPr txBox="1"/>
          <p:nvPr/>
        </p:nvSpPr>
        <p:spPr>
          <a:xfrm>
            <a:off x="748665" y="1886902"/>
            <a:ext cx="2902029"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Remove least-effective weighted links</a:t>
            </a:r>
          </a:p>
        </p:txBody>
      </p:sp>
      <p:sp>
        <p:nvSpPr>
          <p:cNvPr id="12" name="TextBox 12"/>
          <p:cNvSpPr txBox="1"/>
          <p:nvPr/>
        </p:nvSpPr>
        <p:spPr>
          <a:xfrm>
            <a:off x="748665" y="2096452"/>
            <a:ext cx="261832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to create a leaner, more efficient</a:t>
            </a:r>
          </a:p>
        </p:txBody>
      </p:sp>
      <p:sp>
        <p:nvSpPr>
          <p:cNvPr id="13" name="TextBox 13"/>
          <p:cNvSpPr txBox="1"/>
          <p:nvPr/>
        </p:nvSpPr>
        <p:spPr>
          <a:xfrm>
            <a:off x="748665" y="2306002"/>
            <a:ext cx="175188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network architecture.</a:t>
            </a:r>
          </a:p>
        </p:txBody>
      </p:sp>
      <p:sp>
        <p:nvSpPr>
          <p:cNvPr id="14" name="Rectangle 14"/>
          <p:cNvSpPr/>
          <p:nvPr/>
        </p:nvSpPr>
        <p:spPr>
          <a:xfrm>
            <a:off x="4333875" y="1238250"/>
            <a:ext cx="3524250" cy="1619250"/>
          </a:xfrm>
          <a:prstGeom prst="roundRect">
            <a:avLst>
              <a:gd name="adj" fmla="val 7059"/>
            </a:avLst>
          </a:prstGeom>
          <a:solidFill>
            <a:srgbClr val="1E293B"/>
          </a:solidFill>
          <a:ln w="9525">
            <a:solidFill>
              <a:srgbClr val="334155"/>
            </a:solidFill>
          </a:ln>
        </p:spPr>
      </p:sp>
      <p:sp>
        <p:nvSpPr>
          <p:cNvPr id="15" name="Rectangle 15"/>
          <p:cNvSpPr/>
          <p:nvPr/>
        </p:nvSpPr>
        <p:spPr>
          <a:xfrm>
            <a:off x="4333875" y="1238250"/>
            <a:ext cx="3524250" cy="57150"/>
          </a:xfrm>
          <a:prstGeom prst="roundRect">
            <a:avLst>
              <a:gd name="adj" fmla="val 50000"/>
            </a:avLst>
          </a:prstGeom>
          <a:solidFill>
            <a:srgbClr val="22D3EE"/>
          </a:solidFill>
          <a:ln>
            <a:noFill/>
          </a:ln>
        </p:spPr>
      </p:sp>
      <p:sp>
        <p:nvSpPr>
          <p:cNvPr id="16" name="Ellipse 16"/>
          <p:cNvSpPr/>
          <p:nvPr/>
        </p:nvSpPr>
        <p:spPr>
          <a:xfrm>
            <a:off x="4467225" y="1466850"/>
            <a:ext cx="304800" cy="304800"/>
          </a:xfrm>
          <a:prstGeom prst="ellipse">
            <a:avLst/>
          </a:prstGeom>
          <a:solidFill>
            <a:srgbClr val="22D3EE">
              <a:alpha val="20000"/>
            </a:srgbClr>
          </a:solidFill>
          <a:ln w="14288">
            <a:solidFill>
              <a:srgbClr val="22D3EE"/>
            </a:solidFill>
          </a:ln>
        </p:spPr>
      </p:sp>
      <p:sp>
        <p:nvSpPr>
          <p:cNvPr id="17" name="TextBox 17"/>
          <p:cNvSpPr txBox="1"/>
          <p:nvPr/>
        </p:nvSpPr>
        <p:spPr>
          <a:xfrm>
            <a:off x="4566125" y="1561624"/>
            <a:ext cx="107000" cy="198120"/>
          </a:xfrm>
          <a:prstGeom prst="rect">
            <a:avLst/>
          </a:prstGeom>
          <a:noFill/>
          <a:ln>
            <a:noFill/>
          </a:ln>
        </p:spPr>
        <p:txBody>
          <a:bodyPr wrap="none" lIns="0" tIns="0" rIns="0" bIns="0" anchor="t" anchorCtr="0">
            <a:spAutoFit/>
          </a:bodyPr>
          <a:lstStyle/>
          <a:p>
            <a:pPr algn="ctr"/>
            <a:r>
              <a:rPr lang="zh-CN" sz="975" b="1" dirty="0">
                <a:solidFill>
                  <a:srgbClr val="22D3EE"/>
                </a:solidFill>
                <a:latin typeface="Georgia"/>
                <a:ea typeface="Microsoft YaHei"/>
                <a:cs typeface="Georgia"/>
              </a:rPr>
              <a:t>2</a:t>
            </a:r>
          </a:p>
        </p:txBody>
      </p:sp>
      <p:sp>
        <p:nvSpPr>
          <p:cNvPr id="18" name="TextBox 18"/>
          <p:cNvSpPr txBox="1"/>
          <p:nvPr/>
        </p:nvSpPr>
        <p:spPr>
          <a:xfrm>
            <a:off x="4870132" y="1529239"/>
            <a:ext cx="2476440"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Study Layer Relationships</a:t>
            </a:r>
          </a:p>
        </p:txBody>
      </p:sp>
      <p:sp>
        <p:nvSpPr>
          <p:cNvPr id="19" name="TextBox 19"/>
          <p:cNvSpPr txBox="1"/>
          <p:nvPr/>
        </p:nvSpPr>
        <p:spPr>
          <a:xfrm>
            <a:off x="4511040" y="1886902"/>
            <a:ext cx="2664333"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Examine input and activation values</a:t>
            </a:r>
          </a:p>
        </p:txBody>
      </p:sp>
      <p:sp>
        <p:nvSpPr>
          <p:cNvPr id="20" name="TextBox 20"/>
          <p:cNvSpPr txBox="1"/>
          <p:nvPr/>
        </p:nvSpPr>
        <p:spPr>
          <a:xfrm>
            <a:off x="4511040" y="2096452"/>
            <a:ext cx="2625995"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to understand hidden relationships</a:t>
            </a:r>
          </a:p>
        </p:txBody>
      </p:sp>
      <p:sp>
        <p:nvSpPr>
          <p:cNvPr id="21" name="TextBox 21"/>
          <p:cNvSpPr txBox="1"/>
          <p:nvPr/>
        </p:nvSpPr>
        <p:spPr>
          <a:xfrm>
            <a:off x="4511040" y="2306002"/>
            <a:ext cx="1245822"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between layers.</a:t>
            </a:r>
          </a:p>
        </p:txBody>
      </p:sp>
      <p:sp>
        <p:nvSpPr>
          <p:cNvPr id="22" name="Rectangle 22"/>
          <p:cNvSpPr/>
          <p:nvPr/>
        </p:nvSpPr>
        <p:spPr>
          <a:xfrm>
            <a:off x="8096250" y="1238250"/>
            <a:ext cx="3524250" cy="1619250"/>
          </a:xfrm>
          <a:prstGeom prst="roundRect">
            <a:avLst>
              <a:gd name="adj" fmla="val 7059"/>
            </a:avLst>
          </a:prstGeom>
          <a:solidFill>
            <a:srgbClr val="1E293B"/>
          </a:solidFill>
          <a:ln w="9525">
            <a:solidFill>
              <a:srgbClr val="334155"/>
            </a:solidFill>
          </a:ln>
        </p:spPr>
      </p:sp>
      <p:sp>
        <p:nvSpPr>
          <p:cNvPr id="23" name="Rectangle 23"/>
          <p:cNvSpPr/>
          <p:nvPr/>
        </p:nvSpPr>
        <p:spPr>
          <a:xfrm>
            <a:off x="8096250" y="1238250"/>
            <a:ext cx="3524250" cy="57150"/>
          </a:xfrm>
          <a:prstGeom prst="roundRect">
            <a:avLst>
              <a:gd name="adj" fmla="val 50000"/>
            </a:avLst>
          </a:prstGeom>
          <a:solidFill>
            <a:srgbClr val="8B5CF6"/>
          </a:solidFill>
          <a:ln>
            <a:noFill/>
          </a:ln>
        </p:spPr>
      </p:sp>
      <p:sp>
        <p:nvSpPr>
          <p:cNvPr id="24" name="Ellipse 24"/>
          <p:cNvSpPr/>
          <p:nvPr/>
        </p:nvSpPr>
        <p:spPr>
          <a:xfrm>
            <a:off x="8229600" y="1466850"/>
            <a:ext cx="304800" cy="304800"/>
          </a:xfrm>
          <a:prstGeom prst="ellipse">
            <a:avLst/>
          </a:prstGeom>
          <a:solidFill>
            <a:srgbClr val="8B5CF6">
              <a:alpha val="20000"/>
            </a:srgbClr>
          </a:solidFill>
          <a:ln w="14288">
            <a:solidFill>
              <a:srgbClr val="8B5CF6"/>
            </a:solidFill>
          </a:ln>
        </p:spPr>
      </p:sp>
      <p:sp>
        <p:nvSpPr>
          <p:cNvPr id="25" name="TextBox 25"/>
          <p:cNvSpPr txBox="1"/>
          <p:nvPr/>
        </p:nvSpPr>
        <p:spPr>
          <a:xfrm>
            <a:off x="8328500" y="1561624"/>
            <a:ext cx="107000" cy="198120"/>
          </a:xfrm>
          <a:prstGeom prst="rect">
            <a:avLst/>
          </a:prstGeom>
          <a:noFill/>
          <a:ln>
            <a:noFill/>
          </a:ln>
        </p:spPr>
        <p:txBody>
          <a:bodyPr wrap="none" lIns="0" tIns="0" rIns="0" bIns="0" anchor="t" anchorCtr="0">
            <a:spAutoFit/>
          </a:bodyPr>
          <a:lstStyle/>
          <a:p>
            <a:pPr algn="ctr"/>
            <a:r>
              <a:rPr lang="zh-CN" sz="975" b="1" dirty="0">
                <a:solidFill>
                  <a:srgbClr val="8B5CF6"/>
                </a:solidFill>
                <a:latin typeface="Georgia"/>
                <a:ea typeface="Microsoft YaHei"/>
                <a:cs typeface="Georgia"/>
              </a:rPr>
              <a:t>3</a:t>
            </a:r>
          </a:p>
        </p:txBody>
      </p:sp>
      <p:sp>
        <p:nvSpPr>
          <p:cNvPr id="26" name="TextBox 26"/>
          <p:cNvSpPr txBox="1"/>
          <p:nvPr/>
        </p:nvSpPr>
        <p:spPr>
          <a:xfrm>
            <a:off x="8632508" y="1529239"/>
            <a:ext cx="2740398"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Assess Input Variable Impact</a:t>
            </a:r>
          </a:p>
        </p:txBody>
      </p:sp>
      <p:sp>
        <p:nvSpPr>
          <p:cNvPr id="27" name="TextBox 27"/>
          <p:cNvSpPr txBox="1"/>
          <p:nvPr/>
        </p:nvSpPr>
        <p:spPr>
          <a:xfrm>
            <a:off x="8273415" y="1886902"/>
            <a:ext cx="2434304"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Measure how each input variable</a:t>
            </a:r>
          </a:p>
        </p:txBody>
      </p:sp>
      <p:sp>
        <p:nvSpPr>
          <p:cNvPr id="28" name="TextBox 28"/>
          <p:cNvSpPr txBox="1"/>
          <p:nvPr/>
        </p:nvSpPr>
        <p:spPr>
          <a:xfrm>
            <a:off x="8273415" y="2096452"/>
            <a:ext cx="2702671"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influences the final network output</a:t>
            </a:r>
          </a:p>
        </p:txBody>
      </p:sp>
      <p:sp>
        <p:nvSpPr>
          <p:cNvPr id="29" name="TextBox 29"/>
          <p:cNvSpPr txBox="1"/>
          <p:nvPr/>
        </p:nvSpPr>
        <p:spPr>
          <a:xfrm>
            <a:off x="8273415" y="2306002"/>
            <a:ext cx="189757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and prediction accuracy.</a:t>
            </a:r>
          </a:p>
        </p:txBody>
      </p:sp>
      <p:sp>
        <p:nvSpPr>
          <p:cNvPr id="30" name="Rectangle 30"/>
          <p:cNvSpPr/>
          <p:nvPr/>
        </p:nvSpPr>
        <p:spPr>
          <a:xfrm>
            <a:off x="571500" y="3143250"/>
            <a:ext cx="3524250" cy="1619250"/>
          </a:xfrm>
          <a:prstGeom prst="roundRect">
            <a:avLst>
              <a:gd name="adj" fmla="val 7059"/>
            </a:avLst>
          </a:prstGeom>
          <a:solidFill>
            <a:srgbClr val="1E293B"/>
          </a:solidFill>
          <a:ln w="9525">
            <a:solidFill>
              <a:srgbClr val="334155"/>
            </a:solidFill>
          </a:ln>
        </p:spPr>
      </p:sp>
      <p:sp>
        <p:nvSpPr>
          <p:cNvPr id="31" name="Rectangle 31"/>
          <p:cNvSpPr/>
          <p:nvPr/>
        </p:nvSpPr>
        <p:spPr>
          <a:xfrm>
            <a:off x="571500" y="3143250"/>
            <a:ext cx="3524250" cy="57150"/>
          </a:xfrm>
          <a:prstGeom prst="roundRect">
            <a:avLst>
              <a:gd name="adj" fmla="val 50000"/>
            </a:avLst>
          </a:prstGeom>
          <a:solidFill>
            <a:srgbClr val="10B981"/>
          </a:solidFill>
          <a:ln>
            <a:noFill/>
          </a:ln>
        </p:spPr>
      </p:sp>
      <p:sp>
        <p:nvSpPr>
          <p:cNvPr id="32" name="Ellipse 32"/>
          <p:cNvSpPr/>
          <p:nvPr/>
        </p:nvSpPr>
        <p:spPr>
          <a:xfrm>
            <a:off x="704850" y="3371850"/>
            <a:ext cx="304800" cy="304800"/>
          </a:xfrm>
          <a:prstGeom prst="ellipse">
            <a:avLst/>
          </a:prstGeom>
          <a:solidFill>
            <a:srgbClr val="10B981">
              <a:alpha val="20000"/>
            </a:srgbClr>
          </a:solidFill>
          <a:ln w="14288">
            <a:solidFill>
              <a:srgbClr val="10B981"/>
            </a:solidFill>
          </a:ln>
        </p:spPr>
      </p:sp>
      <p:sp>
        <p:nvSpPr>
          <p:cNvPr id="33" name="TextBox 33"/>
          <p:cNvSpPr txBox="1"/>
          <p:nvPr/>
        </p:nvSpPr>
        <p:spPr>
          <a:xfrm>
            <a:off x="803750" y="3466624"/>
            <a:ext cx="107000" cy="198120"/>
          </a:xfrm>
          <a:prstGeom prst="rect">
            <a:avLst/>
          </a:prstGeom>
          <a:noFill/>
          <a:ln>
            <a:noFill/>
          </a:ln>
        </p:spPr>
        <p:txBody>
          <a:bodyPr wrap="none" lIns="0" tIns="0" rIns="0" bIns="0" anchor="t" anchorCtr="0">
            <a:spAutoFit/>
          </a:bodyPr>
          <a:lstStyle/>
          <a:p>
            <a:pPr algn="ctr"/>
            <a:r>
              <a:rPr lang="zh-CN" sz="975" b="1" dirty="0">
                <a:solidFill>
                  <a:srgbClr val="10B981"/>
                </a:solidFill>
                <a:latin typeface="Georgia"/>
                <a:ea typeface="Microsoft YaHei"/>
                <a:cs typeface="Georgia"/>
              </a:rPr>
              <a:t>4</a:t>
            </a:r>
          </a:p>
        </p:txBody>
      </p:sp>
      <p:sp>
        <p:nvSpPr>
          <p:cNvPr id="34" name="TextBox 34"/>
          <p:cNvSpPr txBox="1"/>
          <p:nvPr/>
        </p:nvSpPr>
        <p:spPr>
          <a:xfrm>
            <a:off x="1107758" y="3434239"/>
            <a:ext cx="1938748"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Deep NN Applications</a:t>
            </a:r>
          </a:p>
        </p:txBody>
      </p:sp>
      <p:sp>
        <p:nvSpPr>
          <p:cNvPr id="35" name="TextBox 35"/>
          <p:cNvSpPr txBox="1"/>
          <p:nvPr/>
        </p:nvSpPr>
        <p:spPr>
          <a:xfrm>
            <a:off x="748665" y="3791902"/>
            <a:ext cx="2464975"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Especially useful for deep neural</a:t>
            </a:r>
          </a:p>
        </p:txBody>
      </p:sp>
      <p:sp>
        <p:nvSpPr>
          <p:cNvPr id="36" name="TextBox 36"/>
          <p:cNvSpPr txBox="1"/>
          <p:nvPr/>
        </p:nvSpPr>
        <p:spPr>
          <a:xfrm>
            <a:off x="748665" y="4001452"/>
            <a:ext cx="2349960"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networks in image recognition,</a:t>
            </a:r>
          </a:p>
        </p:txBody>
      </p:sp>
      <p:sp>
        <p:nvSpPr>
          <p:cNvPr id="37" name="TextBox 37"/>
          <p:cNvSpPr txBox="1"/>
          <p:nvPr/>
        </p:nvSpPr>
        <p:spPr>
          <a:xfrm>
            <a:off x="748665" y="4211002"/>
            <a:ext cx="2618327"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a:ea typeface="Microsoft YaHei"/>
                <a:cs typeface="Arial"/>
              </a:rPr>
              <a:t>speech processing, and NLP tasks.</a:t>
            </a:r>
          </a:p>
        </p:txBody>
      </p:sp>
      <p:sp>
        <p:nvSpPr>
          <p:cNvPr id="38" name="Rectangle 38"/>
          <p:cNvSpPr/>
          <p:nvPr/>
        </p:nvSpPr>
        <p:spPr>
          <a:xfrm>
            <a:off x="4333875" y="3143250"/>
            <a:ext cx="7286625" cy="1619250"/>
          </a:xfrm>
          <a:prstGeom prst="roundRect">
            <a:avLst>
              <a:gd name="adj" fmla="val 7059"/>
            </a:avLst>
          </a:prstGeom>
          <a:solidFill>
            <a:srgbClr val="1E293B"/>
          </a:solidFill>
          <a:ln w="14288">
            <a:solidFill>
              <a:srgbClr val="F59E0B"/>
            </a:solidFill>
          </a:ln>
        </p:spPr>
      </p:sp>
      <p:sp>
        <p:nvSpPr>
          <p:cNvPr id="39" name="Rectangle 39"/>
          <p:cNvSpPr/>
          <p:nvPr/>
        </p:nvSpPr>
        <p:spPr>
          <a:xfrm>
            <a:off x="4333875" y="3143250"/>
            <a:ext cx="7286625" cy="57150"/>
          </a:xfrm>
          <a:prstGeom prst="roundRect">
            <a:avLst>
              <a:gd name="adj" fmla="val 50000"/>
            </a:avLst>
          </a:prstGeom>
          <a:solidFill>
            <a:srgbClr val="F59E0B"/>
          </a:solidFill>
          <a:ln>
            <a:noFill/>
          </a:ln>
        </p:spPr>
      </p:sp>
      <p:sp>
        <p:nvSpPr>
          <p:cNvPr id="40" name="Ellipse 40"/>
          <p:cNvSpPr/>
          <p:nvPr/>
        </p:nvSpPr>
        <p:spPr>
          <a:xfrm>
            <a:off x="4467225" y="3371850"/>
            <a:ext cx="304800" cy="304800"/>
          </a:xfrm>
          <a:prstGeom prst="ellipse">
            <a:avLst/>
          </a:prstGeom>
          <a:solidFill>
            <a:srgbClr val="F59E0B">
              <a:alpha val="20000"/>
            </a:srgbClr>
          </a:solidFill>
          <a:ln w="14288">
            <a:solidFill>
              <a:srgbClr val="F59E0B"/>
            </a:solidFill>
          </a:ln>
        </p:spPr>
      </p:sp>
      <p:sp>
        <p:nvSpPr>
          <p:cNvPr id="41" name="TextBox 41"/>
          <p:cNvSpPr txBox="1"/>
          <p:nvPr/>
        </p:nvSpPr>
        <p:spPr>
          <a:xfrm>
            <a:off x="4566125" y="3466624"/>
            <a:ext cx="107000" cy="198120"/>
          </a:xfrm>
          <a:prstGeom prst="rect">
            <a:avLst/>
          </a:prstGeom>
          <a:noFill/>
          <a:ln>
            <a:noFill/>
          </a:ln>
        </p:spPr>
        <p:txBody>
          <a:bodyPr wrap="none" lIns="0" tIns="0" rIns="0" bIns="0" anchor="t" anchorCtr="0">
            <a:spAutoFit/>
          </a:bodyPr>
          <a:lstStyle/>
          <a:p>
            <a:pPr algn="ctr"/>
            <a:r>
              <a:rPr lang="zh-CN" sz="975" b="1" dirty="0">
                <a:solidFill>
                  <a:srgbClr val="F59E0B"/>
                </a:solidFill>
                <a:latin typeface="Georgia"/>
                <a:ea typeface="Microsoft YaHei"/>
                <a:cs typeface="Georgia"/>
              </a:rPr>
              <a:t>5</a:t>
            </a:r>
          </a:p>
        </p:txBody>
      </p:sp>
      <p:sp>
        <p:nvSpPr>
          <p:cNvPr id="42" name="TextBox 42"/>
          <p:cNvSpPr txBox="1"/>
          <p:nvPr/>
        </p:nvSpPr>
        <p:spPr>
          <a:xfrm>
            <a:off x="4870132" y="3434239"/>
            <a:ext cx="2310245" cy="259080"/>
          </a:xfrm>
          <a:prstGeom prst="rect">
            <a:avLst/>
          </a:prstGeom>
          <a:noFill/>
          <a:ln>
            <a:noFill/>
          </a:ln>
        </p:spPr>
        <p:txBody>
          <a:bodyPr wrap="none" lIns="0" tIns="0" rIns="0" bIns="0" anchor="t" anchorCtr="0">
            <a:spAutoFit/>
          </a:bodyPr>
          <a:lstStyle/>
          <a:p>
            <a:pPr algn="l"/>
            <a:r>
              <a:rPr lang="zh-CN" sz="1275" b="1" dirty="0">
                <a:solidFill>
                  <a:srgbClr val="F1F5F9"/>
                </a:solidFill>
                <a:latin typeface="Georgia"/>
                <a:ea typeface="Microsoft YaHei"/>
                <a:cs typeface="Georgia"/>
              </a:rPr>
              <a:t>The "Shoe Lace" Analogy</a:t>
            </a:r>
          </a:p>
        </p:txBody>
      </p:sp>
      <p:sp>
        <p:nvSpPr>
          <p:cNvPr id="43" name="TextBox 43"/>
          <p:cNvSpPr txBox="1"/>
          <p:nvPr/>
        </p:nvSpPr>
        <p:spPr>
          <a:xfrm>
            <a:off x="4510088" y="3783806"/>
            <a:ext cx="6329720"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Like tying a shoe lace, backpropagation is an iterative process of adjustment.</a:t>
            </a:r>
          </a:p>
        </p:txBody>
      </p:sp>
      <p:sp>
        <p:nvSpPr>
          <p:cNvPr id="44" name="TextBox 44"/>
          <p:cNvSpPr txBox="1"/>
          <p:nvPr/>
        </p:nvSpPr>
        <p:spPr>
          <a:xfrm>
            <a:off x="4510088" y="4012406"/>
            <a:ext cx="698694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Each iteration fine-tunes the weights until the network produces the correct output.</a:t>
            </a:r>
          </a:p>
        </p:txBody>
      </p:sp>
      <p:sp>
        <p:nvSpPr>
          <p:cNvPr id="45" name="TextBox 45"/>
          <p:cNvSpPr txBox="1"/>
          <p:nvPr/>
        </p:nvSpPr>
        <p:spPr>
          <a:xfrm>
            <a:off x="4510088" y="4241006"/>
            <a:ext cx="693765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The process repeats: forward pass, compute error, backward pass, update weights.</a:t>
            </a:r>
          </a:p>
        </p:txBody>
      </p:sp>
      <p:sp>
        <p:nvSpPr>
          <p:cNvPr id="46" name="Rectangle 46"/>
          <p:cNvSpPr/>
          <p:nvPr/>
        </p:nvSpPr>
        <p:spPr>
          <a:xfrm>
            <a:off x="4762500" y="4476750"/>
            <a:ext cx="952500" cy="266700"/>
          </a:xfrm>
          <a:prstGeom prst="roundRect">
            <a:avLst>
              <a:gd name="adj" fmla="val 21429"/>
            </a:avLst>
          </a:prstGeom>
          <a:solidFill>
            <a:srgbClr val="F59E0B">
              <a:alpha val="15000"/>
            </a:srgbClr>
          </a:solidFill>
          <a:ln w="9525">
            <a:solidFill>
              <a:srgbClr val="F59E0B"/>
            </a:solidFill>
          </a:ln>
        </p:spPr>
      </p:sp>
      <p:sp>
        <p:nvSpPr>
          <p:cNvPr id="47" name="TextBox 47"/>
          <p:cNvSpPr txBox="1"/>
          <p:nvPr/>
        </p:nvSpPr>
        <p:spPr>
          <a:xfrm>
            <a:off x="4984278" y="4568666"/>
            <a:ext cx="508945" cy="167640"/>
          </a:xfrm>
          <a:prstGeom prst="rect">
            <a:avLst/>
          </a:prstGeom>
          <a:noFill/>
          <a:ln>
            <a:noFill/>
          </a:ln>
        </p:spPr>
        <p:txBody>
          <a:bodyPr wrap="none" lIns="0" tIns="0" rIns="0" bIns="0" anchor="t" anchorCtr="0">
            <a:spAutoFit/>
          </a:bodyPr>
          <a:lstStyle/>
          <a:p>
            <a:pPr algn="ctr"/>
            <a:r>
              <a:rPr lang="zh-CN" sz="825" dirty="0">
                <a:solidFill>
                  <a:srgbClr val="F59E0B"/>
                </a:solidFill>
                <a:latin typeface="Consolas"/>
                <a:ea typeface="Microsoft YaHei"/>
                <a:cs typeface="Consolas"/>
              </a:rPr>
              <a:t>Forward</a:t>
            </a:r>
          </a:p>
        </p:txBody>
      </p:sp>
      <p:sp>
        <p:nvSpPr>
          <p:cNvPr id="48" name="Line 48"/>
          <p:cNvSpPr/>
          <p:nvPr/>
        </p:nvSpPr>
        <p:spPr>
          <a:xfrm>
            <a:off x="5715000" y="4610100"/>
            <a:ext cx="285750" cy="9525"/>
          </a:xfrm>
          <a:custGeom>
            <a:avLst/>
            <a:gdLst/>
            <a:ahLst/>
            <a:cxnLst/>
            <a:rect l="l" t="t" r="r" b="b"/>
            <a:pathLst>
              <a:path w="285750" h="9525">
                <a:moveTo>
                  <a:pt x="0" y="0"/>
                </a:moveTo>
                <a:lnTo>
                  <a:pt x="285750" y="0"/>
                </a:lnTo>
              </a:path>
            </a:pathLst>
          </a:custGeom>
          <a:noFill/>
          <a:ln w="9525">
            <a:solidFill>
              <a:srgbClr val="F59E0B"/>
            </a:solidFill>
          </a:ln>
        </p:spPr>
      </p:sp>
      <p:sp>
        <p:nvSpPr>
          <p:cNvPr id="49" name="Polygon 49"/>
          <p:cNvSpPr/>
          <p:nvPr/>
        </p:nvSpPr>
        <p:spPr>
          <a:xfrm>
            <a:off x="6000750" y="4572000"/>
            <a:ext cx="57150" cy="76200"/>
          </a:xfrm>
          <a:custGeom>
            <a:avLst/>
            <a:gdLst/>
            <a:ahLst/>
            <a:cxnLst/>
            <a:rect l="l" t="t" r="r" b="b"/>
            <a:pathLst>
              <a:path w="57150" h="76200">
                <a:moveTo>
                  <a:pt x="0" y="0"/>
                </a:moveTo>
                <a:lnTo>
                  <a:pt x="57150" y="38100"/>
                </a:lnTo>
                <a:lnTo>
                  <a:pt x="0" y="76200"/>
                </a:lnTo>
                <a:close/>
              </a:path>
            </a:pathLst>
          </a:custGeom>
          <a:solidFill>
            <a:srgbClr val="F59E0B"/>
          </a:solidFill>
          <a:ln>
            <a:noFill/>
          </a:ln>
        </p:spPr>
      </p:sp>
      <p:sp>
        <p:nvSpPr>
          <p:cNvPr id="50" name="Rectangle 50"/>
          <p:cNvSpPr/>
          <p:nvPr/>
        </p:nvSpPr>
        <p:spPr>
          <a:xfrm>
            <a:off x="6096000" y="4476750"/>
            <a:ext cx="952500" cy="266700"/>
          </a:xfrm>
          <a:prstGeom prst="roundRect">
            <a:avLst>
              <a:gd name="adj" fmla="val 21429"/>
            </a:avLst>
          </a:prstGeom>
          <a:solidFill>
            <a:srgbClr val="F59E0B">
              <a:alpha val="15000"/>
            </a:srgbClr>
          </a:solidFill>
          <a:ln w="9525">
            <a:solidFill>
              <a:srgbClr val="F59E0B"/>
            </a:solidFill>
          </a:ln>
        </p:spPr>
      </p:sp>
      <p:sp>
        <p:nvSpPr>
          <p:cNvPr id="51" name="TextBox 51"/>
          <p:cNvSpPr txBox="1"/>
          <p:nvPr/>
        </p:nvSpPr>
        <p:spPr>
          <a:xfrm>
            <a:off x="6396097" y="4568666"/>
            <a:ext cx="352306" cy="167640"/>
          </a:xfrm>
          <a:prstGeom prst="rect">
            <a:avLst/>
          </a:prstGeom>
          <a:noFill/>
          <a:ln>
            <a:noFill/>
          </a:ln>
        </p:spPr>
        <p:txBody>
          <a:bodyPr wrap="none" lIns="0" tIns="0" rIns="0" bIns="0" anchor="t" anchorCtr="0">
            <a:spAutoFit/>
          </a:bodyPr>
          <a:lstStyle/>
          <a:p>
            <a:pPr algn="ctr"/>
            <a:r>
              <a:rPr lang="zh-CN" sz="825" dirty="0">
                <a:solidFill>
                  <a:srgbClr val="F59E0B"/>
                </a:solidFill>
                <a:latin typeface="Consolas"/>
                <a:ea typeface="Microsoft YaHei"/>
                <a:cs typeface="Consolas"/>
              </a:rPr>
              <a:t>Error</a:t>
            </a:r>
          </a:p>
        </p:txBody>
      </p:sp>
      <p:sp>
        <p:nvSpPr>
          <p:cNvPr id="52" name="Line 52"/>
          <p:cNvSpPr/>
          <p:nvPr/>
        </p:nvSpPr>
        <p:spPr>
          <a:xfrm>
            <a:off x="7048500" y="4610100"/>
            <a:ext cx="285750" cy="9525"/>
          </a:xfrm>
          <a:custGeom>
            <a:avLst/>
            <a:gdLst/>
            <a:ahLst/>
            <a:cxnLst/>
            <a:rect l="l" t="t" r="r" b="b"/>
            <a:pathLst>
              <a:path w="285750" h="9525">
                <a:moveTo>
                  <a:pt x="0" y="0"/>
                </a:moveTo>
                <a:lnTo>
                  <a:pt x="285750" y="0"/>
                </a:lnTo>
              </a:path>
            </a:pathLst>
          </a:custGeom>
          <a:noFill/>
          <a:ln w="9525">
            <a:solidFill>
              <a:srgbClr val="F59E0B"/>
            </a:solidFill>
          </a:ln>
        </p:spPr>
      </p:sp>
      <p:sp>
        <p:nvSpPr>
          <p:cNvPr id="53" name="Polygon 53"/>
          <p:cNvSpPr/>
          <p:nvPr/>
        </p:nvSpPr>
        <p:spPr>
          <a:xfrm>
            <a:off x="7334250" y="4572000"/>
            <a:ext cx="57150" cy="76200"/>
          </a:xfrm>
          <a:custGeom>
            <a:avLst/>
            <a:gdLst/>
            <a:ahLst/>
            <a:cxnLst/>
            <a:rect l="l" t="t" r="r" b="b"/>
            <a:pathLst>
              <a:path w="57150" h="76200">
                <a:moveTo>
                  <a:pt x="0" y="0"/>
                </a:moveTo>
                <a:lnTo>
                  <a:pt x="57150" y="38100"/>
                </a:lnTo>
                <a:lnTo>
                  <a:pt x="0" y="76200"/>
                </a:lnTo>
                <a:close/>
              </a:path>
            </a:pathLst>
          </a:custGeom>
          <a:solidFill>
            <a:srgbClr val="F59E0B"/>
          </a:solidFill>
          <a:ln>
            <a:noFill/>
          </a:ln>
        </p:spPr>
      </p:sp>
      <p:sp>
        <p:nvSpPr>
          <p:cNvPr id="54" name="Rectangle 54"/>
          <p:cNvSpPr/>
          <p:nvPr/>
        </p:nvSpPr>
        <p:spPr>
          <a:xfrm>
            <a:off x="7429500" y="4476750"/>
            <a:ext cx="952500" cy="266700"/>
          </a:xfrm>
          <a:prstGeom prst="roundRect">
            <a:avLst>
              <a:gd name="adj" fmla="val 21429"/>
            </a:avLst>
          </a:prstGeom>
          <a:solidFill>
            <a:srgbClr val="F59E0B">
              <a:alpha val="15000"/>
            </a:srgbClr>
          </a:solidFill>
          <a:ln w="9525">
            <a:solidFill>
              <a:srgbClr val="F59E0B"/>
            </a:solidFill>
          </a:ln>
        </p:spPr>
      </p:sp>
      <p:sp>
        <p:nvSpPr>
          <p:cNvPr id="55" name="TextBox 55"/>
          <p:cNvSpPr txBox="1"/>
          <p:nvPr/>
        </p:nvSpPr>
        <p:spPr>
          <a:xfrm>
            <a:off x="7618143" y="4568666"/>
            <a:ext cx="575215" cy="167640"/>
          </a:xfrm>
          <a:prstGeom prst="rect">
            <a:avLst/>
          </a:prstGeom>
          <a:noFill/>
          <a:ln>
            <a:noFill/>
          </a:ln>
        </p:spPr>
        <p:txBody>
          <a:bodyPr wrap="none" lIns="0" tIns="0" rIns="0" bIns="0" anchor="t" anchorCtr="0">
            <a:spAutoFit/>
          </a:bodyPr>
          <a:lstStyle/>
          <a:p>
            <a:pPr algn="ctr"/>
            <a:r>
              <a:rPr lang="zh-CN" sz="825" dirty="0">
                <a:solidFill>
                  <a:srgbClr val="F59E0B"/>
                </a:solidFill>
                <a:latin typeface="Consolas"/>
                <a:ea typeface="Microsoft YaHei"/>
                <a:cs typeface="Consolas"/>
              </a:rPr>
              <a:t>Backward</a:t>
            </a:r>
          </a:p>
        </p:txBody>
      </p:sp>
      <p:sp>
        <p:nvSpPr>
          <p:cNvPr id="56" name="Line 56"/>
          <p:cNvSpPr/>
          <p:nvPr/>
        </p:nvSpPr>
        <p:spPr>
          <a:xfrm>
            <a:off x="8382000" y="4610100"/>
            <a:ext cx="285750" cy="9525"/>
          </a:xfrm>
          <a:custGeom>
            <a:avLst/>
            <a:gdLst/>
            <a:ahLst/>
            <a:cxnLst/>
            <a:rect l="l" t="t" r="r" b="b"/>
            <a:pathLst>
              <a:path w="285750" h="9525">
                <a:moveTo>
                  <a:pt x="0" y="0"/>
                </a:moveTo>
                <a:lnTo>
                  <a:pt x="285750" y="0"/>
                </a:lnTo>
              </a:path>
            </a:pathLst>
          </a:custGeom>
          <a:noFill/>
          <a:ln w="9525">
            <a:solidFill>
              <a:srgbClr val="F59E0B"/>
            </a:solidFill>
          </a:ln>
        </p:spPr>
      </p:sp>
      <p:sp>
        <p:nvSpPr>
          <p:cNvPr id="57" name="Polygon 57"/>
          <p:cNvSpPr/>
          <p:nvPr/>
        </p:nvSpPr>
        <p:spPr>
          <a:xfrm>
            <a:off x="8667750" y="4572000"/>
            <a:ext cx="57150" cy="76200"/>
          </a:xfrm>
          <a:custGeom>
            <a:avLst/>
            <a:gdLst/>
            <a:ahLst/>
            <a:cxnLst/>
            <a:rect l="l" t="t" r="r" b="b"/>
            <a:pathLst>
              <a:path w="57150" h="76200">
                <a:moveTo>
                  <a:pt x="0" y="0"/>
                </a:moveTo>
                <a:lnTo>
                  <a:pt x="57150" y="38100"/>
                </a:lnTo>
                <a:lnTo>
                  <a:pt x="0" y="76200"/>
                </a:lnTo>
                <a:close/>
              </a:path>
            </a:pathLst>
          </a:custGeom>
          <a:solidFill>
            <a:srgbClr val="F59E0B"/>
          </a:solidFill>
          <a:ln>
            <a:noFill/>
          </a:ln>
        </p:spPr>
      </p:sp>
      <p:sp>
        <p:nvSpPr>
          <p:cNvPr id="58" name="Rectangle 58"/>
          <p:cNvSpPr/>
          <p:nvPr/>
        </p:nvSpPr>
        <p:spPr>
          <a:xfrm>
            <a:off x="8763000" y="4476750"/>
            <a:ext cx="952500" cy="266700"/>
          </a:xfrm>
          <a:prstGeom prst="roundRect">
            <a:avLst>
              <a:gd name="adj" fmla="val 21429"/>
            </a:avLst>
          </a:prstGeom>
          <a:solidFill>
            <a:srgbClr val="F59E0B">
              <a:alpha val="15000"/>
            </a:srgbClr>
          </a:solidFill>
          <a:ln w="9525">
            <a:solidFill>
              <a:srgbClr val="F59E0B"/>
            </a:solidFill>
          </a:ln>
        </p:spPr>
      </p:sp>
      <p:sp>
        <p:nvSpPr>
          <p:cNvPr id="59" name="TextBox 59"/>
          <p:cNvSpPr txBox="1"/>
          <p:nvPr/>
        </p:nvSpPr>
        <p:spPr>
          <a:xfrm>
            <a:off x="9029962" y="4568666"/>
            <a:ext cx="418576" cy="167640"/>
          </a:xfrm>
          <a:prstGeom prst="rect">
            <a:avLst/>
          </a:prstGeom>
          <a:noFill/>
          <a:ln>
            <a:noFill/>
          </a:ln>
        </p:spPr>
        <p:txBody>
          <a:bodyPr wrap="none" lIns="0" tIns="0" rIns="0" bIns="0" anchor="t" anchorCtr="0">
            <a:spAutoFit/>
          </a:bodyPr>
          <a:lstStyle/>
          <a:p>
            <a:pPr algn="ctr"/>
            <a:r>
              <a:rPr lang="zh-CN" sz="825" dirty="0">
                <a:solidFill>
                  <a:srgbClr val="F59E0B"/>
                </a:solidFill>
                <a:latin typeface="Consolas"/>
                <a:ea typeface="Microsoft YaHei"/>
                <a:cs typeface="Consolas"/>
              </a:rPr>
              <a:t>Update</a:t>
            </a:r>
          </a:p>
        </p:txBody>
      </p:sp>
      <p:sp>
        <p:nvSpPr>
          <p:cNvPr id="60" name="Freeform 60"/>
          <p:cNvSpPr/>
          <p:nvPr/>
        </p:nvSpPr>
        <p:spPr>
          <a:xfrm>
            <a:off x="4476750" y="4381500"/>
            <a:ext cx="5524500" cy="228600"/>
          </a:xfrm>
          <a:custGeom>
            <a:avLst/>
            <a:gdLst/>
            <a:ahLst/>
            <a:cxnLst/>
            <a:rect l="l" t="t" r="r" b="b"/>
            <a:pathLst>
              <a:path w="5524500" h="228600">
                <a:moveTo>
                  <a:pt x="5238750" y="228600"/>
                </a:moveTo>
                <a:lnTo>
                  <a:pt x="5524500" y="228600"/>
                </a:lnTo>
                <a:lnTo>
                  <a:pt x="5524500" y="0"/>
                </a:lnTo>
                <a:lnTo>
                  <a:pt x="0" y="0"/>
                </a:lnTo>
                <a:lnTo>
                  <a:pt x="0" y="228600"/>
                </a:lnTo>
                <a:lnTo>
                  <a:pt x="285750" y="228600"/>
                </a:lnTo>
              </a:path>
            </a:pathLst>
          </a:custGeom>
          <a:noFill/>
          <a:ln w="9525">
            <a:solidFill>
              <a:srgbClr val="F59E0B"/>
            </a:solidFill>
            <a:custDash>
              <a:ds d="400000" sp="300000"/>
            </a:custDash>
          </a:ln>
        </p:spPr>
      </p:sp>
      <p:sp>
        <p:nvSpPr>
          <p:cNvPr id="61" name="Polygon 61"/>
          <p:cNvSpPr/>
          <p:nvPr/>
        </p:nvSpPr>
        <p:spPr>
          <a:xfrm>
            <a:off x="4686300" y="4572000"/>
            <a:ext cx="76200" cy="76200"/>
          </a:xfrm>
          <a:custGeom>
            <a:avLst/>
            <a:gdLst/>
            <a:ahLst/>
            <a:cxnLst/>
            <a:rect l="l" t="t" r="r" b="b"/>
            <a:pathLst>
              <a:path w="76200" h="76200">
                <a:moveTo>
                  <a:pt x="76200" y="0"/>
                </a:moveTo>
                <a:lnTo>
                  <a:pt x="0" y="38100"/>
                </a:lnTo>
                <a:lnTo>
                  <a:pt x="76200" y="76200"/>
                </a:lnTo>
                <a:close/>
              </a:path>
            </a:pathLst>
          </a:custGeom>
          <a:solidFill>
            <a:srgbClr val="F59E0B"/>
          </a:solidFill>
          <a:ln>
            <a:noFill/>
          </a:ln>
        </p:spPr>
      </p:sp>
      <p:sp>
        <p:nvSpPr>
          <p:cNvPr id="62" name="Rectangle 62"/>
          <p:cNvSpPr/>
          <p:nvPr/>
        </p:nvSpPr>
        <p:spPr>
          <a:xfrm>
            <a:off x="571500" y="5143500"/>
            <a:ext cx="11049000" cy="1143000"/>
          </a:xfrm>
          <a:prstGeom prst="roundRect">
            <a:avLst>
              <a:gd name="adj" fmla="val 10000"/>
            </a:avLst>
          </a:prstGeom>
          <a:solidFill>
            <a:srgbClr val="1E293B"/>
          </a:solidFill>
          <a:ln w="9525">
            <a:solidFill>
              <a:srgbClr val="334155"/>
            </a:solidFill>
          </a:ln>
        </p:spPr>
      </p:sp>
      <p:sp>
        <p:nvSpPr>
          <p:cNvPr id="63" name="Freeform 63"/>
          <p:cNvSpPr/>
          <p:nvPr/>
        </p:nvSpPr>
        <p:spPr>
          <a:xfrm>
            <a:off x="772534" y="5440385"/>
            <a:ext cx="245509" cy="233989"/>
          </a:xfrm>
          <a:custGeom>
            <a:avLst/>
            <a:gdLst/>
            <a:ahLst/>
            <a:cxnLst/>
            <a:rect l="l" t="t" r="r" b="b"/>
            <a:pathLst>
              <a:path w="245509" h="233989">
                <a:moveTo>
                  <a:pt x="81066" y="70431"/>
                </a:moveTo>
                <a:lnTo>
                  <a:pt x="10168" y="80710"/>
                </a:lnTo>
                <a:lnTo>
                  <a:pt x="8913" y="80965"/>
                </a:lnTo>
                <a:cubicBezTo>
                  <a:pt x="5042" y="81993"/>
                  <a:pt x="2024" y="85023"/>
                  <a:pt x="1012" y="88897"/>
                </a:cubicBezTo>
                <a:cubicBezTo>
                  <a:pt x="0" y="92771"/>
                  <a:pt x="1150" y="96890"/>
                  <a:pt x="4023" y="99679"/>
                </a:cubicBezTo>
                <a:lnTo>
                  <a:pt x="55385" y="149674"/>
                </a:lnTo>
                <a:lnTo>
                  <a:pt x="43272" y="220294"/>
                </a:lnTo>
                <a:lnTo>
                  <a:pt x="43128" y="221516"/>
                </a:lnTo>
                <a:cubicBezTo>
                  <a:pt x="42891" y="225519"/>
                  <a:pt x="44829" y="229339"/>
                  <a:pt x="48199" y="231512"/>
                </a:cubicBezTo>
                <a:cubicBezTo>
                  <a:pt x="51569" y="233685"/>
                  <a:pt x="55848" y="233874"/>
                  <a:pt x="59397" y="232006"/>
                </a:cubicBezTo>
                <a:lnTo>
                  <a:pt x="122805" y="198669"/>
                </a:lnTo>
                <a:lnTo>
                  <a:pt x="186068" y="232006"/>
                </a:lnTo>
                <a:lnTo>
                  <a:pt x="187179" y="232518"/>
                </a:lnTo>
                <a:cubicBezTo>
                  <a:pt x="190914" y="233989"/>
                  <a:pt x="195151" y="233331"/>
                  <a:pt x="198265" y="230798"/>
                </a:cubicBezTo>
                <a:cubicBezTo>
                  <a:pt x="201379" y="228265"/>
                  <a:pt x="202884" y="224250"/>
                  <a:pt x="202203" y="220294"/>
                </a:cubicBezTo>
                <a:lnTo>
                  <a:pt x="190080" y="149674"/>
                </a:lnTo>
                <a:lnTo>
                  <a:pt x="241464" y="99668"/>
                </a:lnTo>
                <a:lnTo>
                  <a:pt x="242331" y="98723"/>
                </a:lnTo>
                <a:cubicBezTo>
                  <a:pt x="244851" y="95619"/>
                  <a:pt x="245509" y="91399"/>
                  <a:pt x="244054" y="87674"/>
                </a:cubicBezTo>
                <a:cubicBezTo>
                  <a:pt x="242599" y="83950"/>
                  <a:pt x="239254" y="81294"/>
                  <a:pt x="235296" y="80721"/>
                </a:cubicBezTo>
                <a:lnTo>
                  <a:pt x="164399" y="70431"/>
                </a:lnTo>
                <a:lnTo>
                  <a:pt x="132706" y="6200"/>
                </a:lnTo>
                <a:cubicBezTo>
                  <a:pt x="130835" y="2404"/>
                  <a:pt x="126970" y="0"/>
                  <a:pt x="122738" y="0"/>
                </a:cubicBezTo>
                <a:cubicBezTo>
                  <a:pt x="118506" y="0"/>
                  <a:pt x="114641" y="2404"/>
                  <a:pt x="112770" y="6200"/>
                </a:cubicBezTo>
                <a:lnTo>
                  <a:pt x="81066" y="70431"/>
                </a:lnTo>
                <a:close/>
              </a:path>
            </a:pathLst>
          </a:custGeom>
          <a:solidFill>
            <a:srgbClr val="F59E0B"/>
          </a:solidFill>
          <a:ln>
            <a:noFill/>
          </a:ln>
        </p:spPr>
      </p:sp>
      <p:sp>
        <p:nvSpPr>
          <p:cNvPr id="64" name="TextBox 64"/>
          <p:cNvSpPr txBox="1"/>
          <p:nvPr/>
        </p:nvSpPr>
        <p:spPr>
          <a:xfrm>
            <a:off x="1106805" y="5493068"/>
            <a:ext cx="914150" cy="274320"/>
          </a:xfrm>
          <a:prstGeom prst="rect">
            <a:avLst/>
          </a:prstGeom>
          <a:noFill/>
          <a:ln>
            <a:noFill/>
          </a:ln>
        </p:spPr>
        <p:txBody>
          <a:bodyPr wrap="none" lIns="0" tIns="0" rIns="0" bIns="0" anchor="t" anchorCtr="0">
            <a:spAutoFit/>
          </a:bodyPr>
          <a:lstStyle/>
          <a:p>
            <a:pPr algn="l"/>
            <a:r>
              <a:rPr lang="zh-CN" sz="1350" b="1" dirty="0">
                <a:gradFill>
                  <a:gsLst>
                    <a:gs pos="0">
                      <a:srgbClr val="3B82F6"/>
                    </a:gs>
                    <a:gs pos="100000">
                      <a:srgbClr val="22D3EE"/>
                    </a:gs>
                  </a:gsLst>
                  <a:lin ang="0" scaled="1"/>
                </a:gradFill>
                <a:latin typeface="Georgia"/>
                <a:ea typeface="Microsoft YaHei"/>
                <a:cs typeface="Georgia"/>
              </a:rPr>
              <a:t>Summary</a:t>
            </a:r>
          </a:p>
        </p:txBody>
      </p:sp>
      <p:sp>
        <p:nvSpPr>
          <p:cNvPr id="65" name="TextBox 65"/>
          <p:cNvSpPr txBox="1"/>
          <p:nvPr/>
        </p:nvSpPr>
        <p:spPr>
          <a:xfrm>
            <a:off x="747712" y="5841206"/>
            <a:ext cx="989516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Backpropagation is the cornerstone of deep learning training. It enables efficient gradient computation across arbitrarily</a:t>
            </a:r>
          </a:p>
        </p:txBody>
      </p:sp>
      <p:sp>
        <p:nvSpPr>
          <p:cNvPr id="66" name="TextBox 66"/>
          <p:cNvSpPr txBox="1"/>
          <p:nvPr/>
        </p:nvSpPr>
        <p:spPr>
          <a:xfrm>
            <a:off x="747712" y="6050756"/>
            <a:ext cx="817816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deep networks, making modern AI applications in vision, speech, and language understanding possible.</a:t>
            </a:r>
          </a:p>
        </p:txBody>
      </p:sp>
      <p:sp>
        <p:nvSpPr>
          <p:cNvPr id="67" name="TextBox 67"/>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20</a:t>
            </a:r>
          </a:p>
        </p:txBody>
      </p:sp>
      <p:pic>
        <p:nvPicPr>
          <p:cNvPr id="68" name="narration2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6540">
    <p:fade/>
  </p:transition>
  <p:timing>
    <p:tnLst>
      <p:par>
        <p:cTn id="1" dur="indefinite" restart="never" nodeType="tmRoot">
          <p:childTnLst>
            <p:audio>
              <p:cMediaNode vol="80000">
                <p:cTn id="2" fill="hold" display="0">
                  <p:stCondLst>
                    <p:cond delay="0"/>
                  </p:stCondLst>
                </p:cTn>
                <p:tgtEl>
                  <p:spTgt spid="68"/>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71500" y="476250"/>
            <a:ext cx="762000" cy="38100"/>
          </a:xfrm>
          <a:prstGeom prst="roundRect">
            <a:avLst>
              <a:gd name="adj" fmla="val 50000"/>
            </a:avLst>
          </a:prstGeom>
          <a:gradFill>
            <a:gsLst>
              <a:gs pos="0">
                <a:srgbClr val="3B82F6"/>
              </a:gs>
              <a:gs pos="100000">
                <a:srgbClr val="22D3EE"/>
              </a:gs>
            </a:gsLst>
            <a:lin ang="0" scaled="1"/>
          </a:gradFill>
          <a:ln>
            <a:noFill/>
          </a:ln>
        </p:spPr>
      </p:sp>
      <p:sp>
        <p:nvSpPr>
          <p:cNvPr id="4" name="Freeform 4"/>
          <p:cNvSpPr/>
          <p:nvPr/>
        </p:nvSpPr>
        <p:spPr>
          <a:xfrm>
            <a:off x="581719" y="667583"/>
            <a:ext cx="265173" cy="230100"/>
          </a:xfrm>
          <a:custGeom>
            <a:avLst/>
            <a:gdLst/>
            <a:ahLst/>
            <a:cxnLst/>
            <a:rect l="l" t="t" r="r" b="b"/>
            <a:pathLst>
              <a:path w="265173" h="230100">
                <a:moveTo>
                  <a:pt x="132656" y="0"/>
                </a:moveTo>
                <a:cubicBezTo>
                  <a:pt x="144026" y="0"/>
                  <a:pt x="154623" y="5560"/>
                  <a:pt x="161112" y="14847"/>
                </a:cubicBezTo>
                <a:lnTo>
                  <a:pt x="162362" y="16752"/>
                </a:lnTo>
                <a:lnTo>
                  <a:pt x="258969" y="178058"/>
                </a:lnTo>
                <a:cubicBezTo>
                  <a:pt x="264937" y="188394"/>
                  <a:pt x="265173" y="201073"/>
                  <a:pt x="259594" y="211624"/>
                </a:cubicBezTo>
                <a:cubicBezTo>
                  <a:pt x="254015" y="222175"/>
                  <a:pt x="243404" y="229118"/>
                  <a:pt x="231502" y="230005"/>
                </a:cubicBezTo>
                <a:lnTo>
                  <a:pt x="229180" y="230100"/>
                </a:lnTo>
                <a:lnTo>
                  <a:pt x="36001" y="230100"/>
                </a:lnTo>
                <a:cubicBezTo>
                  <a:pt x="24087" y="229966"/>
                  <a:pt x="13075" y="223728"/>
                  <a:pt x="6835" y="213578"/>
                </a:cubicBezTo>
                <a:cubicBezTo>
                  <a:pt x="595" y="203427"/>
                  <a:pt x="0" y="190785"/>
                  <a:pt x="5259" y="180094"/>
                </a:cubicBezTo>
                <a:lnTo>
                  <a:pt x="6438" y="177891"/>
                </a:lnTo>
                <a:lnTo>
                  <a:pt x="102997" y="16704"/>
                </a:lnTo>
                <a:cubicBezTo>
                  <a:pt x="109285" y="6336"/>
                  <a:pt x="120530" y="3"/>
                  <a:pt x="132656" y="0"/>
                </a:cubicBezTo>
                <a:close/>
                <a:moveTo>
                  <a:pt x="132775" y="158710"/>
                </a:moveTo>
                <a:lnTo>
                  <a:pt x="131263" y="158794"/>
                </a:lnTo>
                <a:cubicBezTo>
                  <a:pt x="125273" y="159506"/>
                  <a:pt x="120763" y="164585"/>
                  <a:pt x="120763" y="170617"/>
                </a:cubicBezTo>
                <a:cubicBezTo>
                  <a:pt x="120763" y="176648"/>
                  <a:pt x="125273" y="181727"/>
                  <a:pt x="131263" y="182439"/>
                </a:cubicBezTo>
                <a:lnTo>
                  <a:pt x="132656" y="182523"/>
                </a:lnTo>
                <a:lnTo>
                  <a:pt x="134168" y="182439"/>
                </a:lnTo>
                <a:cubicBezTo>
                  <a:pt x="140157" y="181727"/>
                  <a:pt x="144668" y="176648"/>
                  <a:pt x="144668" y="170617"/>
                </a:cubicBezTo>
                <a:cubicBezTo>
                  <a:pt x="144668" y="164585"/>
                  <a:pt x="140157" y="159506"/>
                  <a:pt x="134168" y="158794"/>
                </a:cubicBezTo>
                <a:lnTo>
                  <a:pt x="132775" y="158710"/>
                </a:lnTo>
                <a:close/>
                <a:moveTo>
                  <a:pt x="132656" y="75367"/>
                </a:moveTo>
                <a:cubicBezTo>
                  <a:pt x="126620" y="75367"/>
                  <a:pt x="121539" y="79885"/>
                  <a:pt x="120833" y="85880"/>
                </a:cubicBezTo>
                <a:lnTo>
                  <a:pt x="120750" y="87273"/>
                </a:lnTo>
                <a:lnTo>
                  <a:pt x="120750" y="134898"/>
                </a:lnTo>
                <a:lnTo>
                  <a:pt x="120833" y="136291"/>
                </a:lnTo>
                <a:cubicBezTo>
                  <a:pt x="121545" y="142280"/>
                  <a:pt x="126624" y="146791"/>
                  <a:pt x="132656" y="146791"/>
                </a:cubicBezTo>
                <a:cubicBezTo>
                  <a:pt x="138688" y="146791"/>
                  <a:pt x="143766" y="142280"/>
                  <a:pt x="144479" y="136291"/>
                </a:cubicBezTo>
                <a:lnTo>
                  <a:pt x="144562" y="134898"/>
                </a:lnTo>
                <a:lnTo>
                  <a:pt x="144562" y="87273"/>
                </a:lnTo>
                <a:lnTo>
                  <a:pt x="144479" y="85880"/>
                </a:lnTo>
                <a:cubicBezTo>
                  <a:pt x="143773" y="79885"/>
                  <a:pt x="138692" y="75367"/>
                  <a:pt x="132656" y="75367"/>
                </a:cubicBezTo>
                <a:close/>
              </a:path>
            </a:pathLst>
          </a:custGeom>
          <a:solidFill>
            <a:srgbClr val="F59E0B"/>
          </a:solidFill>
          <a:ln>
            <a:noFill/>
          </a:ln>
        </p:spPr>
      </p:sp>
      <p:sp>
        <p:nvSpPr>
          <p:cNvPr id="5" name="TextBox 5"/>
          <p:cNvSpPr txBox="1"/>
          <p:nvPr/>
        </p:nvSpPr>
        <p:spPr>
          <a:xfrm>
            <a:off x="923925" y="633412"/>
            <a:ext cx="5784866" cy="457200"/>
          </a:xfrm>
          <a:prstGeom prst="rect">
            <a:avLst/>
          </a:prstGeom>
          <a:noFill/>
          <a:ln>
            <a:noFill/>
          </a:ln>
        </p:spPr>
        <p:txBody>
          <a:bodyPr wrap="none" lIns="0" tIns="0" rIns="0" bIns="0" anchor="t" anchorCtr="0">
            <a:spAutoFit/>
          </a:bodyPr>
          <a:lstStyle/>
          <a:p>
            <a:pPr algn="l"/>
            <a:r>
              <a:rPr lang="zh-CN" sz="2250" b="1" dirty="0">
                <a:solidFill>
                  <a:srgbClr val="F1F5F9"/>
                </a:solidFill>
                <a:latin typeface="Georgia"/>
                <a:ea typeface="Microsoft YaHei"/>
                <a:cs typeface="Georgia"/>
              </a:rPr>
              <a:t>Disadvantages of Backpropagation</a:t>
            </a:r>
          </a:p>
        </p:txBody>
      </p:sp>
      <p:sp>
        <p:nvSpPr>
          <p:cNvPr id="6" name="Rectangle 6"/>
          <p:cNvSpPr/>
          <p:nvPr/>
        </p:nvSpPr>
        <p:spPr>
          <a:xfrm>
            <a:off x="571500" y="1238250"/>
            <a:ext cx="5381625" cy="1619250"/>
          </a:xfrm>
          <a:prstGeom prst="roundRect">
            <a:avLst>
              <a:gd name="adj" fmla="val 7059"/>
            </a:avLst>
          </a:prstGeom>
          <a:solidFill>
            <a:srgbClr val="1E293B"/>
          </a:solidFill>
          <a:ln w="14288">
            <a:solidFill>
              <a:srgbClr val="F59E0B"/>
            </a:solidFill>
          </a:ln>
        </p:spPr>
      </p:sp>
      <p:sp>
        <p:nvSpPr>
          <p:cNvPr id="7" name="Rectangle 7"/>
          <p:cNvSpPr/>
          <p:nvPr/>
        </p:nvSpPr>
        <p:spPr>
          <a:xfrm>
            <a:off x="571500" y="1238250"/>
            <a:ext cx="57150" cy="1619250"/>
          </a:xfrm>
          <a:prstGeom prst="roundRect">
            <a:avLst>
              <a:gd name="adj" fmla="val 50000"/>
            </a:avLst>
          </a:prstGeom>
          <a:solidFill>
            <a:srgbClr val="F59E0B"/>
          </a:solidFill>
          <a:ln>
            <a:noFill/>
          </a:ln>
        </p:spPr>
      </p:sp>
      <p:sp>
        <p:nvSpPr>
          <p:cNvPr id="8" name="Freeform 8"/>
          <p:cNvSpPr/>
          <p:nvPr/>
        </p:nvSpPr>
        <p:spPr>
          <a:xfrm>
            <a:off x="828688" y="1466358"/>
            <a:ext cx="247495" cy="214760"/>
          </a:xfrm>
          <a:custGeom>
            <a:avLst/>
            <a:gdLst/>
            <a:ahLst/>
            <a:cxnLst/>
            <a:rect l="l" t="t" r="r" b="b"/>
            <a:pathLst>
              <a:path w="247495" h="214760">
                <a:moveTo>
                  <a:pt x="123812" y="0"/>
                </a:moveTo>
                <a:cubicBezTo>
                  <a:pt x="134425" y="0"/>
                  <a:pt x="144315" y="5190"/>
                  <a:pt x="150371" y="13857"/>
                </a:cubicBezTo>
                <a:lnTo>
                  <a:pt x="151538" y="15635"/>
                </a:lnTo>
                <a:lnTo>
                  <a:pt x="241705" y="166187"/>
                </a:lnTo>
                <a:cubicBezTo>
                  <a:pt x="247275" y="175835"/>
                  <a:pt x="247495" y="187668"/>
                  <a:pt x="242288" y="197516"/>
                </a:cubicBezTo>
                <a:cubicBezTo>
                  <a:pt x="237081" y="207363"/>
                  <a:pt x="227177" y="213843"/>
                  <a:pt x="216068" y="214671"/>
                </a:cubicBezTo>
                <a:lnTo>
                  <a:pt x="213901" y="214760"/>
                </a:lnTo>
                <a:lnTo>
                  <a:pt x="33601" y="214760"/>
                </a:lnTo>
                <a:cubicBezTo>
                  <a:pt x="22481" y="214635"/>
                  <a:pt x="12203" y="208813"/>
                  <a:pt x="6379" y="199339"/>
                </a:cubicBezTo>
                <a:cubicBezTo>
                  <a:pt x="555" y="189866"/>
                  <a:pt x="0" y="178066"/>
                  <a:pt x="4908" y="168088"/>
                </a:cubicBezTo>
                <a:lnTo>
                  <a:pt x="6009" y="166032"/>
                </a:lnTo>
                <a:lnTo>
                  <a:pt x="96131" y="15591"/>
                </a:lnTo>
                <a:cubicBezTo>
                  <a:pt x="101999" y="5914"/>
                  <a:pt x="112495" y="2"/>
                  <a:pt x="123812" y="0"/>
                </a:cubicBezTo>
                <a:close/>
                <a:moveTo>
                  <a:pt x="123923" y="148130"/>
                </a:moveTo>
                <a:lnTo>
                  <a:pt x="122512" y="148207"/>
                </a:lnTo>
                <a:cubicBezTo>
                  <a:pt x="116922" y="148872"/>
                  <a:pt x="112712" y="153613"/>
                  <a:pt x="112712" y="159242"/>
                </a:cubicBezTo>
                <a:cubicBezTo>
                  <a:pt x="112712" y="164872"/>
                  <a:pt x="116922" y="169612"/>
                  <a:pt x="122512" y="170277"/>
                </a:cubicBezTo>
                <a:lnTo>
                  <a:pt x="123812" y="170355"/>
                </a:lnTo>
                <a:lnTo>
                  <a:pt x="125223" y="170277"/>
                </a:lnTo>
                <a:cubicBezTo>
                  <a:pt x="130814" y="169612"/>
                  <a:pt x="135023" y="164872"/>
                  <a:pt x="135023" y="159242"/>
                </a:cubicBezTo>
                <a:cubicBezTo>
                  <a:pt x="135023" y="153613"/>
                  <a:pt x="130814" y="148872"/>
                  <a:pt x="125223" y="148207"/>
                </a:cubicBezTo>
                <a:lnTo>
                  <a:pt x="123923" y="148130"/>
                </a:lnTo>
                <a:close/>
                <a:moveTo>
                  <a:pt x="123812" y="70342"/>
                </a:moveTo>
                <a:cubicBezTo>
                  <a:pt x="118178" y="70343"/>
                  <a:pt x="113437" y="74559"/>
                  <a:pt x="112777" y="80154"/>
                </a:cubicBezTo>
                <a:lnTo>
                  <a:pt x="112700" y="81455"/>
                </a:lnTo>
                <a:lnTo>
                  <a:pt x="112700" y="125905"/>
                </a:lnTo>
                <a:lnTo>
                  <a:pt x="112777" y="127205"/>
                </a:lnTo>
                <a:cubicBezTo>
                  <a:pt x="113442" y="132795"/>
                  <a:pt x="118183" y="137005"/>
                  <a:pt x="123812" y="137005"/>
                </a:cubicBezTo>
                <a:cubicBezTo>
                  <a:pt x="129442" y="137005"/>
                  <a:pt x="134182" y="132795"/>
                  <a:pt x="134847" y="127205"/>
                </a:cubicBezTo>
                <a:lnTo>
                  <a:pt x="134925" y="125905"/>
                </a:lnTo>
                <a:lnTo>
                  <a:pt x="134925" y="81455"/>
                </a:lnTo>
                <a:lnTo>
                  <a:pt x="134847" y="80154"/>
                </a:lnTo>
                <a:cubicBezTo>
                  <a:pt x="134188" y="74559"/>
                  <a:pt x="129446" y="70343"/>
                  <a:pt x="123812" y="70342"/>
                </a:cubicBezTo>
                <a:close/>
              </a:path>
            </a:pathLst>
          </a:custGeom>
          <a:solidFill>
            <a:srgbClr val="F59E0B"/>
          </a:solidFill>
          <a:ln>
            <a:noFill/>
          </a:ln>
        </p:spPr>
      </p:sp>
      <p:sp>
        <p:nvSpPr>
          <p:cNvPr id="9" name="TextBox 9"/>
          <p:cNvSpPr txBox="1"/>
          <p:nvPr/>
        </p:nvSpPr>
        <p:spPr>
          <a:xfrm>
            <a:off x="1163955" y="1511618"/>
            <a:ext cx="2487547"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Data Quality Dependency</a:t>
            </a:r>
          </a:p>
        </p:txBody>
      </p:sp>
      <p:sp>
        <p:nvSpPr>
          <p:cNvPr id="10" name="TextBox 10"/>
          <p:cNvSpPr txBox="1"/>
          <p:nvPr/>
        </p:nvSpPr>
        <p:spPr>
          <a:xfrm>
            <a:off x="804862" y="1878806"/>
            <a:ext cx="4546997"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Performance is heavily dependent on the quality of input</a:t>
            </a:r>
          </a:p>
        </p:txBody>
      </p:sp>
      <p:sp>
        <p:nvSpPr>
          <p:cNvPr id="11" name="TextBox 11"/>
          <p:cNvSpPr txBox="1"/>
          <p:nvPr/>
        </p:nvSpPr>
        <p:spPr>
          <a:xfrm>
            <a:off x="804862" y="2107406"/>
            <a:ext cx="437447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data. Poor or biased training data leads to inaccurate</a:t>
            </a:r>
          </a:p>
        </p:txBody>
      </p:sp>
      <p:sp>
        <p:nvSpPr>
          <p:cNvPr id="12" name="TextBox 12"/>
          <p:cNvSpPr txBox="1"/>
          <p:nvPr/>
        </p:nvSpPr>
        <p:spPr>
          <a:xfrm>
            <a:off x="804862" y="2336006"/>
            <a:ext cx="3421499"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weight adjustments and unreliable models.</a:t>
            </a:r>
          </a:p>
        </p:txBody>
      </p:sp>
      <p:sp>
        <p:nvSpPr>
          <p:cNvPr id="13" name="Rectangle 13"/>
          <p:cNvSpPr/>
          <p:nvPr/>
        </p:nvSpPr>
        <p:spPr>
          <a:xfrm>
            <a:off x="6238875" y="1238250"/>
            <a:ext cx="5381625" cy="1619250"/>
          </a:xfrm>
          <a:prstGeom prst="roundRect">
            <a:avLst>
              <a:gd name="adj" fmla="val 7059"/>
            </a:avLst>
          </a:prstGeom>
          <a:solidFill>
            <a:srgbClr val="1E293B"/>
          </a:solidFill>
          <a:ln w="14288">
            <a:solidFill>
              <a:srgbClr val="F59E0B"/>
            </a:solidFill>
          </a:ln>
        </p:spPr>
      </p:sp>
      <p:sp>
        <p:nvSpPr>
          <p:cNvPr id="14" name="Rectangle 14"/>
          <p:cNvSpPr/>
          <p:nvPr/>
        </p:nvSpPr>
        <p:spPr>
          <a:xfrm>
            <a:off x="6238875" y="1238250"/>
            <a:ext cx="57150" cy="1619250"/>
          </a:xfrm>
          <a:prstGeom prst="roundRect">
            <a:avLst>
              <a:gd name="adj" fmla="val 50000"/>
            </a:avLst>
          </a:prstGeom>
          <a:solidFill>
            <a:srgbClr val="F59E0B"/>
          </a:solidFill>
          <a:ln>
            <a:noFill/>
          </a:ln>
        </p:spPr>
      </p:sp>
      <p:sp>
        <p:nvSpPr>
          <p:cNvPr id="15" name="Freeform 15"/>
          <p:cNvSpPr/>
          <p:nvPr/>
        </p:nvSpPr>
        <p:spPr>
          <a:xfrm>
            <a:off x="6496063" y="1466358"/>
            <a:ext cx="247495" cy="214760"/>
          </a:xfrm>
          <a:custGeom>
            <a:avLst/>
            <a:gdLst/>
            <a:ahLst/>
            <a:cxnLst/>
            <a:rect l="l" t="t" r="r" b="b"/>
            <a:pathLst>
              <a:path w="247495" h="214760">
                <a:moveTo>
                  <a:pt x="123812" y="0"/>
                </a:moveTo>
                <a:cubicBezTo>
                  <a:pt x="134425" y="0"/>
                  <a:pt x="144315" y="5190"/>
                  <a:pt x="150371" y="13857"/>
                </a:cubicBezTo>
                <a:lnTo>
                  <a:pt x="151538" y="15635"/>
                </a:lnTo>
                <a:lnTo>
                  <a:pt x="241705" y="166187"/>
                </a:lnTo>
                <a:cubicBezTo>
                  <a:pt x="247275" y="175835"/>
                  <a:pt x="247495" y="187668"/>
                  <a:pt x="242288" y="197516"/>
                </a:cubicBezTo>
                <a:cubicBezTo>
                  <a:pt x="237081" y="207363"/>
                  <a:pt x="227177" y="213843"/>
                  <a:pt x="216068" y="214671"/>
                </a:cubicBezTo>
                <a:lnTo>
                  <a:pt x="213901" y="214760"/>
                </a:lnTo>
                <a:lnTo>
                  <a:pt x="33601" y="214760"/>
                </a:lnTo>
                <a:cubicBezTo>
                  <a:pt x="22481" y="214635"/>
                  <a:pt x="12203" y="208813"/>
                  <a:pt x="6379" y="199339"/>
                </a:cubicBezTo>
                <a:cubicBezTo>
                  <a:pt x="555" y="189866"/>
                  <a:pt x="0" y="178066"/>
                  <a:pt x="4908" y="168088"/>
                </a:cubicBezTo>
                <a:lnTo>
                  <a:pt x="6009" y="166032"/>
                </a:lnTo>
                <a:lnTo>
                  <a:pt x="96131" y="15591"/>
                </a:lnTo>
                <a:cubicBezTo>
                  <a:pt x="101999" y="5914"/>
                  <a:pt x="112495" y="2"/>
                  <a:pt x="123812" y="0"/>
                </a:cubicBezTo>
                <a:close/>
                <a:moveTo>
                  <a:pt x="123923" y="148130"/>
                </a:moveTo>
                <a:lnTo>
                  <a:pt x="122512" y="148207"/>
                </a:lnTo>
                <a:cubicBezTo>
                  <a:pt x="116922" y="148872"/>
                  <a:pt x="112712" y="153613"/>
                  <a:pt x="112712" y="159242"/>
                </a:cubicBezTo>
                <a:cubicBezTo>
                  <a:pt x="112712" y="164872"/>
                  <a:pt x="116922" y="169612"/>
                  <a:pt x="122512" y="170277"/>
                </a:cubicBezTo>
                <a:lnTo>
                  <a:pt x="123812" y="170355"/>
                </a:lnTo>
                <a:lnTo>
                  <a:pt x="125223" y="170277"/>
                </a:lnTo>
                <a:cubicBezTo>
                  <a:pt x="130814" y="169612"/>
                  <a:pt x="135023" y="164872"/>
                  <a:pt x="135023" y="159242"/>
                </a:cubicBezTo>
                <a:cubicBezTo>
                  <a:pt x="135023" y="153613"/>
                  <a:pt x="130814" y="148872"/>
                  <a:pt x="125223" y="148207"/>
                </a:cubicBezTo>
                <a:lnTo>
                  <a:pt x="123923" y="148130"/>
                </a:lnTo>
                <a:close/>
                <a:moveTo>
                  <a:pt x="123812" y="70342"/>
                </a:moveTo>
                <a:cubicBezTo>
                  <a:pt x="118178" y="70343"/>
                  <a:pt x="113437" y="74559"/>
                  <a:pt x="112777" y="80154"/>
                </a:cubicBezTo>
                <a:lnTo>
                  <a:pt x="112700" y="81455"/>
                </a:lnTo>
                <a:lnTo>
                  <a:pt x="112700" y="125905"/>
                </a:lnTo>
                <a:lnTo>
                  <a:pt x="112777" y="127205"/>
                </a:lnTo>
                <a:cubicBezTo>
                  <a:pt x="113442" y="132795"/>
                  <a:pt x="118183" y="137005"/>
                  <a:pt x="123812" y="137005"/>
                </a:cubicBezTo>
                <a:cubicBezTo>
                  <a:pt x="129442" y="137005"/>
                  <a:pt x="134182" y="132795"/>
                  <a:pt x="134847" y="127205"/>
                </a:cubicBezTo>
                <a:lnTo>
                  <a:pt x="134925" y="125905"/>
                </a:lnTo>
                <a:lnTo>
                  <a:pt x="134925" y="81455"/>
                </a:lnTo>
                <a:lnTo>
                  <a:pt x="134847" y="80154"/>
                </a:lnTo>
                <a:cubicBezTo>
                  <a:pt x="134188" y="74559"/>
                  <a:pt x="129446" y="70343"/>
                  <a:pt x="123812" y="70342"/>
                </a:cubicBezTo>
                <a:close/>
              </a:path>
            </a:pathLst>
          </a:custGeom>
          <a:solidFill>
            <a:srgbClr val="F59E0B"/>
          </a:solidFill>
          <a:ln>
            <a:noFill/>
          </a:ln>
        </p:spPr>
      </p:sp>
      <p:sp>
        <p:nvSpPr>
          <p:cNvPr id="16" name="TextBox 16"/>
          <p:cNvSpPr txBox="1"/>
          <p:nvPr/>
        </p:nvSpPr>
        <p:spPr>
          <a:xfrm>
            <a:off x="6831330" y="1511618"/>
            <a:ext cx="1711200"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Noise Sensitivity</a:t>
            </a:r>
          </a:p>
        </p:txBody>
      </p:sp>
      <p:sp>
        <p:nvSpPr>
          <p:cNvPr id="17" name="TextBox 17"/>
          <p:cNvSpPr txBox="1"/>
          <p:nvPr/>
        </p:nvSpPr>
        <p:spPr>
          <a:xfrm>
            <a:off x="6472238" y="1878806"/>
            <a:ext cx="378297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The algorithm is highly sensitive to noisy data.</a:t>
            </a:r>
          </a:p>
        </p:txBody>
      </p:sp>
      <p:sp>
        <p:nvSpPr>
          <p:cNvPr id="18" name="TextBox 18"/>
          <p:cNvSpPr txBox="1"/>
          <p:nvPr/>
        </p:nvSpPr>
        <p:spPr>
          <a:xfrm>
            <a:off x="6472238" y="2107406"/>
            <a:ext cx="417730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Noise in training samples can propagate through the</a:t>
            </a:r>
          </a:p>
        </p:txBody>
      </p:sp>
      <p:sp>
        <p:nvSpPr>
          <p:cNvPr id="19" name="TextBox 19"/>
          <p:cNvSpPr txBox="1"/>
          <p:nvPr/>
        </p:nvSpPr>
        <p:spPr>
          <a:xfrm>
            <a:off x="6472238" y="2336006"/>
            <a:ext cx="4259461"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network and degrade overall learning effectiveness.</a:t>
            </a:r>
          </a:p>
        </p:txBody>
      </p:sp>
      <p:sp>
        <p:nvSpPr>
          <p:cNvPr id="20" name="Rectangle 20"/>
          <p:cNvSpPr/>
          <p:nvPr/>
        </p:nvSpPr>
        <p:spPr>
          <a:xfrm>
            <a:off x="571500" y="3143250"/>
            <a:ext cx="5381625" cy="1619250"/>
          </a:xfrm>
          <a:prstGeom prst="roundRect">
            <a:avLst>
              <a:gd name="adj" fmla="val 7059"/>
            </a:avLst>
          </a:prstGeom>
          <a:solidFill>
            <a:srgbClr val="1E293B"/>
          </a:solidFill>
          <a:ln w="14288">
            <a:solidFill>
              <a:srgbClr val="F59E0B"/>
            </a:solidFill>
          </a:ln>
        </p:spPr>
      </p:sp>
      <p:sp>
        <p:nvSpPr>
          <p:cNvPr id="21" name="Rectangle 21"/>
          <p:cNvSpPr/>
          <p:nvPr/>
        </p:nvSpPr>
        <p:spPr>
          <a:xfrm>
            <a:off x="571500" y="3143250"/>
            <a:ext cx="57150" cy="1619250"/>
          </a:xfrm>
          <a:prstGeom prst="roundRect">
            <a:avLst>
              <a:gd name="adj" fmla="val 50000"/>
            </a:avLst>
          </a:prstGeom>
          <a:solidFill>
            <a:srgbClr val="F59E0B"/>
          </a:solidFill>
          <a:ln>
            <a:noFill/>
          </a:ln>
        </p:spPr>
      </p:sp>
      <p:sp>
        <p:nvSpPr>
          <p:cNvPr id="22" name="Freeform 22"/>
          <p:cNvSpPr/>
          <p:nvPr/>
        </p:nvSpPr>
        <p:spPr>
          <a:xfrm>
            <a:off x="828688" y="3371358"/>
            <a:ext cx="247495" cy="214760"/>
          </a:xfrm>
          <a:custGeom>
            <a:avLst/>
            <a:gdLst/>
            <a:ahLst/>
            <a:cxnLst/>
            <a:rect l="l" t="t" r="r" b="b"/>
            <a:pathLst>
              <a:path w="247495" h="214760">
                <a:moveTo>
                  <a:pt x="123812" y="0"/>
                </a:moveTo>
                <a:cubicBezTo>
                  <a:pt x="134425" y="0"/>
                  <a:pt x="144315" y="5190"/>
                  <a:pt x="150371" y="13857"/>
                </a:cubicBezTo>
                <a:lnTo>
                  <a:pt x="151538" y="15635"/>
                </a:lnTo>
                <a:lnTo>
                  <a:pt x="241705" y="166187"/>
                </a:lnTo>
                <a:cubicBezTo>
                  <a:pt x="247275" y="175835"/>
                  <a:pt x="247495" y="187668"/>
                  <a:pt x="242288" y="197516"/>
                </a:cubicBezTo>
                <a:cubicBezTo>
                  <a:pt x="237081" y="207363"/>
                  <a:pt x="227177" y="213843"/>
                  <a:pt x="216068" y="214671"/>
                </a:cubicBezTo>
                <a:lnTo>
                  <a:pt x="213901" y="214760"/>
                </a:lnTo>
                <a:lnTo>
                  <a:pt x="33601" y="214760"/>
                </a:lnTo>
                <a:cubicBezTo>
                  <a:pt x="22481" y="214635"/>
                  <a:pt x="12203" y="208813"/>
                  <a:pt x="6379" y="199339"/>
                </a:cubicBezTo>
                <a:cubicBezTo>
                  <a:pt x="555" y="189866"/>
                  <a:pt x="0" y="178066"/>
                  <a:pt x="4908" y="168088"/>
                </a:cubicBezTo>
                <a:lnTo>
                  <a:pt x="6009" y="166032"/>
                </a:lnTo>
                <a:lnTo>
                  <a:pt x="96131" y="15591"/>
                </a:lnTo>
                <a:cubicBezTo>
                  <a:pt x="101999" y="5914"/>
                  <a:pt x="112495" y="2"/>
                  <a:pt x="123812" y="0"/>
                </a:cubicBezTo>
                <a:close/>
                <a:moveTo>
                  <a:pt x="123923" y="148130"/>
                </a:moveTo>
                <a:lnTo>
                  <a:pt x="122512" y="148207"/>
                </a:lnTo>
                <a:cubicBezTo>
                  <a:pt x="116922" y="148872"/>
                  <a:pt x="112712" y="153613"/>
                  <a:pt x="112712" y="159242"/>
                </a:cubicBezTo>
                <a:cubicBezTo>
                  <a:pt x="112712" y="164872"/>
                  <a:pt x="116922" y="169612"/>
                  <a:pt x="122512" y="170277"/>
                </a:cubicBezTo>
                <a:lnTo>
                  <a:pt x="123812" y="170355"/>
                </a:lnTo>
                <a:lnTo>
                  <a:pt x="125223" y="170277"/>
                </a:lnTo>
                <a:cubicBezTo>
                  <a:pt x="130814" y="169612"/>
                  <a:pt x="135023" y="164872"/>
                  <a:pt x="135023" y="159242"/>
                </a:cubicBezTo>
                <a:cubicBezTo>
                  <a:pt x="135023" y="153613"/>
                  <a:pt x="130814" y="148872"/>
                  <a:pt x="125223" y="148207"/>
                </a:cubicBezTo>
                <a:lnTo>
                  <a:pt x="123923" y="148130"/>
                </a:lnTo>
                <a:close/>
                <a:moveTo>
                  <a:pt x="123812" y="70342"/>
                </a:moveTo>
                <a:cubicBezTo>
                  <a:pt x="118178" y="70343"/>
                  <a:pt x="113437" y="74559"/>
                  <a:pt x="112777" y="80154"/>
                </a:cubicBezTo>
                <a:lnTo>
                  <a:pt x="112700" y="81455"/>
                </a:lnTo>
                <a:lnTo>
                  <a:pt x="112700" y="125905"/>
                </a:lnTo>
                <a:lnTo>
                  <a:pt x="112777" y="127205"/>
                </a:lnTo>
                <a:cubicBezTo>
                  <a:pt x="113442" y="132795"/>
                  <a:pt x="118183" y="137005"/>
                  <a:pt x="123812" y="137005"/>
                </a:cubicBezTo>
                <a:cubicBezTo>
                  <a:pt x="129442" y="137005"/>
                  <a:pt x="134182" y="132795"/>
                  <a:pt x="134847" y="127205"/>
                </a:cubicBezTo>
                <a:lnTo>
                  <a:pt x="134925" y="125905"/>
                </a:lnTo>
                <a:lnTo>
                  <a:pt x="134925" y="81455"/>
                </a:lnTo>
                <a:lnTo>
                  <a:pt x="134847" y="80154"/>
                </a:lnTo>
                <a:cubicBezTo>
                  <a:pt x="134188" y="74559"/>
                  <a:pt x="129446" y="70343"/>
                  <a:pt x="123812" y="70342"/>
                </a:cubicBezTo>
                <a:close/>
              </a:path>
            </a:pathLst>
          </a:custGeom>
          <a:solidFill>
            <a:srgbClr val="F59E0B"/>
          </a:solidFill>
          <a:ln>
            <a:noFill/>
          </a:ln>
        </p:spPr>
      </p:sp>
      <p:sp>
        <p:nvSpPr>
          <p:cNvPr id="23" name="TextBox 23"/>
          <p:cNvSpPr txBox="1"/>
          <p:nvPr/>
        </p:nvSpPr>
        <p:spPr>
          <a:xfrm>
            <a:off x="1163955" y="3416618"/>
            <a:ext cx="2777383"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Batch Strategy Trade-offs</a:t>
            </a:r>
          </a:p>
        </p:txBody>
      </p:sp>
      <p:sp>
        <p:nvSpPr>
          <p:cNvPr id="24" name="TextBox 24"/>
          <p:cNvSpPr txBox="1"/>
          <p:nvPr/>
        </p:nvSpPr>
        <p:spPr>
          <a:xfrm>
            <a:off x="804862" y="3783806"/>
            <a:ext cx="457164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Full matrix-based approach is preferred over mini-batch</a:t>
            </a:r>
          </a:p>
        </p:txBody>
      </p:sp>
      <p:sp>
        <p:nvSpPr>
          <p:cNvPr id="25" name="TextBox 25"/>
          <p:cNvSpPr txBox="1"/>
          <p:nvPr/>
        </p:nvSpPr>
        <p:spPr>
          <a:xfrm>
            <a:off x="804862" y="4012406"/>
            <a:ext cx="4374475"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for accuracy, but requires significantly more memory</a:t>
            </a:r>
          </a:p>
        </p:txBody>
      </p:sp>
      <p:sp>
        <p:nvSpPr>
          <p:cNvPr id="26" name="TextBox 26"/>
          <p:cNvSpPr txBox="1"/>
          <p:nvPr/>
        </p:nvSpPr>
        <p:spPr>
          <a:xfrm>
            <a:off x="804862" y="4241006"/>
            <a:ext cx="2747843"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and computation per update step.</a:t>
            </a:r>
          </a:p>
        </p:txBody>
      </p:sp>
      <p:sp>
        <p:nvSpPr>
          <p:cNvPr id="27" name="Rectangle 27"/>
          <p:cNvSpPr/>
          <p:nvPr/>
        </p:nvSpPr>
        <p:spPr>
          <a:xfrm>
            <a:off x="6238875" y="3143250"/>
            <a:ext cx="5381625" cy="1619250"/>
          </a:xfrm>
          <a:prstGeom prst="roundRect">
            <a:avLst>
              <a:gd name="adj" fmla="val 7059"/>
            </a:avLst>
          </a:prstGeom>
          <a:solidFill>
            <a:srgbClr val="1E293B"/>
          </a:solidFill>
          <a:ln w="14288">
            <a:solidFill>
              <a:srgbClr val="F59E0B"/>
            </a:solidFill>
          </a:ln>
        </p:spPr>
      </p:sp>
      <p:sp>
        <p:nvSpPr>
          <p:cNvPr id="28" name="Rectangle 28"/>
          <p:cNvSpPr/>
          <p:nvPr/>
        </p:nvSpPr>
        <p:spPr>
          <a:xfrm>
            <a:off x="6238875" y="3143250"/>
            <a:ext cx="57150" cy="1619250"/>
          </a:xfrm>
          <a:prstGeom prst="roundRect">
            <a:avLst>
              <a:gd name="adj" fmla="val 50000"/>
            </a:avLst>
          </a:prstGeom>
          <a:solidFill>
            <a:srgbClr val="F59E0B"/>
          </a:solidFill>
          <a:ln>
            <a:noFill/>
          </a:ln>
        </p:spPr>
      </p:sp>
      <p:sp>
        <p:nvSpPr>
          <p:cNvPr id="29" name="Freeform 29"/>
          <p:cNvSpPr/>
          <p:nvPr/>
        </p:nvSpPr>
        <p:spPr>
          <a:xfrm>
            <a:off x="6496063" y="3371358"/>
            <a:ext cx="247495" cy="214760"/>
          </a:xfrm>
          <a:custGeom>
            <a:avLst/>
            <a:gdLst/>
            <a:ahLst/>
            <a:cxnLst/>
            <a:rect l="l" t="t" r="r" b="b"/>
            <a:pathLst>
              <a:path w="247495" h="214760">
                <a:moveTo>
                  <a:pt x="123812" y="0"/>
                </a:moveTo>
                <a:cubicBezTo>
                  <a:pt x="134425" y="0"/>
                  <a:pt x="144315" y="5190"/>
                  <a:pt x="150371" y="13857"/>
                </a:cubicBezTo>
                <a:lnTo>
                  <a:pt x="151538" y="15635"/>
                </a:lnTo>
                <a:lnTo>
                  <a:pt x="241705" y="166187"/>
                </a:lnTo>
                <a:cubicBezTo>
                  <a:pt x="247275" y="175835"/>
                  <a:pt x="247495" y="187668"/>
                  <a:pt x="242288" y="197516"/>
                </a:cubicBezTo>
                <a:cubicBezTo>
                  <a:pt x="237081" y="207363"/>
                  <a:pt x="227177" y="213843"/>
                  <a:pt x="216068" y="214671"/>
                </a:cubicBezTo>
                <a:lnTo>
                  <a:pt x="213901" y="214760"/>
                </a:lnTo>
                <a:lnTo>
                  <a:pt x="33601" y="214760"/>
                </a:lnTo>
                <a:cubicBezTo>
                  <a:pt x="22481" y="214635"/>
                  <a:pt x="12203" y="208813"/>
                  <a:pt x="6379" y="199339"/>
                </a:cubicBezTo>
                <a:cubicBezTo>
                  <a:pt x="555" y="189866"/>
                  <a:pt x="0" y="178066"/>
                  <a:pt x="4908" y="168088"/>
                </a:cubicBezTo>
                <a:lnTo>
                  <a:pt x="6009" y="166032"/>
                </a:lnTo>
                <a:lnTo>
                  <a:pt x="96131" y="15591"/>
                </a:lnTo>
                <a:cubicBezTo>
                  <a:pt x="101999" y="5914"/>
                  <a:pt x="112495" y="2"/>
                  <a:pt x="123812" y="0"/>
                </a:cubicBezTo>
                <a:close/>
                <a:moveTo>
                  <a:pt x="123923" y="148130"/>
                </a:moveTo>
                <a:lnTo>
                  <a:pt x="122512" y="148207"/>
                </a:lnTo>
                <a:cubicBezTo>
                  <a:pt x="116922" y="148872"/>
                  <a:pt x="112712" y="153613"/>
                  <a:pt x="112712" y="159242"/>
                </a:cubicBezTo>
                <a:cubicBezTo>
                  <a:pt x="112712" y="164872"/>
                  <a:pt x="116922" y="169612"/>
                  <a:pt x="122512" y="170277"/>
                </a:cubicBezTo>
                <a:lnTo>
                  <a:pt x="123812" y="170355"/>
                </a:lnTo>
                <a:lnTo>
                  <a:pt x="125223" y="170277"/>
                </a:lnTo>
                <a:cubicBezTo>
                  <a:pt x="130814" y="169612"/>
                  <a:pt x="135023" y="164872"/>
                  <a:pt x="135023" y="159242"/>
                </a:cubicBezTo>
                <a:cubicBezTo>
                  <a:pt x="135023" y="153613"/>
                  <a:pt x="130814" y="148872"/>
                  <a:pt x="125223" y="148207"/>
                </a:cubicBezTo>
                <a:lnTo>
                  <a:pt x="123923" y="148130"/>
                </a:lnTo>
                <a:close/>
                <a:moveTo>
                  <a:pt x="123812" y="70342"/>
                </a:moveTo>
                <a:cubicBezTo>
                  <a:pt x="118178" y="70343"/>
                  <a:pt x="113437" y="74559"/>
                  <a:pt x="112777" y="80154"/>
                </a:cubicBezTo>
                <a:lnTo>
                  <a:pt x="112700" y="81455"/>
                </a:lnTo>
                <a:lnTo>
                  <a:pt x="112700" y="125905"/>
                </a:lnTo>
                <a:lnTo>
                  <a:pt x="112777" y="127205"/>
                </a:lnTo>
                <a:cubicBezTo>
                  <a:pt x="113442" y="132795"/>
                  <a:pt x="118183" y="137005"/>
                  <a:pt x="123812" y="137005"/>
                </a:cubicBezTo>
                <a:cubicBezTo>
                  <a:pt x="129442" y="137005"/>
                  <a:pt x="134182" y="132795"/>
                  <a:pt x="134847" y="127205"/>
                </a:cubicBezTo>
                <a:lnTo>
                  <a:pt x="134925" y="125905"/>
                </a:lnTo>
                <a:lnTo>
                  <a:pt x="134925" y="81455"/>
                </a:lnTo>
                <a:lnTo>
                  <a:pt x="134847" y="80154"/>
                </a:lnTo>
                <a:cubicBezTo>
                  <a:pt x="134188" y="74559"/>
                  <a:pt x="129446" y="70343"/>
                  <a:pt x="123812" y="70342"/>
                </a:cubicBezTo>
                <a:close/>
              </a:path>
            </a:pathLst>
          </a:custGeom>
          <a:solidFill>
            <a:srgbClr val="F59E0B"/>
          </a:solidFill>
          <a:ln>
            <a:noFill/>
          </a:ln>
        </p:spPr>
      </p:sp>
      <p:sp>
        <p:nvSpPr>
          <p:cNvPr id="30" name="TextBox 30"/>
          <p:cNvSpPr txBox="1"/>
          <p:nvPr/>
        </p:nvSpPr>
        <p:spPr>
          <a:xfrm>
            <a:off x="6831330" y="3416618"/>
            <a:ext cx="3150029"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Vanishing / Exploding Gradients</a:t>
            </a:r>
          </a:p>
        </p:txBody>
      </p:sp>
      <p:sp>
        <p:nvSpPr>
          <p:cNvPr id="31" name="TextBox 31"/>
          <p:cNvSpPr txBox="1"/>
          <p:nvPr/>
        </p:nvSpPr>
        <p:spPr>
          <a:xfrm>
            <a:off x="6472238" y="3783806"/>
            <a:ext cx="426767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Gradients can become vanishingly small or explosively</a:t>
            </a:r>
          </a:p>
        </p:txBody>
      </p:sp>
      <p:sp>
        <p:nvSpPr>
          <p:cNvPr id="32" name="TextBox 32"/>
          <p:cNvSpPr txBox="1"/>
          <p:nvPr/>
        </p:nvSpPr>
        <p:spPr>
          <a:xfrm>
            <a:off x="6472238" y="4012406"/>
            <a:ext cx="416909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large in deep networks, making training unstable or</a:t>
            </a:r>
          </a:p>
        </p:txBody>
      </p:sp>
      <p:sp>
        <p:nvSpPr>
          <p:cNvPr id="33" name="TextBox 33"/>
          <p:cNvSpPr txBox="1"/>
          <p:nvPr/>
        </p:nvSpPr>
        <p:spPr>
          <a:xfrm>
            <a:off x="6472238" y="4241006"/>
            <a:ext cx="3076456"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impossible for certain architectures.</a:t>
            </a:r>
          </a:p>
        </p:txBody>
      </p:sp>
      <p:sp>
        <p:nvSpPr>
          <p:cNvPr id="34" name="Rectangle 34"/>
          <p:cNvSpPr/>
          <p:nvPr/>
        </p:nvSpPr>
        <p:spPr>
          <a:xfrm>
            <a:off x="571500" y="5048250"/>
            <a:ext cx="11049000" cy="1238250"/>
          </a:xfrm>
          <a:prstGeom prst="roundRect">
            <a:avLst>
              <a:gd name="adj" fmla="val 9231"/>
            </a:avLst>
          </a:prstGeom>
          <a:solidFill>
            <a:srgbClr val="1E293B"/>
          </a:solidFill>
          <a:ln w="14288">
            <a:solidFill>
              <a:srgbClr val="F59E0B"/>
            </a:solidFill>
          </a:ln>
        </p:spPr>
      </p:sp>
      <p:sp>
        <p:nvSpPr>
          <p:cNvPr id="35" name="Rectangle 35"/>
          <p:cNvSpPr/>
          <p:nvPr/>
        </p:nvSpPr>
        <p:spPr>
          <a:xfrm>
            <a:off x="571500" y="5048250"/>
            <a:ext cx="11049000" cy="57150"/>
          </a:xfrm>
          <a:prstGeom prst="roundRect">
            <a:avLst>
              <a:gd name="adj" fmla="val 50000"/>
            </a:avLst>
          </a:prstGeom>
          <a:solidFill>
            <a:srgbClr val="F59E0B"/>
          </a:solidFill>
          <a:ln>
            <a:noFill/>
          </a:ln>
        </p:spPr>
      </p:sp>
      <p:sp>
        <p:nvSpPr>
          <p:cNvPr id="36" name="Freeform 36"/>
          <p:cNvSpPr/>
          <p:nvPr/>
        </p:nvSpPr>
        <p:spPr>
          <a:xfrm>
            <a:off x="828688" y="5352558"/>
            <a:ext cx="247495" cy="214760"/>
          </a:xfrm>
          <a:custGeom>
            <a:avLst/>
            <a:gdLst/>
            <a:ahLst/>
            <a:cxnLst/>
            <a:rect l="l" t="t" r="r" b="b"/>
            <a:pathLst>
              <a:path w="247495" h="214760">
                <a:moveTo>
                  <a:pt x="123812" y="0"/>
                </a:moveTo>
                <a:cubicBezTo>
                  <a:pt x="134425" y="0"/>
                  <a:pt x="144315" y="5190"/>
                  <a:pt x="150371" y="13857"/>
                </a:cubicBezTo>
                <a:lnTo>
                  <a:pt x="151538" y="15635"/>
                </a:lnTo>
                <a:lnTo>
                  <a:pt x="241705" y="166187"/>
                </a:lnTo>
                <a:cubicBezTo>
                  <a:pt x="247275" y="175835"/>
                  <a:pt x="247495" y="187668"/>
                  <a:pt x="242288" y="197516"/>
                </a:cubicBezTo>
                <a:cubicBezTo>
                  <a:pt x="237081" y="207363"/>
                  <a:pt x="227177" y="213843"/>
                  <a:pt x="216068" y="214671"/>
                </a:cubicBezTo>
                <a:lnTo>
                  <a:pt x="213901" y="214760"/>
                </a:lnTo>
                <a:lnTo>
                  <a:pt x="33601" y="214760"/>
                </a:lnTo>
                <a:cubicBezTo>
                  <a:pt x="22481" y="214635"/>
                  <a:pt x="12203" y="208813"/>
                  <a:pt x="6379" y="199339"/>
                </a:cubicBezTo>
                <a:cubicBezTo>
                  <a:pt x="555" y="189866"/>
                  <a:pt x="0" y="178066"/>
                  <a:pt x="4908" y="168088"/>
                </a:cubicBezTo>
                <a:lnTo>
                  <a:pt x="6009" y="166032"/>
                </a:lnTo>
                <a:lnTo>
                  <a:pt x="96131" y="15591"/>
                </a:lnTo>
                <a:cubicBezTo>
                  <a:pt x="101999" y="5914"/>
                  <a:pt x="112495" y="2"/>
                  <a:pt x="123812" y="0"/>
                </a:cubicBezTo>
                <a:close/>
                <a:moveTo>
                  <a:pt x="123923" y="148130"/>
                </a:moveTo>
                <a:lnTo>
                  <a:pt x="122512" y="148207"/>
                </a:lnTo>
                <a:cubicBezTo>
                  <a:pt x="116922" y="148872"/>
                  <a:pt x="112712" y="153613"/>
                  <a:pt x="112712" y="159242"/>
                </a:cubicBezTo>
                <a:cubicBezTo>
                  <a:pt x="112712" y="164872"/>
                  <a:pt x="116922" y="169612"/>
                  <a:pt x="122512" y="170277"/>
                </a:cubicBezTo>
                <a:lnTo>
                  <a:pt x="123812" y="170355"/>
                </a:lnTo>
                <a:lnTo>
                  <a:pt x="125223" y="170277"/>
                </a:lnTo>
                <a:cubicBezTo>
                  <a:pt x="130814" y="169612"/>
                  <a:pt x="135023" y="164872"/>
                  <a:pt x="135023" y="159242"/>
                </a:cubicBezTo>
                <a:cubicBezTo>
                  <a:pt x="135023" y="153613"/>
                  <a:pt x="130814" y="148872"/>
                  <a:pt x="125223" y="148207"/>
                </a:cubicBezTo>
                <a:lnTo>
                  <a:pt x="123923" y="148130"/>
                </a:lnTo>
                <a:close/>
                <a:moveTo>
                  <a:pt x="123812" y="70342"/>
                </a:moveTo>
                <a:cubicBezTo>
                  <a:pt x="118178" y="70343"/>
                  <a:pt x="113437" y="74559"/>
                  <a:pt x="112777" y="80154"/>
                </a:cubicBezTo>
                <a:lnTo>
                  <a:pt x="112700" y="81455"/>
                </a:lnTo>
                <a:lnTo>
                  <a:pt x="112700" y="125905"/>
                </a:lnTo>
                <a:lnTo>
                  <a:pt x="112777" y="127205"/>
                </a:lnTo>
                <a:cubicBezTo>
                  <a:pt x="113442" y="132795"/>
                  <a:pt x="118183" y="137005"/>
                  <a:pt x="123812" y="137005"/>
                </a:cubicBezTo>
                <a:cubicBezTo>
                  <a:pt x="129442" y="137005"/>
                  <a:pt x="134182" y="132795"/>
                  <a:pt x="134847" y="127205"/>
                </a:cubicBezTo>
                <a:lnTo>
                  <a:pt x="134925" y="125905"/>
                </a:lnTo>
                <a:lnTo>
                  <a:pt x="134925" y="81455"/>
                </a:lnTo>
                <a:lnTo>
                  <a:pt x="134847" y="80154"/>
                </a:lnTo>
                <a:cubicBezTo>
                  <a:pt x="134188" y="74559"/>
                  <a:pt x="129446" y="70343"/>
                  <a:pt x="123812" y="70342"/>
                </a:cubicBezTo>
                <a:close/>
              </a:path>
            </a:pathLst>
          </a:custGeom>
          <a:solidFill>
            <a:srgbClr val="F59E0B"/>
          </a:solidFill>
          <a:ln>
            <a:noFill/>
          </a:ln>
        </p:spPr>
      </p:sp>
      <p:sp>
        <p:nvSpPr>
          <p:cNvPr id="37" name="TextBox 37"/>
          <p:cNvSpPr txBox="1"/>
          <p:nvPr/>
        </p:nvSpPr>
        <p:spPr>
          <a:xfrm>
            <a:off x="1163955" y="5397818"/>
            <a:ext cx="2311575" cy="274320"/>
          </a:xfrm>
          <a:prstGeom prst="rect">
            <a:avLst/>
          </a:prstGeom>
          <a:noFill/>
          <a:ln>
            <a:noFill/>
          </a:ln>
        </p:spPr>
        <p:txBody>
          <a:bodyPr wrap="none" lIns="0" tIns="0" rIns="0" bIns="0" anchor="t" anchorCtr="0">
            <a:spAutoFit/>
          </a:bodyPr>
          <a:lstStyle/>
          <a:p>
            <a:pPr algn="l"/>
            <a:r>
              <a:rPr lang="zh-CN" sz="1350" b="1" dirty="0">
                <a:solidFill>
                  <a:srgbClr val="F59E0B"/>
                </a:solidFill>
                <a:latin typeface="Georgia"/>
                <a:ea typeface="Microsoft YaHei"/>
                <a:cs typeface="Georgia"/>
              </a:rPr>
              <a:t>Computational Expense</a:t>
            </a:r>
          </a:p>
        </p:txBody>
      </p:sp>
      <p:sp>
        <p:nvSpPr>
          <p:cNvPr id="38" name="TextBox 38"/>
          <p:cNvSpPr txBox="1"/>
          <p:nvPr/>
        </p:nvSpPr>
        <p:spPr>
          <a:xfrm>
            <a:off x="804862" y="5745956"/>
            <a:ext cx="8219242"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For large networks with millions of parameters, backpropagation becomes computationally expensive.</a:t>
            </a:r>
          </a:p>
        </p:txBody>
      </p:sp>
      <p:sp>
        <p:nvSpPr>
          <p:cNvPr id="39" name="TextBox 39"/>
          <p:cNvSpPr txBox="1"/>
          <p:nvPr/>
        </p:nvSpPr>
        <p:spPr>
          <a:xfrm>
            <a:off x="804862" y="5974556"/>
            <a:ext cx="8523208" cy="228600"/>
          </a:xfrm>
          <a:prstGeom prst="rect">
            <a:avLst/>
          </a:prstGeom>
          <a:noFill/>
          <a:ln>
            <a:noFill/>
          </a:ln>
        </p:spPr>
        <p:txBody>
          <a:bodyPr wrap="none" lIns="0" tIns="0" rIns="0" bIns="0" anchor="t" anchorCtr="0">
            <a:spAutoFit/>
          </a:bodyPr>
          <a:lstStyle/>
          <a:p>
            <a:pPr algn="l"/>
            <a:r>
              <a:rPr lang="zh-CN" sz="1125" dirty="0">
                <a:solidFill>
                  <a:srgbClr val="94A3B8"/>
                </a:solidFill>
                <a:latin typeface="Arial"/>
                <a:ea typeface="Microsoft YaHei"/>
                <a:cs typeface="Arial"/>
              </a:rPr>
              <a:t>Each training iteration requires a full forward and backward pass, scaling with network depth and width.</a:t>
            </a:r>
          </a:p>
        </p:txBody>
      </p:sp>
      <p:sp>
        <p:nvSpPr>
          <p:cNvPr id="40" name="TextBox 40"/>
          <p:cNvSpPr txBox="1"/>
          <p:nvPr/>
        </p:nvSpPr>
        <p:spPr>
          <a:xfrm>
            <a:off x="11517868" y="6586538"/>
            <a:ext cx="112157"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21</a:t>
            </a:r>
          </a:p>
        </p:txBody>
      </p:sp>
      <p:pic>
        <p:nvPicPr>
          <p:cNvPr id="41" name="narration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51764">
    <p:fade/>
  </p:transition>
  <p:timing>
    <p:tnLst>
      <p:par>
        <p:cTn id="1" dur="indefinite" restart="never" nodeType="tmRoot">
          <p:childTnLst>
            <p:audio>
              <p:cMediaNode vol="80000">
                <p:cTn id="2" fill="hold" display="0">
                  <p:stCondLst>
                    <p:cond delay="0"/>
                  </p:stCondLst>
                </p:cTn>
                <p:tgtEl>
                  <p:spTgt spid="41"/>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72A"/>
          </a:solidFill>
          <a:ln>
            <a:noFill/>
          </a:ln>
        </p:spPr>
      </p:sp>
      <p:sp>
        <p:nvSpPr>
          <p:cNvPr id="3" name="Rectangle 3"/>
          <p:cNvSpPr/>
          <p:nvPr/>
        </p:nvSpPr>
        <p:spPr>
          <a:xfrm>
            <a:off x="5143500" y="762000"/>
            <a:ext cx="1905000" cy="38100"/>
          </a:xfrm>
          <a:prstGeom prst="roundRect">
            <a:avLst>
              <a:gd name="adj" fmla="val 50000"/>
            </a:avLst>
          </a:prstGeom>
          <a:gradFill>
            <a:gsLst>
              <a:gs pos="0">
                <a:srgbClr val="3B82F6"/>
              </a:gs>
              <a:gs pos="100000">
                <a:srgbClr val="22D3EE"/>
              </a:gs>
            </a:gsLst>
            <a:lin ang="0" scaled="1"/>
          </a:gradFill>
          <a:ln>
            <a:noFill/>
          </a:ln>
        </p:spPr>
      </p:sp>
      <p:sp>
        <p:nvSpPr>
          <p:cNvPr id="4" name="TextBox 4"/>
          <p:cNvSpPr txBox="1"/>
          <p:nvPr/>
        </p:nvSpPr>
        <p:spPr>
          <a:xfrm>
            <a:off x="4864841" y="977265"/>
            <a:ext cx="2462317" cy="670560"/>
          </a:xfrm>
          <a:prstGeom prst="rect">
            <a:avLst/>
          </a:prstGeom>
          <a:noFill/>
          <a:ln>
            <a:noFill/>
          </a:ln>
        </p:spPr>
        <p:txBody>
          <a:bodyPr wrap="none" lIns="0" tIns="0" rIns="0" bIns="0" anchor="t" anchorCtr="0">
            <a:spAutoFit/>
          </a:bodyPr>
          <a:lstStyle/>
          <a:p>
            <a:pPr algn="ctr"/>
            <a:r>
              <a:rPr lang="zh-CN" sz="3300" b="1" dirty="0">
                <a:gradFill>
                  <a:gsLst>
                    <a:gs pos="0">
                      <a:srgbClr val="3B82F6"/>
                    </a:gs>
                    <a:gs pos="100000">
                      <a:srgbClr val="22D3EE"/>
                    </a:gs>
                  </a:gsLst>
                  <a:lin ang="0" scaled="1"/>
                </a:gradFill>
                <a:latin typeface="Georgia"/>
                <a:ea typeface="Microsoft YaHei"/>
                <a:cs typeface="Georgia"/>
              </a:rPr>
              <a:t>Thank You</a:t>
            </a:r>
          </a:p>
        </p:txBody>
      </p:sp>
      <p:sp>
        <p:nvSpPr>
          <p:cNvPr id="5" name="TextBox 5"/>
          <p:cNvSpPr txBox="1"/>
          <p:nvPr/>
        </p:nvSpPr>
        <p:spPr>
          <a:xfrm>
            <a:off x="4363498" y="1568768"/>
            <a:ext cx="3465004" cy="274320"/>
          </a:xfrm>
          <a:prstGeom prst="rect">
            <a:avLst/>
          </a:prstGeom>
          <a:noFill/>
          <a:ln>
            <a:noFill/>
          </a:ln>
        </p:spPr>
        <p:txBody>
          <a:bodyPr wrap="none" lIns="0" tIns="0" rIns="0" bIns="0" anchor="t" anchorCtr="0">
            <a:spAutoFit/>
          </a:bodyPr>
          <a:lstStyle/>
          <a:p>
            <a:pPr algn="ctr"/>
            <a:r>
              <a:rPr lang="zh-CN" sz="1350" dirty="0">
                <a:solidFill>
                  <a:srgbClr val="94A3B8"/>
                </a:solidFill>
                <a:latin typeface="Arial"/>
                <a:ea typeface="Microsoft YaHei"/>
                <a:cs typeface="Arial"/>
              </a:rPr>
              <a:t>Backpropagation in Neural Networks</a:t>
            </a:r>
          </a:p>
        </p:txBody>
      </p:sp>
      <p:sp>
        <p:nvSpPr>
          <p:cNvPr id="6" name="Rectangle 6"/>
          <p:cNvSpPr/>
          <p:nvPr/>
        </p:nvSpPr>
        <p:spPr>
          <a:xfrm>
            <a:off x="2762250" y="2190750"/>
            <a:ext cx="6667500" cy="3048000"/>
          </a:xfrm>
          <a:prstGeom prst="roundRect">
            <a:avLst>
              <a:gd name="adj" fmla="val 5000"/>
            </a:avLst>
          </a:prstGeom>
          <a:solidFill>
            <a:srgbClr val="1E293B"/>
          </a:solidFill>
          <a:ln w="9525">
            <a:solidFill>
              <a:srgbClr val="334155"/>
            </a:solidFill>
          </a:ln>
        </p:spPr>
      </p:sp>
      <p:sp>
        <p:nvSpPr>
          <p:cNvPr id="7" name="Freeform 7"/>
          <p:cNvSpPr/>
          <p:nvPr/>
        </p:nvSpPr>
        <p:spPr>
          <a:xfrm>
            <a:off x="3165475" y="2514074"/>
            <a:ext cx="222250" cy="185172"/>
          </a:xfrm>
          <a:custGeom>
            <a:avLst/>
            <a:gdLst/>
            <a:ahLst/>
            <a:cxnLst/>
            <a:rect l="l" t="t" r="r" b="b"/>
            <a:pathLst>
              <a:path w="222250" h="185172">
                <a:moveTo>
                  <a:pt x="216694" y="19478"/>
                </a:moveTo>
                <a:cubicBezTo>
                  <a:pt x="219728" y="21230"/>
                  <a:pt x="221759" y="24310"/>
                  <a:pt x="222172" y="27790"/>
                </a:cubicBezTo>
                <a:lnTo>
                  <a:pt x="222250" y="29101"/>
                </a:lnTo>
                <a:lnTo>
                  <a:pt x="222250" y="173563"/>
                </a:lnTo>
                <a:cubicBezTo>
                  <a:pt x="222250" y="177534"/>
                  <a:pt x="220132" y="181202"/>
                  <a:pt x="216694" y="183187"/>
                </a:cubicBezTo>
                <a:cubicBezTo>
                  <a:pt x="213255" y="185172"/>
                  <a:pt x="209019" y="185172"/>
                  <a:pt x="205581" y="183187"/>
                </a:cubicBezTo>
                <a:cubicBezTo>
                  <a:pt x="180014" y="168424"/>
                  <a:pt x="148786" y="167316"/>
                  <a:pt x="122238" y="180231"/>
                </a:cubicBezTo>
                <a:lnTo>
                  <a:pt x="122238" y="11610"/>
                </a:lnTo>
                <a:cubicBezTo>
                  <a:pt x="153319" y="0"/>
                  <a:pt x="187962" y="2886"/>
                  <a:pt x="216694" y="19478"/>
                </a:cubicBezTo>
                <a:moveTo>
                  <a:pt x="100012" y="11621"/>
                </a:moveTo>
                <a:lnTo>
                  <a:pt x="100024" y="180242"/>
                </a:lnTo>
                <a:cubicBezTo>
                  <a:pt x="74551" y="167842"/>
                  <a:pt x="44694" y="168325"/>
                  <a:pt x="19636" y="181542"/>
                </a:cubicBezTo>
                <a:lnTo>
                  <a:pt x="16002" y="183543"/>
                </a:lnTo>
                <a:lnTo>
                  <a:pt x="14857" y="184031"/>
                </a:lnTo>
                <a:lnTo>
                  <a:pt x="14313" y="184209"/>
                </a:lnTo>
                <a:lnTo>
                  <a:pt x="13091" y="184498"/>
                </a:lnTo>
                <a:lnTo>
                  <a:pt x="12413" y="184609"/>
                </a:lnTo>
                <a:lnTo>
                  <a:pt x="11113" y="184676"/>
                </a:lnTo>
                <a:lnTo>
                  <a:pt x="10646" y="184676"/>
                </a:lnTo>
                <a:lnTo>
                  <a:pt x="9423" y="184543"/>
                </a:lnTo>
                <a:lnTo>
                  <a:pt x="8568" y="184387"/>
                </a:lnTo>
                <a:lnTo>
                  <a:pt x="7368" y="184031"/>
                </a:lnTo>
                <a:lnTo>
                  <a:pt x="5967" y="183409"/>
                </a:lnTo>
                <a:lnTo>
                  <a:pt x="4912" y="182787"/>
                </a:lnTo>
                <a:lnTo>
                  <a:pt x="3923" y="182042"/>
                </a:lnTo>
                <a:lnTo>
                  <a:pt x="3256" y="181420"/>
                </a:lnTo>
                <a:lnTo>
                  <a:pt x="2445" y="180509"/>
                </a:lnTo>
                <a:lnTo>
                  <a:pt x="1734" y="179520"/>
                </a:lnTo>
                <a:lnTo>
                  <a:pt x="1489" y="179120"/>
                </a:lnTo>
                <a:lnTo>
                  <a:pt x="1133" y="178453"/>
                </a:lnTo>
                <a:lnTo>
                  <a:pt x="645" y="177308"/>
                </a:lnTo>
                <a:lnTo>
                  <a:pt x="467" y="176764"/>
                </a:lnTo>
                <a:lnTo>
                  <a:pt x="178" y="175542"/>
                </a:lnTo>
                <a:lnTo>
                  <a:pt x="67" y="174864"/>
                </a:lnTo>
                <a:lnTo>
                  <a:pt x="22" y="174319"/>
                </a:lnTo>
                <a:lnTo>
                  <a:pt x="0" y="29101"/>
                </a:lnTo>
                <a:cubicBezTo>
                  <a:pt x="0" y="25131"/>
                  <a:pt x="2118" y="21463"/>
                  <a:pt x="5556" y="19478"/>
                </a:cubicBezTo>
                <a:cubicBezTo>
                  <a:pt x="34290" y="2889"/>
                  <a:pt x="68933" y="8"/>
                  <a:pt x="100012" y="11621"/>
                </a:cubicBezTo>
              </a:path>
            </a:pathLst>
          </a:custGeom>
          <a:solidFill>
            <a:srgbClr val="3B82F6"/>
          </a:solidFill>
          <a:ln>
            <a:noFill/>
          </a:ln>
        </p:spPr>
      </p:sp>
      <p:sp>
        <p:nvSpPr>
          <p:cNvPr id="8" name="TextBox 8"/>
          <p:cNvSpPr txBox="1"/>
          <p:nvPr/>
        </p:nvSpPr>
        <p:spPr>
          <a:xfrm>
            <a:off x="3484245" y="2507932"/>
            <a:ext cx="1433584" cy="335280"/>
          </a:xfrm>
          <a:prstGeom prst="rect">
            <a:avLst/>
          </a:prstGeom>
          <a:noFill/>
          <a:ln>
            <a:noFill/>
          </a:ln>
        </p:spPr>
        <p:txBody>
          <a:bodyPr wrap="none" lIns="0" tIns="0" rIns="0" bIns="0" anchor="t" anchorCtr="0">
            <a:spAutoFit/>
          </a:bodyPr>
          <a:lstStyle/>
          <a:p>
            <a:pPr algn="l"/>
            <a:r>
              <a:rPr lang="zh-CN" sz="1650" b="1" dirty="0">
                <a:solidFill>
                  <a:srgbClr val="F1F5F9"/>
                </a:solidFill>
                <a:latin typeface="Georgia"/>
                <a:ea typeface="Microsoft YaHei"/>
                <a:cs typeface="Georgia"/>
              </a:rPr>
              <a:t>References</a:t>
            </a:r>
          </a:p>
        </p:txBody>
      </p:sp>
      <p:sp>
        <p:nvSpPr>
          <p:cNvPr id="9" name="Line 9"/>
          <p:cNvSpPr/>
          <p:nvPr/>
        </p:nvSpPr>
        <p:spPr>
          <a:xfrm>
            <a:off x="3143250" y="2857500"/>
            <a:ext cx="5905500" cy="9525"/>
          </a:xfrm>
          <a:custGeom>
            <a:avLst/>
            <a:gdLst/>
            <a:ahLst/>
            <a:cxnLst/>
            <a:rect l="l" t="t" r="r" b="b"/>
            <a:pathLst>
              <a:path w="5905500" h="9525">
                <a:moveTo>
                  <a:pt x="0" y="0"/>
                </a:moveTo>
                <a:lnTo>
                  <a:pt x="5905500" y="0"/>
                </a:lnTo>
              </a:path>
            </a:pathLst>
          </a:custGeom>
          <a:noFill/>
          <a:ln w="9525">
            <a:solidFill>
              <a:srgbClr val="334155"/>
            </a:solidFill>
          </a:ln>
        </p:spPr>
      </p:sp>
      <p:sp>
        <p:nvSpPr>
          <p:cNvPr id="10" name="Ellipse 10"/>
          <p:cNvSpPr/>
          <p:nvPr/>
        </p:nvSpPr>
        <p:spPr>
          <a:xfrm>
            <a:off x="3286125" y="3143250"/>
            <a:ext cx="95250" cy="95250"/>
          </a:xfrm>
          <a:prstGeom prst="ellipse">
            <a:avLst/>
          </a:prstGeom>
          <a:solidFill>
            <a:srgbClr val="3B82F6"/>
          </a:solidFill>
          <a:ln>
            <a:noFill/>
          </a:ln>
        </p:spPr>
      </p:sp>
      <p:sp>
        <p:nvSpPr>
          <p:cNvPr id="11" name="TextBox 11"/>
          <p:cNvSpPr txBox="1"/>
          <p:nvPr/>
        </p:nvSpPr>
        <p:spPr>
          <a:xfrm>
            <a:off x="3509962" y="3117056"/>
            <a:ext cx="891183"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DeepAI.org</a:t>
            </a:r>
          </a:p>
        </p:txBody>
      </p:sp>
      <p:sp>
        <p:nvSpPr>
          <p:cNvPr id="12" name="TextBox 12"/>
          <p:cNvSpPr txBox="1"/>
          <p:nvPr/>
        </p:nvSpPr>
        <p:spPr>
          <a:xfrm>
            <a:off x="3511868" y="3342799"/>
            <a:ext cx="472392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deepai.org/machine-learning-glossary-and-terms/backpropagation</a:t>
            </a:r>
          </a:p>
        </p:txBody>
      </p:sp>
      <p:sp>
        <p:nvSpPr>
          <p:cNvPr id="13" name="Ellipse 13"/>
          <p:cNvSpPr/>
          <p:nvPr/>
        </p:nvSpPr>
        <p:spPr>
          <a:xfrm>
            <a:off x="3286125" y="3762375"/>
            <a:ext cx="95250" cy="95250"/>
          </a:xfrm>
          <a:prstGeom prst="ellipse">
            <a:avLst/>
          </a:prstGeom>
          <a:solidFill>
            <a:srgbClr val="22D3EE"/>
          </a:solidFill>
          <a:ln>
            <a:noFill/>
          </a:ln>
        </p:spPr>
      </p:sp>
      <p:sp>
        <p:nvSpPr>
          <p:cNvPr id="14" name="TextBox 14"/>
          <p:cNvSpPr txBox="1"/>
          <p:nvPr/>
        </p:nvSpPr>
        <p:spPr>
          <a:xfrm>
            <a:off x="3509962" y="3736181"/>
            <a:ext cx="965121"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Guru99.com</a:t>
            </a:r>
          </a:p>
        </p:txBody>
      </p:sp>
      <p:sp>
        <p:nvSpPr>
          <p:cNvPr id="15" name="TextBox 15"/>
          <p:cNvSpPr txBox="1"/>
          <p:nvPr/>
        </p:nvSpPr>
        <p:spPr>
          <a:xfrm>
            <a:off x="3511868" y="3961924"/>
            <a:ext cx="360609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guru99.com/backpropagation-neural-network.html</a:t>
            </a:r>
          </a:p>
        </p:txBody>
      </p:sp>
      <p:sp>
        <p:nvSpPr>
          <p:cNvPr id="16" name="Line 16"/>
          <p:cNvSpPr/>
          <p:nvPr/>
        </p:nvSpPr>
        <p:spPr>
          <a:xfrm>
            <a:off x="3143250" y="4333875"/>
            <a:ext cx="5905500" cy="9525"/>
          </a:xfrm>
          <a:custGeom>
            <a:avLst/>
            <a:gdLst/>
            <a:ahLst/>
            <a:cxnLst/>
            <a:rect l="l" t="t" r="r" b="b"/>
            <a:pathLst>
              <a:path w="5905500" h="9525">
                <a:moveTo>
                  <a:pt x="0" y="0"/>
                </a:moveTo>
                <a:lnTo>
                  <a:pt x="5905500" y="0"/>
                </a:lnTo>
              </a:path>
            </a:pathLst>
          </a:custGeom>
          <a:noFill/>
          <a:ln w="9525">
            <a:solidFill>
              <a:srgbClr val="334155"/>
            </a:solidFill>
          </a:ln>
        </p:spPr>
      </p:sp>
      <p:sp>
        <p:nvSpPr>
          <p:cNvPr id="17" name="Ellipse 17"/>
          <p:cNvSpPr/>
          <p:nvPr/>
        </p:nvSpPr>
        <p:spPr>
          <a:xfrm>
            <a:off x="3286125" y="4572000"/>
            <a:ext cx="95250" cy="95250"/>
          </a:xfrm>
          <a:prstGeom prst="ellipse">
            <a:avLst/>
          </a:prstGeom>
          <a:solidFill>
            <a:srgbClr val="8B5CF6"/>
          </a:solidFill>
          <a:ln>
            <a:noFill/>
          </a:ln>
        </p:spPr>
      </p:sp>
      <p:sp>
        <p:nvSpPr>
          <p:cNvPr id="18" name="TextBox 18"/>
          <p:cNvSpPr txBox="1"/>
          <p:nvPr/>
        </p:nvSpPr>
        <p:spPr>
          <a:xfrm>
            <a:off x="3509962" y="4545806"/>
            <a:ext cx="2887504"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Original Lecture: Maslina @ SSK5603</a:t>
            </a:r>
          </a:p>
        </p:txBody>
      </p:sp>
      <p:sp>
        <p:nvSpPr>
          <p:cNvPr id="19" name="Ellipse 19"/>
          <p:cNvSpPr/>
          <p:nvPr/>
        </p:nvSpPr>
        <p:spPr>
          <a:xfrm>
            <a:off x="3286125" y="4905375"/>
            <a:ext cx="95250" cy="95250"/>
          </a:xfrm>
          <a:prstGeom prst="ellipse">
            <a:avLst/>
          </a:prstGeom>
          <a:solidFill>
            <a:srgbClr val="10B981"/>
          </a:solidFill>
          <a:ln>
            <a:noFill/>
          </a:ln>
        </p:spPr>
      </p:sp>
      <p:sp>
        <p:nvSpPr>
          <p:cNvPr id="20" name="TextBox 20"/>
          <p:cNvSpPr txBox="1"/>
          <p:nvPr/>
        </p:nvSpPr>
        <p:spPr>
          <a:xfrm>
            <a:off x="3509962" y="4879181"/>
            <a:ext cx="3807619" cy="228600"/>
          </a:xfrm>
          <a:prstGeom prst="rect">
            <a:avLst/>
          </a:prstGeom>
          <a:noFill/>
          <a:ln>
            <a:noFill/>
          </a:ln>
        </p:spPr>
        <p:txBody>
          <a:bodyPr wrap="none" lIns="0" tIns="0" rIns="0" bIns="0" anchor="t" anchorCtr="0">
            <a:spAutoFit/>
          </a:bodyPr>
          <a:lstStyle/>
          <a:p>
            <a:pPr algn="l"/>
            <a:r>
              <a:rPr lang="zh-CN" sz="1125" dirty="0">
                <a:solidFill>
                  <a:srgbClr val="F1F5F9"/>
                </a:solidFill>
                <a:latin typeface="Arial"/>
                <a:ea typeface="Microsoft YaHei"/>
                <a:cs typeface="Arial"/>
              </a:rPr>
              <a:t>Enhanced with AI tools for CCS3600 Mini Project</a:t>
            </a:r>
          </a:p>
        </p:txBody>
      </p:sp>
      <p:sp>
        <p:nvSpPr>
          <p:cNvPr id="21" name="Rectangle 21"/>
          <p:cNvSpPr/>
          <p:nvPr/>
        </p:nvSpPr>
        <p:spPr>
          <a:xfrm>
            <a:off x="5143500" y="5715000"/>
            <a:ext cx="1905000" cy="28575"/>
          </a:xfrm>
          <a:prstGeom prst="roundRect">
            <a:avLst>
              <a:gd name="adj" fmla="val 50000"/>
            </a:avLst>
          </a:prstGeom>
          <a:gradFill>
            <a:gsLst>
              <a:gs pos="0">
                <a:srgbClr val="3B82F6">
                  <a:alpha val="40000"/>
                </a:srgbClr>
              </a:gs>
              <a:gs pos="100000">
                <a:srgbClr val="22D3EE">
                  <a:alpha val="40000"/>
                </a:srgbClr>
              </a:gs>
            </a:gsLst>
            <a:lin ang="0" scaled="1"/>
          </a:gradFill>
          <a:ln>
            <a:noFill/>
          </a:ln>
        </p:spPr>
      </p:sp>
      <p:sp>
        <p:nvSpPr>
          <p:cNvPr id="22" name="TextBox 22"/>
          <p:cNvSpPr txBox="1"/>
          <p:nvPr/>
        </p:nvSpPr>
        <p:spPr>
          <a:xfrm>
            <a:off x="4967026" y="5982652"/>
            <a:ext cx="225794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CCS3600 Artificial Intelligence</a:t>
            </a:r>
          </a:p>
        </p:txBody>
      </p:sp>
      <p:sp>
        <p:nvSpPr>
          <p:cNvPr id="23" name="Ellipse 23"/>
          <p:cNvSpPr/>
          <p:nvPr/>
        </p:nvSpPr>
        <p:spPr>
          <a:xfrm>
            <a:off x="5781675" y="6353175"/>
            <a:ext cx="57150" cy="57150"/>
          </a:xfrm>
          <a:prstGeom prst="ellipse">
            <a:avLst/>
          </a:prstGeom>
          <a:solidFill>
            <a:srgbClr val="3B82F6">
              <a:alpha val="50000"/>
            </a:srgbClr>
          </a:solidFill>
          <a:ln>
            <a:noFill/>
          </a:ln>
        </p:spPr>
      </p:sp>
      <p:sp>
        <p:nvSpPr>
          <p:cNvPr id="24" name="Ellipse 24"/>
          <p:cNvSpPr/>
          <p:nvPr/>
        </p:nvSpPr>
        <p:spPr>
          <a:xfrm>
            <a:off x="5972175" y="6353175"/>
            <a:ext cx="57150" cy="57150"/>
          </a:xfrm>
          <a:prstGeom prst="ellipse">
            <a:avLst/>
          </a:prstGeom>
          <a:solidFill>
            <a:srgbClr val="22D3EE">
              <a:alpha val="50000"/>
            </a:srgbClr>
          </a:solidFill>
          <a:ln>
            <a:noFill/>
          </a:ln>
        </p:spPr>
      </p:sp>
      <p:sp>
        <p:nvSpPr>
          <p:cNvPr id="25" name="Ellipse 25"/>
          <p:cNvSpPr/>
          <p:nvPr/>
        </p:nvSpPr>
        <p:spPr>
          <a:xfrm>
            <a:off x="6162675" y="6353175"/>
            <a:ext cx="57150" cy="57150"/>
          </a:xfrm>
          <a:prstGeom prst="ellipse">
            <a:avLst/>
          </a:prstGeom>
          <a:solidFill>
            <a:srgbClr val="8B5CF6">
              <a:alpha val="50000"/>
            </a:srgbClr>
          </a:solidFill>
          <a:ln>
            <a:noFill/>
          </a:ln>
        </p:spPr>
      </p:sp>
      <p:sp>
        <p:nvSpPr>
          <p:cNvPr id="26" name="Ellipse 26"/>
          <p:cNvSpPr/>
          <p:nvPr/>
        </p:nvSpPr>
        <p:spPr>
          <a:xfrm>
            <a:off x="6353175" y="6353175"/>
            <a:ext cx="57150" cy="57150"/>
          </a:xfrm>
          <a:prstGeom prst="ellipse">
            <a:avLst/>
          </a:prstGeom>
          <a:solidFill>
            <a:srgbClr val="10B981">
              <a:alpha val="50000"/>
            </a:srgbClr>
          </a:solidFill>
          <a:ln>
            <a:noFill/>
          </a:ln>
        </p:spPr>
      </p:sp>
      <p:sp>
        <p:nvSpPr>
          <p:cNvPr id="27" name="TextBox 27"/>
          <p:cNvSpPr txBox="1"/>
          <p:nvPr/>
        </p:nvSpPr>
        <p:spPr>
          <a:xfrm>
            <a:off x="11490484" y="6586538"/>
            <a:ext cx="139541" cy="152400"/>
          </a:xfrm>
          <a:prstGeom prst="rect">
            <a:avLst/>
          </a:prstGeom>
          <a:noFill/>
          <a:ln>
            <a:noFill/>
          </a:ln>
        </p:spPr>
        <p:txBody>
          <a:bodyPr wrap="none" lIns="0" tIns="0" rIns="0" bIns="0" anchor="t" anchorCtr="0">
            <a:spAutoFit/>
          </a:bodyPr>
          <a:lstStyle/>
          <a:p>
            <a:pPr algn="r"/>
            <a:r>
              <a:rPr lang="zh-CN" sz="750" dirty="0">
                <a:solidFill>
                  <a:srgbClr val="64748B"/>
                </a:solidFill>
                <a:latin typeface="Arial"/>
                <a:ea typeface="Microsoft YaHei"/>
                <a:cs typeface="Arial"/>
              </a:rPr>
              <a:t>22</a:t>
            </a:r>
          </a:p>
        </p:txBody>
      </p:sp>
      <p:pic>
        <p:nvPicPr>
          <p:cNvPr id="28" name="narration2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0" y="0"/>
            <a:ext cx="1" cy="1"/>
          </a:xfrm>
          <a:prstGeom prst="rect">
            <a:avLst/>
          </a:prstGeom>
        </p:spPr>
      </p:pic>
    </p:spTree>
  </p:cSld>
  <p:clrMapOvr>
    <a:masterClrMapping/>
  </p:clrMapOvr>
  <p:transition xmlns:p14="http://schemas.microsoft.com/office/powerpoint/2010/main" p14:dur="400" advTm="39692">
    <p:fade/>
  </p:transition>
  <p:timing>
    <p:tnLst>
      <p:par>
        <p:cTn id="1" dur="indefinite" restart="never" nodeType="tmRoot">
          <p:childTnLst>
            <p:audio>
              <p:cMediaNode vol="80000">
                <p:cTn id="2" fill="hold" display="0">
                  <p:stCondLst>
                    <p:cond delay="0"/>
                  </p:stCondLst>
                </p:cTn>
                <p:tgtEl>
                  <p:spTgt spid="2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